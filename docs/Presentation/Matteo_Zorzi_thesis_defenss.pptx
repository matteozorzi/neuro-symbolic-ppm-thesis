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7"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234" autoAdjust="0"/>
  </p:normalViewPr>
  <p:slideViewPr>
    <p:cSldViewPr snapToGrid="0" snapToObjects="1">
      <p:cViewPr varScale="1">
        <p:scale>
          <a:sx n="123" d="100"/>
          <a:sy n="123" d="100"/>
        </p:scale>
        <p:origin x="392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4342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~0:20 · cumulative 0:20 </a:t>
            </a:r>
            <a:endParaRPr lang="en-US" dirty="0"/>
          </a:p>
          <a:p>
            <a:r>
              <a:rPr dirty="0"/>
              <a:t>Good </a:t>
            </a:r>
            <a:r>
              <a:rPr lang="en-US" dirty="0"/>
              <a:t>Evening</a:t>
            </a:r>
            <a:r>
              <a:rPr dirty="0"/>
              <a:t>. </a:t>
            </a:r>
            <a:endParaRPr lang="en-US" dirty="0"/>
          </a:p>
          <a:p>
            <a:r>
              <a:rPr dirty="0"/>
              <a:t>I am Matteo Zorzi, and I will present my master thesis, Neuro-Symbolic Predictive Process Monitoring with Procedural Background Knowledge</a:t>
            </a:r>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~0:55 · cumulative 1:15</a:t>
            </a:r>
          </a:p>
          <a:p>
            <a:endParaRPr dirty="0"/>
          </a:p>
          <a:p>
            <a:r>
              <a:rPr dirty="0"/>
              <a:t>Process mining analyses the event logs that information systems record for every execution of a business process</a:t>
            </a:r>
            <a:r>
              <a:rPr lang="en-US" dirty="0"/>
              <a:t>es</a:t>
            </a:r>
            <a:r>
              <a:rPr dirty="0"/>
              <a:t>. </a:t>
            </a:r>
            <a:endParaRPr lang="en-US" dirty="0"/>
          </a:p>
          <a:p>
            <a:endParaRPr lang="it-IT" dirty="0"/>
          </a:p>
          <a:p>
            <a:r>
              <a:rPr dirty="0"/>
              <a:t>Take the small payment process I will use throughout the talk: a request is registered, then paid, while in parallel it is checked and approved, and finally the case is closed. </a:t>
            </a:r>
            <a:endParaRPr lang="en-US" dirty="0"/>
          </a:p>
          <a:p>
            <a:endParaRPr lang="it-IT" dirty="0"/>
          </a:p>
          <a:p>
            <a:r>
              <a:rPr dirty="0"/>
              <a:t>Each execution is a case, and its sequence of activities is a trace. </a:t>
            </a:r>
            <a:endParaRPr lang="en-US" dirty="0"/>
          </a:p>
          <a:p>
            <a:endParaRPr lang="it-IT" dirty="0"/>
          </a:p>
          <a:p>
            <a:r>
              <a:rPr dirty="0"/>
              <a:t>Predictive process monitoring looks at a case that is still running, say one that has been registered and checked, and forecasts how it will continue, from a prefix: the events observed so far.</a:t>
            </a:r>
            <a:endParaRPr lang="en-US" dirty="0"/>
          </a:p>
          <a:p>
            <a:endParaRPr lang="it-IT" dirty="0"/>
          </a:p>
          <a:p>
            <a:r>
              <a:rPr dirty="0"/>
              <a:t>This thesis studies two tasks. </a:t>
            </a:r>
            <a:endParaRPr lang="en-US" dirty="0"/>
          </a:p>
          <a:p>
            <a:r>
              <a:rPr dirty="0"/>
              <a:t>Next-activity prediction asks for the single next activity, a classification. </a:t>
            </a:r>
            <a:endParaRPr lang="en-US" dirty="0"/>
          </a:p>
          <a:p>
            <a:endParaRPr lang="it-IT" dirty="0"/>
          </a:p>
          <a:p>
            <a:r>
              <a:rPr dirty="0"/>
              <a:t>Suffix prediction asks for the whole remaining sequence, generated step by step from the model's own predictions</a:t>
            </a:r>
            <a:r>
              <a:rPr lang="en-US"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~0:55 · cumulative 2:10 </a:t>
            </a:r>
            <a:endParaRPr lang="en-US" dirty="0"/>
          </a:p>
          <a:p>
            <a:endParaRPr lang="it-IT" dirty="0"/>
          </a:p>
          <a:p>
            <a:r>
              <a:rPr dirty="0"/>
              <a:t>The standard predictor reads the prefix with an LSTM and learns from activity labels alone. </a:t>
            </a:r>
            <a:endParaRPr lang="en-US" dirty="0"/>
          </a:p>
          <a:p>
            <a:endParaRPr lang="it-IT" dirty="0"/>
          </a:p>
          <a:p>
            <a:r>
              <a:rPr dirty="0"/>
              <a:t>Take our running case, registered and checked: the network spreads probability over the next activities. </a:t>
            </a:r>
            <a:endParaRPr lang="en-US" dirty="0"/>
          </a:p>
          <a:p>
            <a:endParaRPr lang="it-IT" dirty="0"/>
          </a:p>
          <a:p>
            <a:r>
              <a:rPr dirty="0"/>
              <a:t>Yet from the same log, process mining can discover a model of what may happen next, and in which order, and that model says Close is forbidden here, because the case must still be approved and paid, and so is registering it again. </a:t>
            </a:r>
            <a:endParaRPr lang="en-US" dirty="0"/>
          </a:p>
          <a:p>
            <a:endParaRPr lang="it-IT" dirty="0"/>
          </a:p>
          <a:p>
            <a:r>
              <a:rPr dirty="0"/>
              <a:t>The predictor receives none of </a:t>
            </a:r>
            <a:r>
              <a:rPr lang="en-US" dirty="0"/>
              <a:t>this information</a:t>
            </a:r>
            <a:r>
              <a:rPr dirty="0"/>
              <a:t> so nothing prevents it from giving Close, or even Register, some probability. </a:t>
            </a:r>
            <a:endParaRPr lang="en-US" dirty="0"/>
          </a:p>
          <a:p>
            <a:endParaRPr lang="it-IT" dirty="0"/>
          </a:p>
          <a:p>
            <a:r>
              <a:rPr dirty="0"/>
              <a:t>Background knowledge about the process comes in two forms. </a:t>
            </a:r>
            <a:endParaRPr lang="en-US" dirty="0"/>
          </a:p>
          <a:p>
            <a:endParaRPr lang="it-IT" dirty="0"/>
          </a:p>
          <a:p>
            <a:r>
              <a:rPr dirty="0"/>
              <a:t>A declarative model, like Declare, lists rules a trace must satisfy: for example, every trace starts with Register, and Close only after Approve. </a:t>
            </a:r>
            <a:endParaRPr lang="en-US" dirty="0"/>
          </a:p>
          <a:p>
            <a:endParaRPr lang="it-IT" dirty="0"/>
          </a:p>
          <a:p>
            <a:r>
              <a:rPr dirty="0"/>
              <a:t>A procedural model, like a Petri net, describes the orders a trace may follow: here, Register</a:t>
            </a:r>
            <a:r>
              <a:rPr lang="en-US" dirty="0"/>
              <a:t> goes first</a:t>
            </a:r>
            <a:r>
              <a:rPr dirty="0"/>
              <a:t>, then Pay alongside Check and Approve, then </a:t>
            </a:r>
            <a:r>
              <a:rPr lang="en-US" dirty="0"/>
              <a:t>at the end </a:t>
            </a:r>
            <a:r>
              <a:rPr dirty="0"/>
              <a:t>Close</a:t>
            </a:r>
            <a:r>
              <a:rPr lang="en-US" dirty="0"/>
              <a:t> happens</a:t>
            </a:r>
            <a:r>
              <a:rPr dirty="0"/>
              <a:t>. </a:t>
            </a:r>
            <a:endParaRPr lang="en-US" dirty="0"/>
          </a:p>
          <a:p>
            <a:endParaRPr lang="it-IT" dirty="0"/>
          </a:p>
          <a:p>
            <a:r>
              <a:rPr dirty="0"/>
              <a:t>Neuro-symbolic predictive process monitoring gives the network this knowledge, but current neuro-symbolic methods use only the declarative form, and neglect the procedural one.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~0:50 · cumulative 3:00</a:t>
            </a:r>
          </a:p>
          <a:p>
            <a:endParaRPr dirty="0"/>
          </a:p>
          <a:p>
            <a:r>
              <a:rPr dirty="0"/>
              <a:t>The state of the art leaves three gaps. </a:t>
            </a:r>
            <a:endParaRPr lang="en-US" dirty="0"/>
          </a:p>
          <a:p>
            <a:endParaRPr lang="it-IT" dirty="0"/>
          </a:p>
          <a:p>
            <a:r>
              <a:rPr dirty="0"/>
              <a:t>First, only declarative knowledge: the logic losses have only received a Declare model compiled into an automaton, never a mined Petri net. </a:t>
            </a:r>
            <a:endParaRPr lang="en-US" dirty="0"/>
          </a:p>
          <a:p>
            <a:endParaRPr lang="it-IT" dirty="0"/>
          </a:p>
          <a:p>
            <a:r>
              <a:rPr dirty="0"/>
              <a:t>Second, limited noise conditions: their gains were measured with noise up to forty percent, after removing every trace that violates the mined specification, so the baseline starts close to full compliance. </a:t>
            </a:r>
            <a:endParaRPr lang="en-US" dirty="0"/>
          </a:p>
          <a:p>
            <a:endParaRPr lang="it-IT" dirty="0"/>
          </a:p>
          <a:p>
            <a:r>
              <a:rPr dirty="0"/>
              <a:t>Third, limited evaluation: feature based and loss based methods share no log, baseline, architecture or metric, so no reported gain can be attributed to the channel itself, and none of them reports how much training time the knowledge adds.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~0:35 · cumulative 3:35</a:t>
            </a:r>
          </a:p>
          <a:p>
            <a:endParaRPr dirty="0"/>
          </a:p>
          <a:p>
            <a:r>
              <a:rPr dirty="0"/>
              <a:t>From these gaps come three research questions. </a:t>
            </a:r>
            <a:endParaRPr lang="en-US" dirty="0"/>
          </a:p>
          <a:p>
            <a:endParaRPr lang="it-IT" dirty="0"/>
          </a:p>
          <a:p>
            <a:r>
              <a:rPr dirty="0"/>
              <a:t>RQ1, the channel: with the knowledge held fixed, does an input feature achieve what a loss achieves? </a:t>
            </a:r>
            <a:endParaRPr lang="en-US" dirty="0"/>
          </a:p>
          <a:p>
            <a:endParaRPr lang="it-IT" dirty="0"/>
          </a:p>
          <a:p>
            <a:r>
              <a:rPr dirty="0"/>
              <a:t>RQ2, the form: among the losses, does it matter whether the automaton is projected onto pairs of activities, or kept whole and indexed by the state the prefix reaches, which keeps more information? </a:t>
            </a:r>
            <a:endParaRPr lang="en-US" dirty="0"/>
          </a:p>
          <a:p>
            <a:endParaRPr lang="it-IT" dirty="0"/>
          </a:p>
          <a:p>
            <a:r>
              <a:rPr dirty="0"/>
              <a:t>RQ3, the cost: what are the computational times of neuro-symbolic methods with procedural knowledge?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~0:45 · cumulative 4:20 </a:t>
            </a:r>
            <a:endParaRPr lang="en-US" dirty="0"/>
          </a:p>
          <a:p>
            <a:endParaRPr lang="it-IT" dirty="0"/>
          </a:p>
          <a:p>
            <a:r>
              <a:rPr dirty="0"/>
              <a:t>The thesis answers each gap in turn. </a:t>
            </a:r>
            <a:endParaRPr lang="en-US" dirty="0"/>
          </a:p>
          <a:p>
            <a:endParaRPr lang="it-IT" dirty="0"/>
          </a:p>
          <a:p>
            <a:r>
              <a:rPr dirty="0"/>
              <a:t>First, procedural knowledge: the state of the art uses Declare models turned into automata, but the same can be done procedurally with a Petri net; for each log </a:t>
            </a:r>
            <a:r>
              <a:rPr lang="en-US" dirty="0"/>
              <a:t>A</a:t>
            </a:r>
            <a:r>
              <a:rPr dirty="0"/>
              <a:t> net</a:t>
            </a:r>
            <a:r>
              <a:rPr lang="en-US" dirty="0"/>
              <a:t> is discovered</a:t>
            </a:r>
            <a:r>
              <a:rPr dirty="0"/>
              <a:t> and inject</a:t>
            </a:r>
            <a:r>
              <a:rPr lang="en-US" dirty="0"/>
              <a:t>ed</a:t>
            </a:r>
            <a:r>
              <a:rPr dirty="0"/>
              <a:t> in five forms, and this thesis is the first to give the logic losses a Petri net. </a:t>
            </a:r>
            <a:endParaRPr lang="en-US" dirty="0"/>
          </a:p>
          <a:p>
            <a:endParaRPr lang="it-IT" dirty="0"/>
          </a:p>
          <a:p>
            <a:r>
              <a:rPr dirty="0"/>
              <a:t>Second, a stress test: noise up to eighty percent, no trace filtered, and knowledge mined under two protocols. </a:t>
            </a:r>
            <a:endParaRPr lang="en-US" dirty="0"/>
          </a:p>
          <a:p>
            <a:endParaRPr lang="it-IT" dirty="0"/>
          </a:p>
          <a:p>
            <a:r>
              <a:rPr dirty="0"/>
              <a:t>Third, a controlled evaluation: all seven knowledge models receive exactly the same net, on the same trunk, under the same protocol, so any difference can be attributed to the channel, and the computational time of every variant is measured.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~0:55 · cumulative 5:15</a:t>
            </a:r>
          </a:p>
          <a:p>
            <a:endParaRPr dirty="0"/>
          </a:p>
          <a:p>
            <a:r>
              <a:rPr dirty="0"/>
              <a:t>All models share the same trunk: the prefix is embedded, read by an LSTM, and a linear layer with </a:t>
            </a:r>
            <a:r>
              <a:rPr dirty="0" err="1"/>
              <a:t>softmax</a:t>
            </a:r>
            <a:r>
              <a:rPr dirty="0"/>
              <a:t> gives the next activity distribution, trained with cross-entropy. </a:t>
            </a:r>
            <a:endParaRPr lang="en-US" dirty="0"/>
          </a:p>
          <a:p>
            <a:endParaRPr lang="it-IT" dirty="0"/>
          </a:p>
          <a:p>
            <a:r>
              <a:rPr dirty="0"/>
              <a:t>Process knowledge can enter this network through two channels. </a:t>
            </a:r>
            <a:endParaRPr lang="en-US" dirty="0"/>
          </a:p>
          <a:p>
            <a:endParaRPr lang="it-IT" dirty="0"/>
          </a:p>
          <a:p>
            <a:r>
              <a:rPr dirty="0"/>
              <a:t>The feature channel adds it to the input: Theis and Darabi replay each prefix on a Petri net and feed the resulting marking to the classifier; </a:t>
            </a:r>
            <a:r>
              <a:rPr lang="en-US" dirty="0"/>
              <a:t>Rama Maneiro</a:t>
            </a:r>
            <a:r>
              <a:rPr dirty="0"/>
              <a:t> adds the history of markings and graph convolutions. </a:t>
            </a:r>
            <a:endParaRPr lang="en-US" dirty="0"/>
          </a:p>
          <a:p>
            <a:endParaRPr lang="it-IT" dirty="0"/>
          </a:p>
          <a:p>
            <a:r>
              <a:rPr dirty="0"/>
              <a:t>The loss channel leaves the input unchanged and adds a logic term to the objective: cross-entropy plus lambda times the logic loss, which penalizes probability placed on forbidden </a:t>
            </a:r>
            <a:r>
              <a:rPr dirty="0" err="1"/>
              <a:t>behaviour</a:t>
            </a:r>
            <a:r>
              <a:rPr dirty="0"/>
              <a:t>. </a:t>
            </a:r>
            <a:endParaRPr lang="en-US" dirty="0"/>
          </a:p>
          <a:p>
            <a:endParaRPr lang="it-IT" dirty="0"/>
          </a:p>
          <a:p>
            <a:r>
              <a:rPr dirty="0"/>
              <a:t>Mezini and colleagues brought this channel into predictive process monitoring with a local and a global logic loss; that work is the state of the art, but it has only ever been used with declarative knowledge, never with a procedural model.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~0:50 · cumulative 6:05</a:t>
            </a:r>
          </a:p>
          <a:p>
            <a:endParaRPr dirty="0"/>
          </a:p>
          <a:p>
            <a:r>
              <a:rPr dirty="0"/>
              <a:t>Start from the event log. </a:t>
            </a:r>
            <a:endParaRPr lang="en-US" dirty="0"/>
          </a:p>
          <a:p>
            <a:endParaRPr lang="en-US" dirty="0"/>
          </a:p>
          <a:p>
            <a:r>
              <a:rPr lang="en-US" dirty="0"/>
              <a:t>C</a:t>
            </a:r>
            <a:r>
              <a:rPr dirty="0"/>
              <a:t>ases are ordered by the timestamp of their first event and split seventy, fifteen, fifteen, so the model never trains on the future. </a:t>
            </a:r>
            <a:endParaRPr lang="en-US" dirty="0"/>
          </a:p>
          <a:p>
            <a:endParaRPr lang="it-IT" dirty="0"/>
          </a:p>
          <a:p>
            <a:r>
              <a:rPr lang="it-IT" dirty="0" err="1"/>
              <a:t>Th</a:t>
            </a:r>
            <a:r>
              <a:rPr dirty="0"/>
              <a:t>e protocol then chooses one partition, test or train, and from it the inductive miner discovers a Petri net</a:t>
            </a:r>
            <a:r>
              <a:rPr lang="en-US" dirty="0"/>
              <a:t>.</a:t>
            </a:r>
          </a:p>
          <a:p>
            <a:endParaRPr lang="en-US" dirty="0"/>
          </a:p>
          <a:p>
            <a:r>
              <a:rPr dirty="0"/>
              <a:t>This net is the only source of knowledge. </a:t>
            </a:r>
            <a:endParaRPr lang="en-US" dirty="0"/>
          </a:p>
          <a:p>
            <a:endParaRPr lang="it-IT" dirty="0"/>
          </a:p>
          <a:p>
            <a:r>
              <a:rPr dirty="0"/>
              <a:t>Noise is injected after mining, into the training partition only: validation and test always stay clean. </a:t>
            </a:r>
            <a:endParaRPr lang="en-US" dirty="0"/>
          </a:p>
          <a:p>
            <a:endParaRPr lang="it-IT" dirty="0"/>
          </a:p>
          <a:p>
            <a:r>
              <a:rPr dirty="0"/>
              <a:t>For the feature channel, each prefix is replayed on the net: </a:t>
            </a:r>
            <a:r>
              <a:rPr lang="en-US" dirty="0"/>
              <a:t>For </a:t>
            </a:r>
            <a:r>
              <a:rPr dirty="0"/>
              <a:t>the marking, its token counts concatenated to the LSTM state; </a:t>
            </a:r>
            <a:r>
              <a:rPr lang="en-US" dirty="0"/>
              <a:t>for </a:t>
            </a:r>
            <a:r>
              <a:rPr dirty="0"/>
              <a:t>the graph encoder, </a:t>
            </a:r>
            <a:r>
              <a:rPr lang="en-US" dirty="0"/>
              <a:t>it</a:t>
            </a:r>
            <a:r>
              <a:rPr dirty="0"/>
              <a:t> propagates the marking over the net; and </a:t>
            </a:r>
            <a:r>
              <a:rPr lang="en-US" dirty="0"/>
              <a:t> for </a:t>
            </a:r>
            <a:r>
              <a:rPr dirty="0"/>
              <a:t>the marking sequence, one marking per event</a:t>
            </a:r>
            <a:r>
              <a:rPr lang="en-US" dirty="0"/>
              <a:t> is</a:t>
            </a:r>
            <a:r>
              <a:rPr dirty="0"/>
              <a:t> summarized by a </a:t>
            </a:r>
            <a:r>
              <a:rPr lang="en-US" dirty="0"/>
              <a:t>Gated Recurrent Unit (GRU)</a:t>
            </a:r>
            <a:r>
              <a:rPr dirty="0"/>
              <a:t>. </a:t>
            </a:r>
            <a:endParaRPr lang="en-US" dirty="0"/>
          </a:p>
          <a:p>
            <a:endParaRPr lang="it-IT" dirty="0"/>
          </a:p>
          <a:p>
            <a:r>
              <a:rPr dirty="0"/>
              <a:t>For the loss channel, the reachability automaton of the net feeds four losses: the local and global logic losses of Mezini, and</a:t>
            </a:r>
            <a:r>
              <a:rPr lang="en-US" dirty="0"/>
              <a:t> </a:t>
            </a:r>
            <a:r>
              <a:rPr dirty="0"/>
              <a:t>two new ones, the projected net, whose mask row is the last activity, and the state-indexed net, whose row is the state reached.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~0:45 · cumulative 6:50 </a:t>
            </a:r>
            <a:endParaRPr lang="en-US" dirty="0"/>
          </a:p>
          <a:p>
            <a:endParaRPr lang="it-IT" dirty="0"/>
          </a:p>
          <a:p>
            <a:r>
              <a:rPr dirty="0"/>
              <a:t>All eight models share one trunk: an embedding, a two-layer LSTM, and a linear classifier</a:t>
            </a:r>
            <a:r>
              <a:rPr lang="en-US" dirty="0"/>
              <a:t> (</a:t>
            </a:r>
            <a:r>
              <a:rPr dirty="0"/>
              <a:t>with sizes and schedule from the reference work</a:t>
            </a:r>
            <a:r>
              <a:rPr lang="en-US" dirty="0"/>
              <a:t>)</a:t>
            </a:r>
            <a:r>
              <a:rPr dirty="0"/>
              <a:t>. </a:t>
            </a:r>
            <a:endParaRPr lang="en-US" dirty="0"/>
          </a:p>
          <a:p>
            <a:endParaRPr lang="it-IT" dirty="0"/>
          </a:p>
          <a:p>
            <a:r>
              <a:rPr dirty="0"/>
              <a:t>The baseline receives no knowledge. </a:t>
            </a:r>
            <a:endParaRPr lang="en-US" dirty="0"/>
          </a:p>
          <a:p>
            <a:endParaRPr lang="en-US" dirty="0"/>
          </a:p>
          <a:p>
            <a:r>
              <a:rPr lang="en-US" dirty="0"/>
              <a:t>Three models inject the different marking of the net through the input, as a feature concatenated to the LSTM state.</a:t>
            </a:r>
          </a:p>
          <a:p>
            <a:endParaRPr lang="it-IT" dirty="0"/>
          </a:p>
          <a:p>
            <a:r>
              <a:rPr dirty="0"/>
              <a:t>Four models inject the net through the objective and keep exactly the baseline architecture</a:t>
            </a:r>
            <a:r>
              <a:rPr lang="en-US"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~0:50 · cumulative 7:40 </a:t>
            </a:r>
            <a:endParaRPr lang="en-US" dirty="0"/>
          </a:p>
          <a:p>
            <a:endParaRPr lang="it-IT" dirty="0"/>
          </a:p>
          <a:p>
            <a:r>
              <a:rPr dirty="0"/>
              <a:t>The feature channel gives the same net to the classifier as an input, through three encoders of increasing richness. </a:t>
            </a:r>
            <a:endParaRPr lang="en-US" dirty="0"/>
          </a:p>
          <a:p>
            <a:endParaRPr lang="it-IT" dirty="0"/>
          </a:p>
          <a:p>
            <a:r>
              <a:rPr dirty="0"/>
              <a:t>The first is the marking itself, </a:t>
            </a:r>
            <a:r>
              <a:rPr lang="en-US" dirty="0"/>
              <a:t>which is </a:t>
            </a:r>
            <a:r>
              <a:rPr dirty="0"/>
              <a:t>the vector of</a:t>
            </a:r>
            <a:r>
              <a:rPr lang="en-US" dirty="0"/>
              <a:t> the</a:t>
            </a:r>
            <a:r>
              <a:rPr dirty="0"/>
              <a:t> token count</a:t>
            </a:r>
            <a:r>
              <a:rPr lang="en-US" dirty="0"/>
              <a:t>.</a:t>
            </a:r>
          </a:p>
          <a:p>
            <a:endParaRPr lang="en-US" dirty="0"/>
          </a:p>
          <a:p>
            <a:r>
              <a:rPr lang="en-US" dirty="0"/>
              <a:t>T</a:t>
            </a:r>
            <a:r>
              <a:rPr dirty="0"/>
              <a:t>he second </a:t>
            </a:r>
            <a:r>
              <a:rPr lang="en-US" dirty="0"/>
              <a:t>takes the first marking and </a:t>
            </a:r>
            <a:r>
              <a:rPr dirty="0"/>
              <a:t>adds structure</a:t>
            </a:r>
            <a:r>
              <a:rPr lang="en-US" dirty="0"/>
              <a:t>.</a:t>
            </a:r>
          </a:p>
          <a:p>
            <a:r>
              <a:rPr dirty="0"/>
              <a:t> </a:t>
            </a:r>
            <a:r>
              <a:rPr lang="en-US" dirty="0"/>
              <a:t>A</a:t>
            </a:r>
            <a:r>
              <a:rPr dirty="0"/>
              <a:t> heterogeneous graph neural network propagates the marking over the net for two hops</a:t>
            </a:r>
            <a:r>
              <a:rPr lang="en-US" dirty="0"/>
              <a:t> and </a:t>
            </a:r>
            <a:r>
              <a:rPr dirty="0"/>
              <a:t>then a max readout summarizes it. </a:t>
            </a:r>
            <a:endParaRPr lang="en-US" dirty="0"/>
          </a:p>
          <a:p>
            <a:endParaRPr lang="it-IT" dirty="0"/>
          </a:p>
          <a:p>
            <a:r>
              <a:rPr dirty="0"/>
              <a:t>The third </a:t>
            </a:r>
            <a:r>
              <a:rPr lang="en-US" dirty="0"/>
              <a:t>takes the second and </a:t>
            </a:r>
            <a:r>
              <a:rPr dirty="0"/>
              <a:t>adds history. </a:t>
            </a:r>
            <a:endParaRPr lang="en-US" dirty="0"/>
          </a:p>
          <a:p>
            <a:r>
              <a:rPr dirty="0"/>
              <a:t>A single marking suffers from loop overwriting: when a loop completes, the marking returns to a state it already had, as in this table. </a:t>
            </a:r>
            <a:endParaRPr lang="en-US" dirty="0"/>
          </a:p>
          <a:p>
            <a:r>
              <a:rPr dirty="0"/>
              <a:t>The marking sequence encodes one marking per event and summarizes them with a </a:t>
            </a:r>
            <a:r>
              <a:rPr lang="en-US" dirty="0"/>
              <a:t>Gated Recurrent Unit</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~1:00 · cumulative 8:40 </a:t>
            </a:r>
            <a:endParaRPr lang="en-US" dirty="0"/>
          </a:p>
          <a:p>
            <a:endParaRPr lang="en-US" dirty="0"/>
          </a:p>
          <a:p>
            <a:r>
              <a:rPr dirty="0"/>
              <a:t>The loss channel has four variants, each adding a term to the cross-entropy. </a:t>
            </a:r>
            <a:endParaRPr lang="en-US" dirty="0"/>
          </a:p>
          <a:p>
            <a:endParaRPr lang="it-IT" dirty="0"/>
          </a:p>
          <a:p>
            <a:r>
              <a:rPr dirty="0"/>
              <a:t>The first two come from Mezini. </a:t>
            </a:r>
            <a:endParaRPr lang="en-US" dirty="0"/>
          </a:p>
          <a:p>
            <a:endParaRPr lang="it-IT" dirty="0"/>
          </a:p>
          <a:p>
            <a:r>
              <a:rPr dirty="0"/>
              <a:t>The local logic loss looks at the next step only: it penalizes minus the log of one minus the forbidden probability mass, which grows without bound as the mass approaches one, </a:t>
            </a:r>
            <a:r>
              <a:rPr lang="en-US" dirty="0"/>
              <a:t>and</a:t>
            </a:r>
            <a:r>
              <a:rPr dirty="0"/>
              <a:t> it switches off the cross-entropy where the target itself is forbidden. </a:t>
            </a:r>
            <a:endParaRPr lang="en-US" dirty="0"/>
          </a:p>
          <a:p>
            <a:endParaRPr lang="it-IT" dirty="0"/>
          </a:p>
          <a:p>
            <a:r>
              <a:rPr dirty="0"/>
              <a:t>The global logic loss judges a whole generated suffix: the model rolls forward with Gumbel-</a:t>
            </a:r>
            <a:r>
              <a:rPr dirty="0" err="1"/>
              <a:t>Softmax</a:t>
            </a:r>
            <a:r>
              <a:rPr dirty="0"/>
              <a:t> samples, and pays the negative log of the probability that the rollout is accepted. </a:t>
            </a:r>
            <a:endParaRPr lang="en-US" dirty="0"/>
          </a:p>
          <a:p>
            <a:endParaRPr lang="it-IT" dirty="0"/>
          </a:p>
          <a:p>
            <a:r>
              <a:rPr dirty="0"/>
              <a:t>The two </a:t>
            </a:r>
            <a:r>
              <a:rPr lang="en-US" dirty="0"/>
              <a:t>new introduced losses </a:t>
            </a:r>
            <a:r>
              <a:rPr dirty="0"/>
              <a:t>are simpler: they add the forbidden probability mass itself, read from a mask.</a:t>
            </a:r>
            <a:endParaRPr lang="en-US" dirty="0"/>
          </a:p>
          <a:p>
            <a:r>
              <a:rPr dirty="0"/>
              <a:t>In the projected net, the row of the mask is chosen by the last activity</a:t>
            </a:r>
            <a:r>
              <a:rPr lang="en-US" dirty="0"/>
              <a:t>.</a:t>
            </a:r>
          </a:p>
          <a:p>
            <a:r>
              <a:rPr lang="en-US" dirty="0"/>
              <a:t>I</a:t>
            </a:r>
            <a:r>
              <a:rPr dirty="0"/>
              <a:t>n the state-indexed net, by the state the prefix reached, which keeps the information the projection loses. </a:t>
            </a:r>
            <a:r>
              <a:rPr lang="en-US" dirty="0"/>
              <a:t>This penalty is linear, so its gradient is constant.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~1:00 · cumulative 9:40 </a:t>
            </a:r>
            <a:endParaRPr lang="en-US" dirty="0"/>
          </a:p>
          <a:p>
            <a:endParaRPr lang="it-IT" dirty="0"/>
          </a:p>
          <a:p>
            <a:r>
              <a:rPr dirty="0"/>
              <a:t>This is how the net becomes a constraint on the next activity. </a:t>
            </a:r>
            <a:endParaRPr lang="en-US" dirty="0"/>
          </a:p>
          <a:p>
            <a:endParaRPr lang="it-IT" dirty="0"/>
          </a:p>
          <a:p>
            <a:r>
              <a:rPr dirty="0"/>
              <a:t>Take a small process: after Register, the payment runs in parallel with Check and Approve, and Close ends the case. </a:t>
            </a:r>
            <a:endParaRPr lang="en-US" dirty="0"/>
          </a:p>
          <a:p>
            <a:endParaRPr lang="it-IT" dirty="0"/>
          </a:p>
          <a:p>
            <a:r>
              <a:rPr dirty="0"/>
              <a:t>Replaying a prefix on the net moves its tokens, and the reachability automaton names the state each prefix reaches: its states are markings, its edges are activities. </a:t>
            </a:r>
            <a:endParaRPr lang="en-US" dirty="0"/>
          </a:p>
          <a:p>
            <a:endParaRPr lang="it-IT" dirty="0"/>
          </a:p>
          <a:p>
            <a:r>
              <a:rPr dirty="0"/>
              <a:t>From that automaton two masks</a:t>
            </a:r>
            <a:r>
              <a:rPr lang="en-US" dirty="0"/>
              <a:t> are derived</a:t>
            </a:r>
            <a:r>
              <a:rPr dirty="0"/>
              <a:t>. </a:t>
            </a:r>
            <a:endParaRPr lang="en-US" dirty="0"/>
          </a:p>
          <a:p>
            <a:r>
              <a:rPr dirty="0"/>
              <a:t>The projected mask is indexed by the last activity, Pay: since Pay can fire at three points of the case, the row allows the union of everything </a:t>
            </a:r>
            <a:r>
              <a:rPr lang="en-US" dirty="0"/>
              <a:t>that </a:t>
            </a:r>
            <a:r>
              <a:rPr dirty="0"/>
              <a:t>those three states allow, so Check</a:t>
            </a:r>
            <a:r>
              <a:rPr lang="en-US" dirty="0"/>
              <a:t>, </a:t>
            </a:r>
            <a:r>
              <a:rPr dirty="0"/>
              <a:t>Approve</a:t>
            </a:r>
            <a:r>
              <a:rPr lang="en-US" dirty="0"/>
              <a:t> and Close</a:t>
            </a:r>
            <a:r>
              <a:rPr dirty="0"/>
              <a:t> stay open. </a:t>
            </a:r>
            <a:endParaRPr lang="en-US" dirty="0"/>
          </a:p>
          <a:p>
            <a:endParaRPr lang="it-IT" dirty="0"/>
          </a:p>
          <a:p>
            <a:r>
              <a:rPr dirty="0"/>
              <a:t>The state-indexed mask is indexed by the state the prefix reached, which knows both are done, and allows only Close.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~1:05 · cumulative 10:45 </a:t>
            </a:r>
            <a:endParaRPr lang="en-US" dirty="0"/>
          </a:p>
          <a:p>
            <a:endParaRPr lang="en-US" dirty="0"/>
          </a:p>
          <a:p>
            <a:r>
              <a:rPr lang="it-IT" dirty="0"/>
              <a:t>For the </a:t>
            </a:r>
            <a:r>
              <a:rPr lang="it-IT" dirty="0" err="1"/>
              <a:t>experiments</a:t>
            </a:r>
            <a:r>
              <a:rPr lang="it-IT" dirty="0"/>
              <a:t> 5760 </a:t>
            </a:r>
            <a:r>
              <a:rPr lang="it-IT" dirty="0" err="1"/>
              <a:t>runs</a:t>
            </a:r>
            <a:r>
              <a:rPr lang="it-IT" dirty="0"/>
              <a:t> </a:t>
            </a:r>
            <a:r>
              <a:rPr lang="it-IT" dirty="0" err="1"/>
              <a:t>were</a:t>
            </a:r>
            <a:r>
              <a:rPr lang="it-IT" dirty="0"/>
              <a:t> </a:t>
            </a:r>
            <a:r>
              <a:rPr lang="it-IT" dirty="0" err="1"/>
              <a:t>executed</a:t>
            </a:r>
            <a:r>
              <a:rPr lang="it-IT" dirty="0"/>
              <a:t> over 8 models, 4 logs, 9 </a:t>
            </a:r>
            <a:r>
              <a:rPr lang="it-IT" dirty="0" err="1"/>
              <a:t>noise</a:t>
            </a:r>
            <a:r>
              <a:rPr lang="it-IT" dirty="0"/>
              <a:t> </a:t>
            </a:r>
            <a:r>
              <a:rPr lang="it-IT" dirty="0" err="1"/>
              <a:t>levels</a:t>
            </a:r>
            <a:r>
              <a:rPr lang="it-IT" dirty="0"/>
              <a:t>, 10 </a:t>
            </a:r>
            <a:r>
              <a:rPr lang="it-IT" dirty="0" err="1"/>
              <a:t>seeds</a:t>
            </a:r>
            <a:r>
              <a:rPr lang="it-IT" dirty="0"/>
              <a:t> and 2 </a:t>
            </a:r>
            <a:r>
              <a:rPr lang="it-IT" dirty="0" err="1"/>
              <a:t>protocols</a:t>
            </a:r>
            <a:endParaRPr lang="it-IT" dirty="0"/>
          </a:p>
          <a:p>
            <a:endParaRPr lang="it-IT" dirty="0"/>
          </a:p>
          <a:p>
            <a:r>
              <a:rPr dirty="0"/>
              <a:t>The benchmark uses four public logs from different domains: sepsis patients, IT incidents, travel expenses and loan applications</a:t>
            </a:r>
            <a:r>
              <a:rPr lang="en-US" dirty="0"/>
              <a:t>, each with their own number of cases, events and activities.</a:t>
            </a:r>
          </a:p>
          <a:p>
            <a:endParaRPr lang="en-US" dirty="0"/>
          </a:p>
          <a:p>
            <a:r>
              <a:rPr dirty="0"/>
              <a:t>Noise replaces the labels of a fraction of the training events, from zero to eighty percent; </a:t>
            </a:r>
            <a:r>
              <a:rPr lang="en-US" dirty="0"/>
              <a:t>were </a:t>
            </a:r>
            <a:r>
              <a:rPr dirty="0"/>
              <a:t>the reference work stopped at forty. </a:t>
            </a:r>
            <a:endParaRPr lang="en-US" dirty="0"/>
          </a:p>
          <a:p>
            <a:endParaRPr lang="it-IT" dirty="0"/>
          </a:p>
          <a:p>
            <a:r>
              <a:rPr dirty="0"/>
              <a:t>The two protocols differ only in where the knowledge is mined: the test partition, as </a:t>
            </a:r>
            <a:r>
              <a:rPr lang="en-US" dirty="0"/>
              <a:t>form the </a:t>
            </a:r>
            <a:r>
              <a:rPr dirty="0"/>
              <a:t>reference work, or the training partition. </a:t>
            </a:r>
            <a:endParaRPr lang="en-US" dirty="0"/>
          </a:p>
          <a:p>
            <a:endParaRPr lang="it-IT" dirty="0"/>
          </a:p>
          <a:p>
            <a:r>
              <a:rPr dirty="0"/>
              <a:t>Prediction is measured by next-activity accuracy and by the </a:t>
            </a:r>
            <a:r>
              <a:rPr dirty="0" err="1"/>
              <a:t>Damerau-Levenshtein</a:t>
            </a:r>
            <a:r>
              <a:rPr dirty="0"/>
              <a:t> similarity of generated suffixes. </a:t>
            </a:r>
            <a:endParaRPr lang="en-US" dirty="0"/>
          </a:p>
          <a:p>
            <a:endParaRPr lang="it-IT" dirty="0"/>
          </a:p>
          <a:p>
            <a:r>
              <a:rPr dirty="0"/>
              <a:t>Violation rates, by the forbidden probability mass, the probability placed on activities the automaton does not allow, and by the violation rate of generated suffixes, both scored against the same automaton. </a:t>
            </a:r>
            <a:endParaRPr lang="en-US" dirty="0"/>
          </a:p>
          <a:p>
            <a:endParaRPr lang="it-IT" dirty="0"/>
          </a:p>
          <a:p>
            <a:r>
              <a:rPr dirty="0"/>
              <a:t>Cost is the time per epoch on identical hardware.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 ~1:00 · cumulative 11:45</a:t>
            </a:r>
          </a:p>
          <a:p>
            <a:endParaRPr lang="en-US" dirty="0"/>
          </a:p>
          <a:p>
            <a:r>
              <a:rPr lang="en-US" dirty="0"/>
              <a:t>This is the whole benchmark in one picture: each value is a model's mean difference from the baseline over every log and noise level; blue is better, orange is worse.</a:t>
            </a:r>
          </a:p>
          <a:p>
            <a:endParaRPr lang="en-US" dirty="0"/>
          </a:p>
          <a:p>
            <a:r>
              <a:rPr lang="en-US" dirty="0"/>
              <a:t>First, prediction barely moves: accuracy and similarity stay within four percent of the baseline for every model, under both protocols.</a:t>
            </a:r>
          </a:p>
          <a:p>
            <a:endParaRPr lang="en-US" dirty="0"/>
          </a:p>
          <a:p>
            <a:r>
              <a:rPr lang="en-US" dirty="0"/>
              <a:t>Second, the violation rates of the feature channel: the three feature models stay at the baseline on the forbidden mass, under both protocols, and on generated suffixes the marking and the graph encoder are even worse, by up to fourteen and seven percent.</a:t>
            </a:r>
          </a:p>
          <a:p>
            <a:endParaRPr lang="en-US" dirty="0"/>
          </a:p>
          <a:p>
            <a:r>
              <a:rPr lang="en-US" dirty="0"/>
              <a:t>Third, the violation rates of the loss channel: all four losses reduce the forbidden mass in every setting, under both protocols: the local loss by ninety-nine percent, the global loss by a third, the projected net by a quarter, the state-indexed net by eleven to fifteen percent. The two state-of-the-art losses also remove eighty-eight to ninety-nine percent of the suffix violations. </a:t>
            </a:r>
          </a:p>
          <a:p>
            <a:endParaRPr lang="en-US" dirty="0"/>
          </a:p>
          <a:p>
            <a:r>
              <a:rPr lang="en-US" dirty="0"/>
              <a:t>  </a:t>
            </a:r>
          </a:p>
          <a:p>
            <a:r>
              <a:rPr lang="en-US" dirty="0"/>
              <a:t>So violation rates move only in the loss channel.</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~1:00 · cumulative 12:45 RQ1. </a:t>
            </a:r>
            <a:endParaRPr lang="en-US" dirty="0"/>
          </a:p>
          <a:p>
            <a:endParaRPr lang="it-IT" dirty="0"/>
          </a:p>
          <a:p>
            <a:r>
              <a:rPr dirty="0"/>
              <a:t>Read the diagram from the right: every run ranks the eight models by forbidden mass, and the axis is the average rank of a protocol. </a:t>
            </a:r>
            <a:endParaRPr lang="en-US" dirty="0"/>
          </a:p>
          <a:p>
            <a:endParaRPr lang="it-IT" dirty="0"/>
          </a:p>
          <a:p>
            <a:r>
              <a:rPr dirty="0"/>
              <a:t>Each of the four losses is separated from every other model</a:t>
            </a:r>
            <a:r>
              <a:rPr lang="en-US" dirty="0"/>
              <a:t> by 1 rank</a:t>
            </a:r>
            <a:r>
              <a:rPr dirty="0"/>
              <a:t>, and the local loss is first in nearly every run.</a:t>
            </a:r>
            <a:endParaRPr lang="en-US" dirty="0"/>
          </a:p>
          <a:p>
            <a:endParaRPr lang="en-US" dirty="0"/>
          </a:p>
          <a:p>
            <a:r>
              <a:rPr dirty="0"/>
              <a:t>The baseline and the three feature models fall in one group that cannot</a:t>
            </a:r>
            <a:r>
              <a:rPr lang="en-US" dirty="0"/>
              <a:t> be</a:t>
            </a:r>
            <a:r>
              <a:rPr dirty="0"/>
              <a:t> separate</a:t>
            </a:r>
            <a:r>
              <a:rPr lang="en-US" dirty="0"/>
              <a:t>d</a:t>
            </a:r>
            <a:r>
              <a:rPr dirty="0"/>
              <a:t>, and the gap between that group and the nearest loss is four times the critical difference. </a:t>
            </a:r>
            <a:endParaRPr lang="en-US" dirty="0"/>
          </a:p>
          <a:p>
            <a:endParaRPr lang="it-IT" dirty="0"/>
          </a:p>
          <a:p>
            <a:r>
              <a:rPr dirty="0"/>
              <a:t>The baseline and the three feature models sit within 0.</a:t>
            </a:r>
            <a:r>
              <a:rPr lang="en-US" dirty="0"/>
              <a:t>39</a:t>
            </a:r>
            <a:r>
              <a:rPr dirty="0"/>
              <a:t> ranks of each other</a:t>
            </a:r>
            <a:r>
              <a:rPr lang="en-US" dirty="0"/>
              <a:t>, therefore adding the net as a feature does not move a model performances</a:t>
            </a:r>
          </a:p>
          <a:p>
            <a:endParaRPr lang="it-IT" dirty="0"/>
          </a:p>
          <a:p>
            <a:r>
              <a:rPr lang="en-US" dirty="0"/>
              <a:t>The </a:t>
            </a:r>
            <a:r>
              <a:rPr dirty="0"/>
              <a:t>four losses</a:t>
            </a:r>
            <a:r>
              <a:rPr lang="en-US" dirty="0"/>
              <a:t> instead</a:t>
            </a:r>
            <a:r>
              <a:rPr dirty="0"/>
              <a:t> spread over three ranks. </a:t>
            </a:r>
            <a:endParaRPr lang="it-IT" dirty="0"/>
          </a:p>
          <a:p>
            <a:r>
              <a:rPr lang="en-US" dirty="0"/>
              <a:t>The </a:t>
            </a:r>
            <a:r>
              <a:rPr dirty="0"/>
              <a:t>same net, read through the loss, always makes a difference; </a:t>
            </a:r>
            <a:r>
              <a:rPr lang="en-US" dirty="0"/>
              <a:t>while as a feature it never does.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~1:00 · cumulative 13:45 RQ2 isolates one variable. </a:t>
            </a:r>
            <a:endParaRPr lang="en-US" dirty="0"/>
          </a:p>
          <a:p>
            <a:endParaRPr lang="it-IT" dirty="0"/>
          </a:p>
          <a:p>
            <a:r>
              <a:rPr dirty="0"/>
              <a:t>The projected and the state-indexed penalty share the trunk, the net, the penalty and its weight; only the indexing of the mask changes, by last activity or by the state the case reached. </a:t>
            </a:r>
            <a:endParaRPr lang="en-US" dirty="0"/>
          </a:p>
          <a:p>
            <a:endParaRPr lang="it-IT" dirty="0"/>
          </a:p>
          <a:p>
            <a:r>
              <a:rPr dirty="0"/>
              <a:t>The state-indexed form keeps more information, yet it pays less: it removes </a:t>
            </a:r>
            <a:r>
              <a:rPr lang="en-US" dirty="0"/>
              <a:t>less </a:t>
            </a:r>
            <a:r>
              <a:rPr dirty="0"/>
              <a:t>forbidden mass </a:t>
            </a:r>
            <a:r>
              <a:rPr lang="en-US" dirty="0"/>
              <a:t>and </a:t>
            </a:r>
            <a:r>
              <a:rPr dirty="0"/>
              <a:t>far fewer suffix violations. </a:t>
            </a:r>
            <a:endParaRPr lang="en-US" dirty="0"/>
          </a:p>
          <a:p>
            <a:endParaRPr lang="it-IT" dirty="0"/>
          </a:p>
          <a:p>
            <a:r>
              <a:rPr dirty="0"/>
              <a:t>Accuracy is identica</a:t>
            </a:r>
            <a:r>
              <a:rPr lang="en-US" dirty="0"/>
              <a:t>l, only in the </a:t>
            </a:r>
            <a:r>
              <a:rPr lang="en-US" dirty="0" err="1"/>
              <a:t>Damerau</a:t>
            </a:r>
            <a:r>
              <a:rPr lang="en-US" dirty="0"/>
              <a:t> Levenstein distance it is better</a:t>
            </a:r>
            <a:r>
              <a:rPr dirty="0"/>
              <a:t>. </a:t>
            </a:r>
            <a:endParaRPr lang="en-US" dirty="0"/>
          </a:p>
          <a:p>
            <a:endParaRPr lang="it-IT" dirty="0"/>
          </a:p>
          <a:p>
            <a:r>
              <a:rPr dirty="0"/>
              <a:t>The strip below gives the second contrast. The local loss and the projected net read the same mask, yet remove 99 and 24 percent</a:t>
            </a:r>
            <a:r>
              <a:rPr lang="en-US" dirty="0"/>
              <a:t>.</a:t>
            </a:r>
          </a:p>
          <a:p>
            <a:r>
              <a:rPr lang="en-US" dirty="0"/>
              <a:t>Therefore, difference in </a:t>
            </a:r>
            <a:r>
              <a:rPr dirty="0"/>
              <a:t>size is</a:t>
            </a:r>
            <a:r>
              <a:rPr lang="en-US" dirty="0"/>
              <a:t> defined in</a:t>
            </a:r>
            <a:r>
              <a:rPr dirty="0"/>
              <a:t> the form of the penalty, not how much of the net it reads.</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~0:55 · cumulative 14:40 </a:t>
            </a:r>
            <a:endParaRPr lang="en-US" dirty="0"/>
          </a:p>
          <a:p>
            <a:endParaRPr lang="it-IT" dirty="0"/>
          </a:p>
          <a:p>
            <a:r>
              <a:rPr dirty="0"/>
              <a:t>The strongest penalty deserves a closer look. </a:t>
            </a:r>
            <a:endParaRPr lang="en-US" dirty="0"/>
          </a:p>
          <a:p>
            <a:endParaRPr lang="it-IT" dirty="0"/>
          </a:p>
          <a:p>
            <a:r>
              <a:rPr dirty="0"/>
              <a:t>Across the whole benchmark, the local loss keeps the forbidden mass flat, never above 0.01 at any noise level, and its suffix violation rate is exactly zero in ninety-six percent of the settings. </a:t>
            </a:r>
            <a:endParaRPr lang="en-US" dirty="0"/>
          </a:p>
          <a:p>
            <a:endParaRPr lang="it-IT" dirty="0"/>
          </a:p>
          <a:p>
            <a:r>
              <a:rPr dirty="0"/>
              <a:t>But it has a price, and it appears at high noise: beyond sixty percent of corrupted labels, it starts to lose similarity and accuracy against the baseline. </a:t>
            </a:r>
            <a:endParaRPr lang="en-US" dirty="0"/>
          </a:p>
          <a:p>
            <a:endParaRPr lang="it-IT" dirty="0"/>
          </a:p>
          <a:p>
            <a:r>
              <a:rPr dirty="0"/>
              <a:t>The original evaluation stopped at forty percent, so it could not observe this </a:t>
            </a:r>
            <a:r>
              <a:rPr lang="en-US" dirty="0" err="1"/>
              <a:t>behaviour</a:t>
            </a:r>
            <a:r>
              <a:rPr dirty="0"/>
              <a:t>.</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~1:05 · cumulative 15:45 </a:t>
            </a:r>
            <a:endParaRPr lang="en-US" dirty="0"/>
          </a:p>
          <a:p>
            <a:endParaRPr lang="it-IT" dirty="0"/>
          </a:p>
          <a:p>
            <a:r>
              <a:rPr dirty="0"/>
              <a:t>RQ3 is about cost, and this table reports whole training runs: the average over the seven hundred and twenty runs of each model, four logs and both protocols together. </a:t>
            </a:r>
            <a:endParaRPr lang="en-US" dirty="0"/>
          </a:p>
          <a:p>
            <a:endParaRPr lang="it-IT" dirty="0"/>
          </a:p>
          <a:p>
            <a:r>
              <a:rPr dirty="0"/>
              <a:t>The column that matters is the last one, the ratio to the baseline measured run by run inside the same cell, so the size of the log cancels out. </a:t>
            </a:r>
            <a:endParaRPr lang="en-US" dirty="0"/>
          </a:p>
          <a:p>
            <a:endParaRPr lang="it-IT" dirty="0"/>
          </a:p>
          <a:p>
            <a:r>
              <a:rPr dirty="0"/>
              <a:t>Six of the eight models train at the baseline's price, between one and one point three times. </a:t>
            </a:r>
            <a:endParaRPr lang="en-US" dirty="0"/>
          </a:p>
          <a:p>
            <a:r>
              <a:rPr dirty="0"/>
              <a:t>The local loss sits exactly at one, and for that price it removes over ninety percent of the forbidden mass and of the suffix violations. </a:t>
            </a:r>
            <a:endParaRPr lang="en-US" dirty="0"/>
          </a:p>
          <a:p>
            <a:endParaRPr lang="it-IT" dirty="0"/>
          </a:p>
          <a:p>
            <a:r>
              <a:rPr dirty="0"/>
              <a:t>Only two cost more, both around two and a half times: the global loss, which </a:t>
            </a:r>
            <a:r>
              <a:rPr lang="en-US" dirty="0"/>
              <a:t>lessens violation rates</a:t>
            </a:r>
            <a:r>
              <a:rPr dirty="0"/>
              <a:t> with that time, and the marking sequence, which </a:t>
            </a:r>
            <a:r>
              <a:rPr lang="en-US" dirty="0"/>
              <a:t>gains nothing</a:t>
            </a:r>
            <a:r>
              <a:rPr dirty="0"/>
              <a:t>.</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~0:50 · cumulative 16:35</a:t>
            </a:r>
          </a:p>
          <a:p>
            <a:endParaRPr dirty="0"/>
          </a:p>
          <a:p>
            <a:r>
              <a:rPr dirty="0"/>
              <a:t>To conclude. </a:t>
            </a:r>
            <a:endParaRPr lang="en-US" dirty="0"/>
          </a:p>
          <a:p>
            <a:r>
              <a:rPr dirty="0"/>
              <a:t>The same procedural knowledge, one mined Petri net, has an effect only through the loss. </a:t>
            </a:r>
            <a:endParaRPr lang="en-US" dirty="0"/>
          </a:p>
          <a:p>
            <a:r>
              <a:rPr dirty="0"/>
              <a:t>As a feature, even with state, structure and history, it changes nothing, and its richest encoding doubles the training time. </a:t>
            </a:r>
            <a:endParaRPr lang="en-US" dirty="0"/>
          </a:p>
          <a:p>
            <a:endParaRPr lang="it-IT" dirty="0"/>
          </a:p>
          <a:p>
            <a:r>
              <a:rPr dirty="0"/>
              <a:t>Among the losses, the simpler projection beats the state-indexed automaton: penalties rank</a:t>
            </a:r>
            <a:r>
              <a:rPr lang="it-IT" dirty="0"/>
              <a:t> by </a:t>
            </a:r>
            <a:r>
              <a:rPr lang="it-IT" dirty="0" err="1"/>
              <a:t>how</a:t>
            </a:r>
            <a:r>
              <a:rPr lang="it-IT" dirty="0"/>
              <a:t> hard </a:t>
            </a:r>
            <a:r>
              <a:rPr lang="it-IT" dirty="0" err="1"/>
              <a:t>they</a:t>
            </a:r>
            <a:r>
              <a:rPr lang="it-IT" dirty="0"/>
              <a:t> </a:t>
            </a:r>
            <a:r>
              <a:rPr lang="it-IT" dirty="0" err="1"/>
              <a:t>push</a:t>
            </a:r>
            <a:r>
              <a:rPr dirty="0"/>
              <a:t>, not by expressive power. </a:t>
            </a:r>
            <a:endParaRPr lang="en-US" dirty="0"/>
          </a:p>
          <a:p>
            <a:endParaRPr lang="it-IT" dirty="0"/>
          </a:p>
          <a:p>
            <a:r>
              <a:rPr dirty="0"/>
              <a:t>The cheapest variant, the local loss, is the most effective, but pays in similarity and accuracy beyond sixty percent noise; </a:t>
            </a:r>
            <a:endParaRPr lang="en-US" dirty="0"/>
          </a:p>
          <a:p>
            <a:r>
              <a:rPr dirty="0"/>
              <a:t>the global loss </a:t>
            </a:r>
            <a:r>
              <a:rPr lang="en-US" dirty="0"/>
              <a:t>reduces violation rates</a:t>
            </a:r>
            <a:r>
              <a:rPr dirty="0"/>
              <a:t> without losing prediction, at twice the cost. Both protocols give the same answers.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~1:00 · cumulative 17:35 </a:t>
            </a:r>
            <a:endParaRPr lang="en-US" dirty="0"/>
          </a:p>
          <a:p>
            <a:endParaRPr lang="it-IT" dirty="0"/>
          </a:p>
          <a:p>
            <a:r>
              <a:rPr dirty="0"/>
              <a:t>This work has three limits. </a:t>
            </a:r>
            <a:endParaRPr lang="en-US" dirty="0"/>
          </a:p>
          <a:p>
            <a:endParaRPr lang="it-IT" dirty="0"/>
          </a:p>
          <a:p>
            <a:r>
              <a:rPr dirty="0"/>
              <a:t>First, </a:t>
            </a:r>
            <a:r>
              <a:rPr lang="en-US" dirty="0"/>
              <a:t>violation rates</a:t>
            </a:r>
            <a:r>
              <a:rPr dirty="0"/>
              <a:t> </a:t>
            </a:r>
            <a:r>
              <a:rPr lang="en-US" dirty="0"/>
              <a:t>are</a:t>
            </a:r>
            <a:r>
              <a:rPr dirty="0"/>
              <a:t> scored against one automaton, the same for all eight models, or </a:t>
            </a:r>
            <a:r>
              <a:rPr lang="en-US" dirty="0"/>
              <a:t>otherwise </a:t>
            </a:r>
            <a:r>
              <a:rPr dirty="0"/>
              <a:t>they would not be comparable. </a:t>
            </a:r>
            <a:endParaRPr lang="it-IT" dirty="0"/>
          </a:p>
          <a:p>
            <a:endParaRPr lang="en-US" dirty="0"/>
          </a:p>
          <a:p>
            <a:r>
              <a:rPr dirty="0"/>
              <a:t>The local loss and the projected net minimize exactly that mask in training, so part of their result comes from the metric itself. </a:t>
            </a:r>
            <a:endParaRPr lang="it-IT" dirty="0"/>
          </a:p>
          <a:p>
            <a:r>
              <a:rPr dirty="0"/>
              <a:t>The conclusion holds anyway: the global loss never touches that mask and still reduces it, the feature channel reads the same net and g</a:t>
            </a:r>
            <a:r>
              <a:rPr lang="en-US" dirty="0"/>
              <a:t>ains nothing</a:t>
            </a:r>
            <a:r>
              <a:rPr dirty="0"/>
              <a:t>.</a:t>
            </a:r>
            <a:endParaRPr lang="en-US" dirty="0"/>
          </a:p>
          <a:p>
            <a:endParaRPr lang="en-US" dirty="0"/>
          </a:p>
          <a:p>
            <a:r>
              <a:rPr dirty="0"/>
              <a:t>Second, a mined net says what the log did, not what the process should do, so the features never carried information the data did not already hold. </a:t>
            </a:r>
            <a:endParaRPr lang="en-US" dirty="0"/>
          </a:p>
          <a:p>
            <a:endParaRPr lang="it-IT" dirty="0"/>
          </a:p>
          <a:p>
            <a:r>
              <a:rPr dirty="0"/>
              <a:t>Third, stopping generation at the true length isolates wrong activities from wrong lengths, but the similarity values only compare my eight models. </a:t>
            </a:r>
            <a:endParaRPr lang="en-US" dirty="0"/>
          </a:p>
          <a:p>
            <a:endParaRPr lang="it-IT" dirty="0"/>
          </a:p>
          <a:p>
            <a:r>
              <a:rPr dirty="0"/>
              <a:t>Three directions follow: Declare knowledge, which also compiles into an automaton; decode-time masking as a baseline; and an end-of-trace token. </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~0:10 · cumulative 17:45 </a:t>
            </a:r>
            <a:endParaRPr lang="en-US" dirty="0"/>
          </a:p>
          <a:p>
            <a:endParaRPr lang="it-IT" dirty="0"/>
          </a:p>
          <a:p>
            <a:r>
              <a:rPr dirty="0"/>
              <a:t>Thank you for your attention. I am happy to answer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1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5.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16.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1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18.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9" Type="http://schemas.openxmlformats.org/officeDocument/2006/relationships/image" Target="../media/image85.png"/></Relationships>
</file>

<file path=ppt/slides/_rels/slide19.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2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93.png"/><Relationship Id="rId4" Type="http://schemas.openxmlformats.org/officeDocument/2006/relationships/image" Target="../media/image92.png"/></Relationships>
</file>

<file path=ppt/slides/_rels/slide2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title_0.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02_0.png"/>
          <p:cNvPicPr>
            <a:picLocks noChangeAspect="1"/>
          </p:cNvPicPr>
          <p:nvPr/>
        </p:nvPicPr>
        <p:blipFill>
          <a:blip r:embed="rId3"/>
          <a:stretch>
            <a:fillRect/>
          </a:stretch>
        </p:blipFill>
        <p:spPr>
          <a:xfrm>
            <a:off x="0" y="0"/>
            <a:ext cx="12192000" cy="6858000"/>
          </a:xfrm>
          <a:prstGeom prst="rect">
            <a:avLst/>
          </a:prstGeom>
        </p:spPr>
      </p:pic>
      <p:pic>
        <p:nvPicPr>
          <p:cNvPr id="3" name="Build 1" descr="s02_1.png"/>
          <p:cNvPicPr>
            <a:picLocks noChangeAspect="1"/>
          </p:cNvPicPr>
          <p:nvPr/>
        </p:nvPicPr>
        <p:blipFill>
          <a:blip r:embed="rId4"/>
          <a:stretch>
            <a:fillRect/>
          </a:stretch>
        </p:blipFill>
        <p:spPr>
          <a:xfrm>
            <a:off x="812800" y="1838325"/>
            <a:ext cx="7851775" cy="3965575"/>
          </a:xfrm>
          <a:prstGeom prst="rect">
            <a:avLst/>
          </a:prstGeom>
        </p:spPr>
      </p:pic>
      <p:pic>
        <p:nvPicPr>
          <p:cNvPr id="4" name="Build 2" descr="s02_2.png"/>
          <p:cNvPicPr>
            <a:picLocks noChangeAspect="1"/>
          </p:cNvPicPr>
          <p:nvPr/>
        </p:nvPicPr>
        <p:blipFill>
          <a:blip r:embed="rId5"/>
          <a:stretch>
            <a:fillRect/>
          </a:stretch>
        </p:blipFill>
        <p:spPr>
          <a:xfrm>
            <a:off x="4775200" y="2374900"/>
            <a:ext cx="6604000" cy="3429000"/>
          </a:xfrm>
          <a:prstGeom prst="rect">
            <a:avLst/>
          </a:prstGeom>
        </p:spPr>
      </p:pic>
      <p:pic>
        <p:nvPicPr>
          <p:cNvPr id="5" name="Build 3" descr="s02_3.png"/>
          <p:cNvPicPr>
            <a:picLocks noChangeAspect="1"/>
          </p:cNvPicPr>
          <p:nvPr/>
        </p:nvPicPr>
        <p:blipFill>
          <a:blip r:embed="rId6"/>
          <a:stretch>
            <a:fillRect/>
          </a:stretch>
        </p:blipFill>
        <p:spPr>
          <a:xfrm>
            <a:off x="7010400" y="3644900"/>
            <a:ext cx="3556000" cy="1905000"/>
          </a:xfrm>
          <a:prstGeom prst="rect">
            <a:avLst/>
          </a:prstGeom>
        </p:spPr>
      </p:pic>
      <p:pic>
        <p:nvPicPr>
          <p:cNvPr id="6" name="Build 4" descr="s02_4.png"/>
          <p:cNvPicPr>
            <a:picLocks noChangeAspect="1"/>
          </p:cNvPicPr>
          <p:nvPr/>
        </p:nvPicPr>
        <p:blipFill>
          <a:blip r:embed="rId7"/>
          <a:stretch>
            <a:fillRect/>
          </a:stretch>
        </p:blipFill>
        <p:spPr>
          <a:xfrm>
            <a:off x="7378700" y="3073400"/>
            <a:ext cx="3848100" cy="1085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03_0.png"/>
          <p:cNvPicPr>
            <a:picLocks noChangeAspect="1"/>
          </p:cNvPicPr>
          <p:nvPr/>
        </p:nvPicPr>
        <p:blipFill>
          <a:blip r:embed="rId3"/>
          <a:stretch>
            <a:fillRect/>
          </a:stretch>
        </p:blipFill>
        <p:spPr>
          <a:xfrm>
            <a:off x="0" y="0"/>
            <a:ext cx="12192000" cy="6858000"/>
          </a:xfrm>
          <a:prstGeom prst="rect">
            <a:avLst/>
          </a:prstGeom>
        </p:spPr>
      </p:pic>
      <p:pic>
        <p:nvPicPr>
          <p:cNvPr id="3" name="Build 1" descr="s03_1.png"/>
          <p:cNvPicPr>
            <a:picLocks noChangeAspect="1"/>
          </p:cNvPicPr>
          <p:nvPr/>
        </p:nvPicPr>
        <p:blipFill>
          <a:blip r:embed="rId4"/>
          <a:stretch>
            <a:fillRect/>
          </a:stretch>
        </p:blipFill>
        <p:spPr>
          <a:xfrm>
            <a:off x="812800" y="2165350"/>
            <a:ext cx="5537200" cy="2438400"/>
          </a:xfrm>
          <a:prstGeom prst="rect">
            <a:avLst/>
          </a:prstGeom>
        </p:spPr>
      </p:pic>
      <p:pic>
        <p:nvPicPr>
          <p:cNvPr id="4" name="Build 2" descr="s03_2.png"/>
          <p:cNvPicPr>
            <a:picLocks noChangeAspect="1"/>
          </p:cNvPicPr>
          <p:nvPr/>
        </p:nvPicPr>
        <p:blipFill>
          <a:blip r:embed="rId5"/>
          <a:stretch>
            <a:fillRect/>
          </a:stretch>
        </p:blipFill>
        <p:spPr>
          <a:xfrm>
            <a:off x="4140200" y="2536825"/>
            <a:ext cx="2409825" cy="1368425"/>
          </a:xfrm>
          <a:prstGeom prst="rect">
            <a:avLst/>
          </a:prstGeom>
        </p:spPr>
      </p:pic>
      <p:pic>
        <p:nvPicPr>
          <p:cNvPr id="5" name="Build 3" descr="s03_3.png"/>
          <p:cNvPicPr>
            <a:picLocks noChangeAspect="1"/>
          </p:cNvPicPr>
          <p:nvPr/>
        </p:nvPicPr>
        <p:blipFill>
          <a:blip r:embed="rId6"/>
          <a:stretch>
            <a:fillRect/>
          </a:stretch>
        </p:blipFill>
        <p:spPr>
          <a:xfrm>
            <a:off x="6772275" y="1778000"/>
            <a:ext cx="4127500" cy="206375"/>
          </a:xfrm>
          <a:prstGeom prst="rect">
            <a:avLst/>
          </a:prstGeom>
        </p:spPr>
      </p:pic>
      <p:pic>
        <p:nvPicPr>
          <p:cNvPr id="6" name="Build 4" descr="s03_4.png"/>
          <p:cNvPicPr>
            <a:picLocks noChangeAspect="1"/>
          </p:cNvPicPr>
          <p:nvPr/>
        </p:nvPicPr>
        <p:blipFill>
          <a:blip r:embed="rId7"/>
          <a:stretch>
            <a:fillRect/>
          </a:stretch>
        </p:blipFill>
        <p:spPr>
          <a:xfrm>
            <a:off x="6756400" y="2032000"/>
            <a:ext cx="4622800" cy="1200150"/>
          </a:xfrm>
          <a:prstGeom prst="rect">
            <a:avLst/>
          </a:prstGeom>
        </p:spPr>
      </p:pic>
      <p:pic>
        <p:nvPicPr>
          <p:cNvPr id="7" name="Build 5" descr="s03_5.png"/>
          <p:cNvPicPr>
            <a:picLocks noChangeAspect="1"/>
          </p:cNvPicPr>
          <p:nvPr/>
        </p:nvPicPr>
        <p:blipFill>
          <a:blip r:embed="rId8"/>
          <a:stretch>
            <a:fillRect/>
          </a:stretch>
        </p:blipFill>
        <p:spPr>
          <a:xfrm>
            <a:off x="6756400" y="3321050"/>
            <a:ext cx="4622800" cy="1435100"/>
          </a:xfrm>
          <a:prstGeom prst="rect">
            <a:avLst/>
          </a:prstGeom>
        </p:spPr>
      </p:pic>
      <p:pic>
        <p:nvPicPr>
          <p:cNvPr id="8" name="Build 6" descr="s03_6.png"/>
          <p:cNvPicPr>
            <a:picLocks noChangeAspect="1"/>
          </p:cNvPicPr>
          <p:nvPr/>
        </p:nvPicPr>
        <p:blipFill>
          <a:blip r:embed="rId9"/>
          <a:stretch>
            <a:fillRect/>
          </a:stretch>
        </p:blipFill>
        <p:spPr>
          <a:xfrm>
            <a:off x="812800" y="5048250"/>
            <a:ext cx="10566400" cy="7239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05_0.png"/>
          <p:cNvPicPr>
            <a:picLocks noChangeAspect="1"/>
          </p:cNvPicPr>
          <p:nvPr/>
        </p:nvPicPr>
        <p:blipFill>
          <a:blip r:embed="rId3"/>
          <a:stretch>
            <a:fillRect/>
          </a:stretch>
        </p:blipFill>
        <p:spPr>
          <a:xfrm>
            <a:off x="0" y="0"/>
            <a:ext cx="12192000" cy="6858000"/>
          </a:xfrm>
          <a:prstGeom prst="rect">
            <a:avLst/>
          </a:prstGeom>
        </p:spPr>
      </p:pic>
      <p:pic>
        <p:nvPicPr>
          <p:cNvPr id="3" name="Build 1" descr="s05_1.png"/>
          <p:cNvPicPr>
            <a:picLocks noChangeAspect="1"/>
          </p:cNvPicPr>
          <p:nvPr/>
        </p:nvPicPr>
        <p:blipFill>
          <a:blip r:embed="rId4"/>
          <a:stretch>
            <a:fillRect/>
          </a:stretch>
        </p:blipFill>
        <p:spPr>
          <a:xfrm>
            <a:off x="812800" y="1905000"/>
            <a:ext cx="10566400" cy="1206500"/>
          </a:xfrm>
          <a:prstGeom prst="rect">
            <a:avLst/>
          </a:prstGeom>
        </p:spPr>
      </p:pic>
      <p:pic>
        <p:nvPicPr>
          <p:cNvPr id="4" name="Build 2" descr="s05_2.png"/>
          <p:cNvPicPr>
            <a:picLocks noChangeAspect="1"/>
          </p:cNvPicPr>
          <p:nvPr/>
        </p:nvPicPr>
        <p:blipFill>
          <a:blip r:embed="rId5"/>
          <a:stretch>
            <a:fillRect/>
          </a:stretch>
        </p:blipFill>
        <p:spPr>
          <a:xfrm>
            <a:off x="812800" y="3359150"/>
            <a:ext cx="10566400" cy="958850"/>
          </a:xfrm>
          <a:prstGeom prst="rect">
            <a:avLst/>
          </a:prstGeom>
        </p:spPr>
      </p:pic>
      <p:pic>
        <p:nvPicPr>
          <p:cNvPr id="5" name="Build 3" descr="s05_3.png"/>
          <p:cNvPicPr>
            <a:picLocks noChangeAspect="1"/>
          </p:cNvPicPr>
          <p:nvPr/>
        </p:nvPicPr>
        <p:blipFill>
          <a:blip r:embed="rId6"/>
          <a:stretch>
            <a:fillRect/>
          </a:stretch>
        </p:blipFill>
        <p:spPr>
          <a:xfrm>
            <a:off x="812800" y="4565650"/>
            <a:ext cx="10566400" cy="958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06_0.png"/>
          <p:cNvPicPr>
            <a:picLocks noChangeAspect="1"/>
          </p:cNvPicPr>
          <p:nvPr/>
        </p:nvPicPr>
        <p:blipFill>
          <a:blip r:embed="rId3"/>
          <a:stretch>
            <a:fillRect/>
          </a:stretch>
        </p:blipFill>
        <p:spPr>
          <a:xfrm>
            <a:off x="0" y="0"/>
            <a:ext cx="12192000" cy="6858000"/>
          </a:xfrm>
          <a:prstGeom prst="rect">
            <a:avLst/>
          </a:prstGeom>
        </p:spPr>
      </p:pic>
      <p:pic>
        <p:nvPicPr>
          <p:cNvPr id="3" name="Build 1" descr="s06_1.png"/>
          <p:cNvPicPr>
            <a:picLocks noChangeAspect="1"/>
          </p:cNvPicPr>
          <p:nvPr/>
        </p:nvPicPr>
        <p:blipFill>
          <a:blip r:embed="rId4"/>
          <a:stretch>
            <a:fillRect/>
          </a:stretch>
        </p:blipFill>
        <p:spPr>
          <a:xfrm>
            <a:off x="812800" y="1905000"/>
            <a:ext cx="10566400" cy="1206500"/>
          </a:xfrm>
          <a:prstGeom prst="rect">
            <a:avLst/>
          </a:prstGeom>
        </p:spPr>
      </p:pic>
      <p:pic>
        <p:nvPicPr>
          <p:cNvPr id="4" name="Build 2" descr="s06_2.png"/>
          <p:cNvPicPr>
            <a:picLocks noChangeAspect="1"/>
          </p:cNvPicPr>
          <p:nvPr/>
        </p:nvPicPr>
        <p:blipFill>
          <a:blip r:embed="rId5"/>
          <a:stretch>
            <a:fillRect/>
          </a:stretch>
        </p:blipFill>
        <p:spPr>
          <a:xfrm>
            <a:off x="812800" y="3359150"/>
            <a:ext cx="10566400" cy="958850"/>
          </a:xfrm>
          <a:prstGeom prst="rect">
            <a:avLst/>
          </a:prstGeom>
        </p:spPr>
      </p:pic>
      <p:pic>
        <p:nvPicPr>
          <p:cNvPr id="5" name="Build 3" descr="s06_3.png"/>
          <p:cNvPicPr>
            <a:picLocks noChangeAspect="1"/>
          </p:cNvPicPr>
          <p:nvPr/>
        </p:nvPicPr>
        <p:blipFill>
          <a:blip r:embed="rId6"/>
          <a:stretch>
            <a:fillRect/>
          </a:stretch>
        </p:blipFill>
        <p:spPr>
          <a:xfrm>
            <a:off x="812800" y="4565650"/>
            <a:ext cx="10566400" cy="958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07_0.png"/>
          <p:cNvPicPr>
            <a:picLocks noChangeAspect="1"/>
          </p:cNvPicPr>
          <p:nvPr/>
        </p:nvPicPr>
        <p:blipFill>
          <a:blip r:embed="rId3"/>
          <a:stretch>
            <a:fillRect/>
          </a:stretch>
        </p:blipFill>
        <p:spPr>
          <a:xfrm>
            <a:off x="0" y="0"/>
            <a:ext cx="12192000" cy="6858000"/>
          </a:xfrm>
          <a:prstGeom prst="rect">
            <a:avLst/>
          </a:prstGeom>
        </p:spPr>
      </p:pic>
      <p:pic>
        <p:nvPicPr>
          <p:cNvPr id="3" name="Build 1" descr="s07_1.png"/>
          <p:cNvPicPr>
            <a:picLocks noChangeAspect="1"/>
          </p:cNvPicPr>
          <p:nvPr/>
        </p:nvPicPr>
        <p:blipFill>
          <a:blip r:embed="rId4"/>
          <a:stretch>
            <a:fillRect/>
          </a:stretch>
        </p:blipFill>
        <p:spPr>
          <a:xfrm>
            <a:off x="812800" y="1905000"/>
            <a:ext cx="10566400" cy="1206500"/>
          </a:xfrm>
          <a:prstGeom prst="rect">
            <a:avLst/>
          </a:prstGeom>
        </p:spPr>
      </p:pic>
      <p:pic>
        <p:nvPicPr>
          <p:cNvPr id="4" name="Build 2" descr="s07_2.png"/>
          <p:cNvPicPr>
            <a:picLocks noChangeAspect="1"/>
          </p:cNvPicPr>
          <p:nvPr/>
        </p:nvPicPr>
        <p:blipFill>
          <a:blip r:embed="rId5"/>
          <a:stretch>
            <a:fillRect/>
          </a:stretch>
        </p:blipFill>
        <p:spPr>
          <a:xfrm>
            <a:off x="812800" y="3359150"/>
            <a:ext cx="10566400" cy="958850"/>
          </a:xfrm>
          <a:prstGeom prst="rect">
            <a:avLst/>
          </a:prstGeom>
        </p:spPr>
      </p:pic>
      <p:pic>
        <p:nvPicPr>
          <p:cNvPr id="5" name="Build 3" descr="s07_3.png"/>
          <p:cNvPicPr>
            <a:picLocks noChangeAspect="1"/>
          </p:cNvPicPr>
          <p:nvPr/>
        </p:nvPicPr>
        <p:blipFill>
          <a:blip r:embed="rId6"/>
          <a:stretch>
            <a:fillRect/>
          </a:stretch>
        </p:blipFill>
        <p:spPr>
          <a:xfrm>
            <a:off x="812800" y="4521200"/>
            <a:ext cx="10566400" cy="10033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04_0.png"/>
          <p:cNvPicPr>
            <a:picLocks noChangeAspect="1"/>
          </p:cNvPicPr>
          <p:nvPr/>
        </p:nvPicPr>
        <p:blipFill>
          <a:blip r:embed="rId3"/>
          <a:stretch>
            <a:fillRect/>
          </a:stretch>
        </p:blipFill>
        <p:spPr>
          <a:xfrm>
            <a:off x="0" y="0"/>
            <a:ext cx="12192000" cy="6858000"/>
          </a:xfrm>
          <a:prstGeom prst="rect">
            <a:avLst/>
          </a:prstGeom>
        </p:spPr>
      </p:pic>
      <p:pic>
        <p:nvPicPr>
          <p:cNvPr id="3" name="Build 1" descr="s04_1.png"/>
          <p:cNvPicPr>
            <a:picLocks noChangeAspect="1"/>
          </p:cNvPicPr>
          <p:nvPr/>
        </p:nvPicPr>
        <p:blipFill>
          <a:blip r:embed="rId4"/>
          <a:stretch>
            <a:fillRect/>
          </a:stretch>
        </p:blipFill>
        <p:spPr>
          <a:xfrm>
            <a:off x="812800" y="3124200"/>
            <a:ext cx="10566400" cy="825500"/>
          </a:xfrm>
          <a:prstGeom prst="rect">
            <a:avLst/>
          </a:prstGeom>
        </p:spPr>
      </p:pic>
      <p:pic>
        <p:nvPicPr>
          <p:cNvPr id="4" name="Build 2" descr="s04_2.png"/>
          <p:cNvPicPr>
            <a:picLocks noChangeAspect="1"/>
          </p:cNvPicPr>
          <p:nvPr/>
        </p:nvPicPr>
        <p:blipFill>
          <a:blip r:embed="rId5"/>
          <a:stretch>
            <a:fillRect/>
          </a:stretch>
        </p:blipFill>
        <p:spPr>
          <a:xfrm>
            <a:off x="815975" y="1498600"/>
            <a:ext cx="9175750" cy="2000250"/>
          </a:xfrm>
          <a:prstGeom prst="rect">
            <a:avLst/>
          </a:prstGeom>
        </p:spPr>
      </p:pic>
      <p:pic>
        <p:nvPicPr>
          <p:cNvPr id="5" name="Build 3" descr="s04_3.png"/>
          <p:cNvPicPr>
            <a:picLocks noChangeAspect="1"/>
          </p:cNvPicPr>
          <p:nvPr/>
        </p:nvPicPr>
        <p:blipFill>
          <a:blip r:embed="rId6"/>
          <a:stretch>
            <a:fillRect/>
          </a:stretch>
        </p:blipFill>
        <p:spPr>
          <a:xfrm>
            <a:off x="819150" y="3975100"/>
            <a:ext cx="10560050" cy="20574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08_0.png"/>
          <p:cNvPicPr>
            <a:picLocks noChangeAspect="1"/>
          </p:cNvPicPr>
          <p:nvPr/>
        </p:nvPicPr>
        <p:blipFill>
          <a:blip r:embed="rId3"/>
          <a:stretch>
            <a:fillRect/>
          </a:stretch>
        </p:blipFill>
        <p:spPr>
          <a:xfrm>
            <a:off x="0" y="0"/>
            <a:ext cx="12192000" cy="6858000"/>
          </a:xfrm>
          <a:prstGeom prst="rect">
            <a:avLst/>
          </a:prstGeom>
        </p:spPr>
      </p:pic>
      <p:pic>
        <p:nvPicPr>
          <p:cNvPr id="3" name="Build 1" descr="s08_1.png"/>
          <p:cNvPicPr>
            <a:picLocks noChangeAspect="1"/>
          </p:cNvPicPr>
          <p:nvPr/>
        </p:nvPicPr>
        <p:blipFill>
          <a:blip r:embed="rId4"/>
          <a:stretch>
            <a:fillRect/>
          </a:stretch>
        </p:blipFill>
        <p:spPr>
          <a:xfrm>
            <a:off x="812800" y="1905000"/>
            <a:ext cx="1524000" cy="635000"/>
          </a:xfrm>
          <a:prstGeom prst="rect">
            <a:avLst/>
          </a:prstGeom>
        </p:spPr>
      </p:pic>
      <p:pic>
        <p:nvPicPr>
          <p:cNvPr id="4" name="Build 2" descr="s08_2.png"/>
          <p:cNvPicPr>
            <a:picLocks noChangeAspect="1"/>
          </p:cNvPicPr>
          <p:nvPr/>
        </p:nvPicPr>
        <p:blipFill>
          <a:blip r:embed="rId5"/>
          <a:stretch>
            <a:fillRect/>
          </a:stretch>
        </p:blipFill>
        <p:spPr>
          <a:xfrm>
            <a:off x="2336800" y="1587500"/>
            <a:ext cx="5715000" cy="1270000"/>
          </a:xfrm>
          <a:prstGeom prst="rect">
            <a:avLst/>
          </a:prstGeom>
        </p:spPr>
      </p:pic>
      <p:pic>
        <p:nvPicPr>
          <p:cNvPr id="5" name="Build 3" descr="s08_3.png"/>
          <p:cNvPicPr>
            <a:picLocks noChangeAspect="1"/>
          </p:cNvPicPr>
          <p:nvPr/>
        </p:nvPicPr>
        <p:blipFill>
          <a:blip r:embed="rId6"/>
          <a:stretch>
            <a:fillRect/>
          </a:stretch>
        </p:blipFill>
        <p:spPr>
          <a:xfrm>
            <a:off x="8051800" y="1778000"/>
            <a:ext cx="3327400" cy="889000"/>
          </a:xfrm>
          <a:prstGeom prst="rect">
            <a:avLst/>
          </a:prstGeom>
        </p:spPr>
      </p:pic>
      <p:pic>
        <p:nvPicPr>
          <p:cNvPr id="6" name="Build 4" descr="s08_4.png"/>
          <p:cNvPicPr>
            <a:picLocks noChangeAspect="1"/>
          </p:cNvPicPr>
          <p:nvPr/>
        </p:nvPicPr>
        <p:blipFill>
          <a:blip r:embed="rId7"/>
          <a:stretch>
            <a:fillRect/>
          </a:stretch>
        </p:blipFill>
        <p:spPr>
          <a:xfrm>
            <a:off x="812800" y="2667000"/>
            <a:ext cx="9166225" cy="2374900"/>
          </a:xfrm>
          <a:prstGeom prst="rect">
            <a:avLst/>
          </a:prstGeom>
        </p:spPr>
      </p:pic>
      <p:pic>
        <p:nvPicPr>
          <p:cNvPr id="7" name="Build 5" descr="s08_5.png"/>
          <p:cNvPicPr>
            <a:picLocks noChangeAspect="1"/>
          </p:cNvPicPr>
          <p:nvPr/>
        </p:nvPicPr>
        <p:blipFill>
          <a:blip r:embed="rId8"/>
          <a:stretch>
            <a:fillRect/>
          </a:stretch>
        </p:blipFill>
        <p:spPr>
          <a:xfrm>
            <a:off x="3025775" y="2524125"/>
            <a:ext cx="4568825" cy="190500"/>
          </a:xfrm>
          <a:prstGeom prst="rect">
            <a:avLst/>
          </a:prstGeom>
        </p:spPr>
      </p:pic>
      <p:pic>
        <p:nvPicPr>
          <p:cNvPr id="8" name="Build 6" descr="s08_6.png"/>
          <p:cNvPicPr>
            <a:picLocks noChangeAspect="1"/>
          </p:cNvPicPr>
          <p:nvPr/>
        </p:nvPicPr>
        <p:blipFill>
          <a:blip r:embed="rId9"/>
          <a:stretch>
            <a:fillRect/>
          </a:stretch>
        </p:blipFill>
        <p:spPr>
          <a:xfrm>
            <a:off x="2717800" y="3321050"/>
            <a:ext cx="8661400" cy="1016000"/>
          </a:xfrm>
          <a:prstGeom prst="rect">
            <a:avLst/>
          </a:prstGeom>
        </p:spPr>
      </p:pic>
      <p:pic>
        <p:nvPicPr>
          <p:cNvPr id="9" name="Build 7" descr="s08_7.png"/>
          <p:cNvPicPr>
            <a:picLocks noChangeAspect="1"/>
          </p:cNvPicPr>
          <p:nvPr/>
        </p:nvPicPr>
        <p:blipFill>
          <a:blip r:embed="rId10"/>
          <a:stretch>
            <a:fillRect/>
          </a:stretch>
        </p:blipFill>
        <p:spPr>
          <a:xfrm>
            <a:off x="2717800" y="4502150"/>
            <a:ext cx="8661400" cy="13716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10b_0.png"/>
          <p:cNvPicPr>
            <a:picLocks noChangeAspect="1"/>
          </p:cNvPicPr>
          <p:nvPr/>
        </p:nvPicPr>
        <p:blipFill>
          <a:blip r:embed="rId3"/>
          <a:stretch>
            <a:fillRect/>
          </a:stretch>
        </p:blipFill>
        <p:spPr>
          <a:xfrm>
            <a:off x="0" y="0"/>
            <a:ext cx="12192000" cy="6858000"/>
          </a:xfrm>
          <a:prstGeom prst="rect">
            <a:avLst/>
          </a:prstGeom>
        </p:spPr>
      </p:pic>
      <p:pic>
        <p:nvPicPr>
          <p:cNvPr id="3" name="Build 1" descr="s10b_1.png"/>
          <p:cNvPicPr>
            <a:picLocks noChangeAspect="1"/>
          </p:cNvPicPr>
          <p:nvPr/>
        </p:nvPicPr>
        <p:blipFill>
          <a:blip r:embed="rId4"/>
          <a:stretch>
            <a:fillRect/>
          </a:stretch>
        </p:blipFill>
        <p:spPr>
          <a:xfrm>
            <a:off x="812800" y="1625600"/>
            <a:ext cx="10566400" cy="2311400"/>
          </a:xfrm>
          <a:prstGeom prst="rect">
            <a:avLst/>
          </a:prstGeom>
        </p:spPr>
      </p:pic>
      <p:pic>
        <p:nvPicPr>
          <p:cNvPr id="4" name="Build 2" descr="s10b_2.png"/>
          <p:cNvPicPr>
            <a:picLocks noChangeAspect="1"/>
          </p:cNvPicPr>
          <p:nvPr/>
        </p:nvPicPr>
        <p:blipFill>
          <a:blip r:embed="rId5"/>
          <a:stretch>
            <a:fillRect/>
          </a:stretch>
        </p:blipFill>
        <p:spPr>
          <a:xfrm>
            <a:off x="3530600" y="2765425"/>
            <a:ext cx="7848600" cy="1171575"/>
          </a:xfrm>
          <a:prstGeom prst="rect">
            <a:avLst/>
          </a:prstGeom>
        </p:spPr>
      </p:pic>
      <p:pic>
        <p:nvPicPr>
          <p:cNvPr id="5" name="Build 3" descr="s10b_3.png"/>
          <p:cNvPicPr>
            <a:picLocks noChangeAspect="1"/>
          </p:cNvPicPr>
          <p:nvPr/>
        </p:nvPicPr>
        <p:blipFill>
          <a:blip r:embed="rId6"/>
          <a:stretch>
            <a:fillRect/>
          </a:stretch>
        </p:blipFill>
        <p:spPr>
          <a:xfrm>
            <a:off x="812800" y="4102100"/>
            <a:ext cx="10566400" cy="178752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12_0.png"/>
          <p:cNvPicPr>
            <a:picLocks noChangeAspect="1"/>
          </p:cNvPicPr>
          <p:nvPr/>
        </p:nvPicPr>
        <p:blipFill>
          <a:blip r:embed="rId3"/>
          <a:stretch>
            <a:fillRect/>
          </a:stretch>
        </p:blipFill>
        <p:spPr>
          <a:xfrm>
            <a:off x="0" y="0"/>
            <a:ext cx="12192000" cy="6858000"/>
          </a:xfrm>
          <a:prstGeom prst="rect">
            <a:avLst/>
          </a:prstGeom>
        </p:spPr>
      </p:pic>
      <p:pic>
        <p:nvPicPr>
          <p:cNvPr id="3" name="Build 1" descr="s12_1.png"/>
          <p:cNvPicPr>
            <a:picLocks noChangeAspect="1"/>
          </p:cNvPicPr>
          <p:nvPr/>
        </p:nvPicPr>
        <p:blipFill>
          <a:blip r:embed="rId4"/>
          <a:stretch>
            <a:fillRect/>
          </a:stretch>
        </p:blipFill>
        <p:spPr>
          <a:xfrm>
            <a:off x="812800" y="1397000"/>
            <a:ext cx="3149600" cy="4610100"/>
          </a:xfrm>
          <a:prstGeom prst="rect">
            <a:avLst/>
          </a:prstGeom>
        </p:spPr>
      </p:pic>
      <p:pic>
        <p:nvPicPr>
          <p:cNvPr id="4" name="Build 2" descr="s12_2.png"/>
          <p:cNvPicPr>
            <a:picLocks noChangeAspect="1"/>
          </p:cNvPicPr>
          <p:nvPr/>
        </p:nvPicPr>
        <p:blipFill>
          <a:blip r:embed="rId5"/>
          <a:stretch>
            <a:fillRect/>
          </a:stretch>
        </p:blipFill>
        <p:spPr>
          <a:xfrm>
            <a:off x="4064000" y="1397000"/>
            <a:ext cx="3606800" cy="4178300"/>
          </a:xfrm>
          <a:prstGeom prst="rect">
            <a:avLst/>
          </a:prstGeom>
        </p:spPr>
      </p:pic>
      <p:pic>
        <p:nvPicPr>
          <p:cNvPr id="5" name="Build 3" descr="s12_3.png"/>
          <p:cNvPicPr>
            <a:picLocks noChangeAspect="1"/>
          </p:cNvPicPr>
          <p:nvPr/>
        </p:nvPicPr>
        <p:blipFill>
          <a:blip r:embed="rId6"/>
          <a:stretch>
            <a:fillRect/>
          </a:stretch>
        </p:blipFill>
        <p:spPr>
          <a:xfrm>
            <a:off x="7772400" y="1397000"/>
            <a:ext cx="3606800" cy="41783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11_0.png"/>
          <p:cNvPicPr>
            <a:picLocks noChangeAspect="1"/>
          </p:cNvPicPr>
          <p:nvPr/>
        </p:nvPicPr>
        <p:blipFill>
          <a:blip r:embed="rId3"/>
          <a:stretch>
            <a:fillRect/>
          </a:stretch>
        </p:blipFill>
        <p:spPr>
          <a:xfrm>
            <a:off x="0" y="0"/>
            <a:ext cx="12192000" cy="6858000"/>
          </a:xfrm>
          <a:prstGeom prst="rect">
            <a:avLst/>
          </a:prstGeom>
        </p:spPr>
      </p:pic>
      <p:pic>
        <p:nvPicPr>
          <p:cNvPr id="3" name="Build 1" descr="s11_1.png"/>
          <p:cNvPicPr>
            <a:picLocks noChangeAspect="1"/>
          </p:cNvPicPr>
          <p:nvPr/>
        </p:nvPicPr>
        <p:blipFill>
          <a:blip r:embed="rId4"/>
          <a:stretch>
            <a:fillRect/>
          </a:stretch>
        </p:blipFill>
        <p:spPr>
          <a:xfrm>
            <a:off x="812800" y="1447800"/>
            <a:ext cx="5219700" cy="4191000"/>
          </a:xfrm>
          <a:prstGeom prst="rect">
            <a:avLst/>
          </a:prstGeom>
        </p:spPr>
      </p:pic>
      <p:pic>
        <p:nvPicPr>
          <p:cNvPr id="4" name="Build 2" descr="s11_2.png"/>
          <p:cNvPicPr>
            <a:picLocks noChangeAspect="1"/>
          </p:cNvPicPr>
          <p:nvPr/>
        </p:nvPicPr>
        <p:blipFill>
          <a:blip r:embed="rId5"/>
          <a:stretch>
            <a:fillRect/>
          </a:stretch>
        </p:blipFill>
        <p:spPr>
          <a:xfrm>
            <a:off x="812800" y="1447800"/>
            <a:ext cx="10566400" cy="451167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09_0.png"/>
          <p:cNvPicPr>
            <a:picLocks noChangeAspect="1"/>
          </p:cNvPicPr>
          <p:nvPr/>
        </p:nvPicPr>
        <p:blipFill>
          <a:blip r:embed="rId3"/>
          <a:stretch>
            <a:fillRect/>
          </a:stretch>
        </p:blipFill>
        <p:spPr>
          <a:xfrm>
            <a:off x="0" y="0"/>
            <a:ext cx="12192000" cy="6858000"/>
          </a:xfrm>
          <a:prstGeom prst="rect">
            <a:avLst/>
          </a:prstGeom>
        </p:spPr>
      </p:pic>
      <p:pic>
        <p:nvPicPr>
          <p:cNvPr id="3" name="Build 1" descr="s09_1.png"/>
          <p:cNvPicPr>
            <a:picLocks noChangeAspect="1"/>
          </p:cNvPicPr>
          <p:nvPr/>
        </p:nvPicPr>
        <p:blipFill>
          <a:blip r:embed="rId4"/>
          <a:stretch>
            <a:fillRect/>
          </a:stretch>
        </p:blipFill>
        <p:spPr>
          <a:xfrm>
            <a:off x="815975" y="1819275"/>
            <a:ext cx="5645150" cy="1609725"/>
          </a:xfrm>
          <a:prstGeom prst="rect">
            <a:avLst/>
          </a:prstGeom>
        </p:spPr>
      </p:pic>
      <p:pic>
        <p:nvPicPr>
          <p:cNvPr id="4" name="Build 2" descr="s09_2.png"/>
          <p:cNvPicPr>
            <a:picLocks noChangeAspect="1"/>
          </p:cNvPicPr>
          <p:nvPr/>
        </p:nvPicPr>
        <p:blipFill>
          <a:blip r:embed="rId5"/>
          <a:stretch>
            <a:fillRect/>
          </a:stretch>
        </p:blipFill>
        <p:spPr>
          <a:xfrm>
            <a:off x="6788150" y="1809750"/>
            <a:ext cx="4664075" cy="1622425"/>
          </a:xfrm>
          <a:prstGeom prst="rect">
            <a:avLst/>
          </a:prstGeom>
        </p:spPr>
      </p:pic>
      <p:pic>
        <p:nvPicPr>
          <p:cNvPr id="5" name="Build 3" descr="s09_3.png"/>
          <p:cNvPicPr>
            <a:picLocks noChangeAspect="1"/>
          </p:cNvPicPr>
          <p:nvPr/>
        </p:nvPicPr>
        <p:blipFill>
          <a:blip r:embed="rId6"/>
          <a:stretch>
            <a:fillRect/>
          </a:stretch>
        </p:blipFill>
        <p:spPr>
          <a:xfrm>
            <a:off x="4473575" y="3578225"/>
            <a:ext cx="3238500" cy="149225"/>
          </a:xfrm>
          <a:prstGeom prst="rect">
            <a:avLst/>
          </a:prstGeom>
        </p:spPr>
      </p:pic>
      <p:pic>
        <p:nvPicPr>
          <p:cNvPr id="6" name="Build 4" descr="s09_4.png"/>
          <p:cNvPicPr>
            <a:picLocks noChangeAspect="1"/>
          </p:cNvPicPr>
          <p:nvPr/>
        </p:nvPicPr>
        <p:blipFill>
          <a:blip r:embed="rId7"/>
          <a:stretch>
            <a:fillRect/>
          </a:stretch>
        </p:blipFill>
        <p:spPr>
          <a:xfrm>
            <a:off x="812800" y="3797300"/>
            <a:ext cx="5867400" cy="1739900"/>
          </a:xfrm>
          <a:prstGeom prst="rect">
            <a:avLst/>
          </a:prstGeom>
        </p:spPr>
      </p:pic>
      <p:pic>
        <p:nvPicPr>
          <p:cNvPr id="7" name="Build 5" descr="s09_5.png"/>
          <p:cNvPicPr>
            <a:picLocks noChangeAspect="1"/>
          </p:cNvPicPr>
          <p:nvPr/>
        </p:nvPicPr>
        <p:blipFill>
          <a:blip r:embed="rId8"/>
          <a:stretch>
            <a:fillRect/>
          </a:stretch>
        </p:blipFill>
        <p:spPr>
          <a:xfrm>
            <a:off x="6781800" y="3797300"/>
            <a:ext cx="4597400" cy="1739900"/>
          </a:xfrm>
          <a:prstGeom prst="rect">
            <a:avLst/>
          </a:prstGeom>
        </p:spPr>
      </p:pic>
      <p:pic>
        <p:nvPicPr>
          <p:cNvPr id="8" name="Build 6" descr="s09_6.png"/>
          <p:cNvPicPr>
            <a:picLocks noChangeAspect="1"/>
          </p:cNvPicPr>
          <p:nvPr/>
        </p:nvPicPr>
        <p:blipFill>
          <a:blip r:embed="rId9"/>
          <a:stretch>
            <a:fillRect/>
          </a:stretch>
        </p:blipFill>
        <p:spPr>
          <a:xfrm>
            <a:off x="812800" y="5626100"/>
            <a:ext cx="10566400" cy="349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13_0.png"/>
          <p:cNvPicPr>
            <a:picLocks noChangeAspect="1"/>
          </p:cNvPicPr>
          <p:nvPr/>
        </p:nvPicPr>
        <p:blipFill>
          <a:blip r:embed="rId3"/>
          <a:stretch>
            <a:fillRect/>
          </a:stretch>
        </p:blipFill>
        <p:spPr>
          <a:xfrm>
            <a:off x="0" y="0"/>
            <a:ext cx="12192000" cy="6858000"/>
          </a:xfrm>
          <a:prstGeom prst="rect">
            <a:avLst/>
          </a:prstGeom>
        </p:spPr>
      </p:pic>
      <p:pic>
        <p:nvPicPr>
          <p:cNvPr id="3" name="Build 1" descr="s13_1.png"/>
          <p:cNvPicPr>
            <a:picLocks noChangeAspect="1"/>
          </p:cNvPicPr>
          <p:nvPr/>
        </p:nvPicPr>
        <p:blipFill>
          <a:blip r:embed="rId4"/>
          <a:stretch>
            <a:fillRect/>
          </a:stretch>
        </p:blipFill>
        <p:spPr>
          <a:xfrm>
            <a:off x="812800" y="1879600"/>
            <a:ext cx="10566400" cy="1435100"/>
          </a:xfrm>
          <a:prstGeom prst="rect">
            <a:avLst/>
          </a:prstGeom>
        </p:spPr>
      </p:pic>
      <p:pic>
        <p:nvPicPr>
          <p:cNvPr id="4" name="Build 2" descr="s13_2.png"/>
          <p:cNvPicPr>
            <a:picLocks noChangeAspect="1"/>
          </p:cNvPicPr>
          <p:nvPr/>
        </p:nvPicPr>
        <p:blipFill>
          <a:blip r:embed="rId5"/>
          <a:stretch>
            <a:fillRect/>
          </a:stretch>
        </p:blipFill>
        <p:spPr>
          <a:xfrm>
            <a:off x="819150" y="4019550"/>
            <a:ext cx="3013075" cy="1641475"/>
          </a:xfrm>
          <a:prstGeom prst="rect">
            <a:avLst/>
          </a:prstGeom>
        </p:spPr>
      </p:pic>
      <p:pic>
        <p:nvPicPr>
          <p:cNvPr id="5" name="Build 3" descr="s13_3.png"/>
          <p:cNvPicPr>
            <a:picLocks noChangeAspect="1"/>
          </p:cNvPicPr>
          <p:nvPr/>
        </p:nvPicPr>
        <p:blipFill>
          <a:blip r:embed="rId6"/>
          <a:stretch>
            <a:fillRect/>
          </a:stretch>
        </p:blipFill>
        <p:spPr>
          <a:xfrm>
            <a:off x="4114800" y="4025900"/>
            <a:ext cx="3556000" cy="1555750"/>
          </a:xfrm>
          <a:prstGeom prst="rect">
            <a:avLst/>
          </a:prstGeom>
        </p:spPr>
      </p:pic>
      <p:pic>
        <p:nvPicPr>
          <p:cNvPr id="6" name="Build 4" descr="s13_4.png"/>
          <p:cNvPicPr>
            <a:picLocks noChangeAspect="1"/>
          </p:cNvPicPr>
          <p:nvPr/>
        </p:nvPicPr>
        <p:blipFill>
          <a:blip r:embed="rId7"/>
          <a:stretch>
            <a:fillRect/>
          </a:stretch>
        </p:blipFill>
        <p:spPr>
          <a:xfrm>
            <a:off x="7921625" y="4019550"/>
            <a:ext cx="3359150" cy="14986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14_0.png"/>
          <p:cNvPicPr>
            <a:picLocks noChangeAspect="1"/>
          </p:cNvPicPr>
          <p:nvPr/>
        </p:nvPicPr>
        <p:blipFill>
          <a:blip r:embed="rId3"/>
          <a:stretch>
            <a:fillRect/>
          </a:stretch>
        </p:blipFill>
        <p:spPr>
          <a:xfrm>
            <a:off x="0" y="0"/>
            <a:ext cx="12192000" cy="6858000"/>
          </a:xfrm>
          <a:prstGeom prst="rect">
            <a:avLst/>
          </a:prstGeom>
        </p:spPr>
      </p:pic>
      <p:pic>
        <p:nvPicPr>
          <p:cNvPr id="3" name="Build 1" descr="s14_1.png"/>
          <p:cNvPicPr>
            <a:picLocks noChangeAspect="1"/>
          </p:cNvPicPr>
          <p:nvPr/>
        </p:nvPicPr>
        <p:blipFill>
          <a:blip r:embed="rId4"/>
          <a:stretch>
            <a:fillRect/>
          </a:stretch>
        </p:blipFill>
        <p:spPr>
          <a:xfrm>
            <a:off x="822325" y="1631950"/>
            <a:ext cx="8448675" cy="4416425"/>
          </a:xfrm>
          <a:prstGeom prst="rect">
            <a:avLst/>
          </a:prstGeom>
        </p:spPr>
      </p:pic>
      <p:pic>
        <p:nvPicPr>
          <p:cNvPr id="4" name="Build 2" descr="s14_2.png"/>
          <p:cNvPicPr>
            <a:picLocks noChangeAspect="1"/>
          </p:cNvPicPr>
          <p:nvPr/>
        </p:nvPicPr>
        <p:blipFill>
          <a:blip r:embed="rId5"/>
          <a:stretch>
            <a:fillRect/>
          </a:stretch>
        </p:blipFill>
        <p:spPr>
          <a:xfrm>
            <a:off x="4876800" y="1631950"/>
            <a:ext cx="6477000" cy="3965575"/>
          </a:xfrm>
          <a:prstGeom prst="rect">
            <a:avLst/>
          </a:prstGeom>
        </p:spPr>
      </p:pic>
      <p:pic>
        <p:nvPicPr>
          <p:cNvPr id="5" name="Build 3" descr="s14_3.png"/>
          <p:cNvPicPr>
            <a:picLocks noChangeAspect="1"/>
          </p:cNvPicPr>
          <p:nvPr/>
        </p:nvPicPr>
        <p:blipFill>
          <a:blip r:embed="rId6"/>
          <a:stretch>
            <a:fillRect/>
          </a:stretch>
        </p:blipFill>
        <p:spPr>
          <a:xfrm>
            <a:off x="4876800" y="2247900"/>
            <a:ext cx="6477000" cy="173672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15b_0.png"/>
          <p:cNvPicPr>
            <a:picLocks noChangeAspect="1"/>
          </p:cNvPicPr>
          <p:nvPr/>
        </p:nvPicPr>
        <p:blipFill>
          <a:blip r:embed="rId3"/>
          <a:stretch>
            <a:fillRect/>
          </a:stretch>
        </p:blipFill>
        <p:spPr>
          <a:xfrm>
            <a:off x="0" y="0"/>
            <a:ext cx="12192000" cy="6858000"/>
          </a:xfrm>
          <a:prstGeom prst="rect">
            <a:avLst/>
          </a:prstGeom>
        </p:spPr>
      </p:pic>
      <p:pic>
        <p:nvPicPr>
          <p:cNvPr id="3" name="Build 1" descr="s15b_1.png"/>
          <p:cNvPicPr>
            <a:picLocks noChangeAspect="1"/>
          </p:cNvPicPr>
          <p:nvPr/>
        </p:nvPicPr>
        <p:blipFill>
          <a:blip r:embed="rId4"/>
          <a:stretch>
            <a:fillRect/>
          </a:stretch>
        </p:blipFill>
        <p:spPr>
          <a:xfrm>
            <a:off x="825500" y="1917700"/>
            <a:ext cx="5359400" cy="4035425"/>
          </a:xfrm>
          <a:prstGeom prst="rect">
            <a:avLst/>
          </a:prstGeom>
        </p:spPr>
      </p:pic>
      <p:pic>
        <p:nvPicPr>
          <p:cNvPr id="4" name="Build 2" descr="s15b_2.png"/>
          <p:cNvPicPr>
            <a:picLocks noChangeAspect="1"/>
          </p:cNvPicPr>
          <p:nvPr/>
        </p:nvPicPr>
        <p:blipFill>
          <a:blip r:embed="rId5"/>
          <a:stretch>
            <a:fillRect/>
          </a:stretch>
        </p:blipFill>
        <p:spPr>
          <a:xfrm>
            <a:off x="6454775" y="2232025"/>
            <a:ext cx="4911725" cy="901700"/>
          </a:xfrm>
          <a:prstGeom prst="rect">
            <a:avLst/>
          </a:prstGeom>
        </p:spPr>
      </p:pic>
      <p:pic>
        <p:nvPicPr>
          <p:cNvPr id="5" name="Build 3" descr="s15b_3.png"/>
          <p:cNvPicPr>
            <a:picLocks noChangeAspect="1"/>
          </p:cNvPicPr>
          <p:nvPr/>
        </p:nvPicPr>
        <p:blipFill>
          <a:blip r:embed="rId6"/>
          <a:stretch>
            <a:fillRect/>
          </a:stretch>
        </p:blipFill>
        <p:spPr>
          <a:xfrm>
            <a:off x="6451600" y="3390900"/>
            <a:ext cx="4921250" cy="895350"/>
          </a:xfrm>
          <a:prstGeom prst="rect">
            <a:avLst/>
          </a:prstGeom>
        </p:spPr>
      </p:pic>
      <p:pic>
        <p:nvPicPr>
          <p:cNvPr id="6" name="Build 4" descr="s15b_4.png"/>
          <p:cNvPicPr>
            <a:picLocks noChangeAspect="1"/>
          </p:cNvPicPr>
          <p:nvPr/>
        </p:nvPicPr>
        <p:blipFill>
          <a:blip r:embed="rId7"/>
          <a:stretch>
            <a:fillRect/>
          </a:stretch>
        </p:blipFill>
        <p:spPr>
          <a:xfrm>
            <a:off x="6457950" y="4549775"/>
            <a:ext cx="4692650" cy="89217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16_0.png"/>
          <p:cNvPicPr>
            <a:picLocks noChangeAspect="1"/>
          </p:cNvPicPr>
          <p:nvPr/>
        </p:nvPicPr>
        <p:blipFill>
          <a:blip r:embed="rId3"/>
          <a:stretch>
            <a:fillRect/>
          </a:stretch>
        </p:blipFill>
        <p:spPr>
          <a:xfrm>
            <a:off x="0" y="0"/>
            <a:ext cx="12192000" cy="6858000"/>
          </a:xfrm>
          <a:prstGeom prst="rect">
            <a:avLst/>
          </a:prstGeom>
        </p:spPr>
      </p:pic>
      <p:pic>
        <p:nvPicPr>
          <p:cNvPr id="3" name="Build 1" descr="s16_1.png"/>
          <p:cNvPicPr>
            <a:picLocks noChangeAspect="1"/>
          </p:cNvPicPr>
          <p:nvPr/>
        </p:nvPicPr>
        <p:blipFill>
          <a:blip r:embed="rId4"/>
          <a:stretch>
            <a:fillRect/>
          </a:stretch>
        </p:blipFill>
        <p:spPr>
          <a:xfrm>
            <a:off x="819150" y="1543050"/>
            <a:ext cx="6931025" cy="184150"/>
          </a:xfrm>
          <a:prstGeom prst="rect">
            <a:avLst/>
          </a:prstGeom>
        </p:spPr>
      </p:pic>
      <p:pic>
        <p:nvPicPr>
          <p:cNvPr id="4" name="Build 2" descr="s16_2.png"/>
          <p:cNvPicPr>
            <a:picLocks noChangeAspect="1"/>
          </p:cNvPicPr>
          <p:nvPr/>
        </p:nvPicPr>
        <p:blipFill>
          <a:blip r:embed="rId5"/>
          <a:stretch>
            <a:fillRect/>
          </a:stretch>
        </p:blipFill>
        <p:spPr>
          <a:xfrm>
            <a:off x="809625" y="1860550"/>
            <a:ext cx="6734175" cy="2311400"/>
          </a:xfrm>
          <a:prstGeom prst="rect">
            <a:avLst/>
          </a:prstGeom>
        </p:spPr>
      </p:pic>
      <p:pic>
        <p:nvPicPr>
          <p:cNvPr id="5" name="Build 3" descr="s16_3.png"/>
          <p:cNvPicPr>
            <a:picLocks noChangeAspect="1"/>
          </p:cNvPicPr>
          <p:nvPr/>
        </p:nvPicPr>
        <p:blipFill>
          <a:blip r:embed="rId6"/>
          <a:stretch>
            <a:fillRect/>
          </a:stretch>
        </p:blipFill>
        <p:spPr>
          <a:xfrm>
            <a:off x="7835900" y="2178050"/>
            <a:ext cx="3543300" cy="1993900"/>
          </a:xfrm>
          <a:prstGeom prst="rect">
            <a:avLst/>
          </a:prstGeom>
        </p:spPr>
      </p:pic>
      <p:pic>
        <p:nvPicPr>
          <p:cNvPr id="6" name="Build 4" descr="s16_4.png"/>
          <p:cNvPicPr>
            <a:picLocks noChangeAspect="1"/>
          </p:cNvPicPr>
          <p:nvPr/>
        </p:nvPicPr>
        <p:blipFill>
          <a:blip r:embed="rId7"/>
          <a:stretch>
            <a:fillRect/>
          </a:stretch>
        </p:blipFill>
        <p:spPr>
          <a:xfrm>
            <a:off x="809625" y="4311650"/>
            <a:ext cx="10569575" cy="147637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17_0.png"/>
          <p:cNvPicPr>
            <a:picLocks noChangeAspect="1"/>
          </p:cNvPicPr>
          <p:nvPr/>
        </p:nvPicPr>
        <p:blipFill>
          <a:blip r:embed="rId3"/>
          <a:stretch>
            <a:fillRect/>
          </a:stretch>
        </p:blipFill>
        <p:spPr>
          <a:xfrm>
            <a:off x="0" y="0"/>
            <a:ext cx="12192000" cy="6858000"/>
          </a:xfrm>
          <a:prstGeom prst="rect">
            <a:avLst/>
          </a:prstGeom>
        </p:spPr>
      </p:pic>
      <p:pic>
        <p:nvPicPr>
          <p:cNvPr id="3" name="Build 1" descr="s17_1.png"/>
          <p:cNvPicPr>
            <a:picLocks noChangeAspect="1"/>
          </p:cNvPicPr>
          <p:nvPr/>
        </p:nvPicPr>
        <p:blipFill>
          <a:blip r:embed="rId4"/>
          <a:stretch>
            <a:fillRect/>
          </a:stretch>
        </p:blipFill>
        <p:spPr>
          <a:xfrm>
            <a:off x="825500" y="2289175"/>
            <a:ext cx="6143625" cy="2806700"/>
          </a:xfrm>
          <a:prstGeom prst="rect">
            <a:avLst/>
          </a:prstGeom>
        </p:spPr>
      </p:pic>
      <p:pic>
        <p:nvPicPr>
          <p:cNvPr id="4" name="Build 2" descr="s17_2.png"/>
          <p:cNvPicPr>
            <a:picLocks noChangeAspect="1"/>
          </p:cNvPicPr>
          <p:nvPr/>
        </p:nvPicPr>
        <p:blipFill>
          <a:blip r:embed="rId5"/>
          <a:stretch>
            <a:fillRect/>
          </a:stretch>
        </p:blipFill>
        <p:spPr>
          <a:xfrm>
            <a:off x="7470775" y="2266950"/>
            <a:ext cx="3819525" cy="1828800"/>
          </a:xfrm>
          <a:prstGeom prst="rect">
            <a:avLst/>
          </a:prstGeom>
        </p:spPr>
      </p:pic>
      <p:pic>
        <p:nvPicPr>
          <p:cNvPr id="5" name="Build 3" descr="s17_3.png"/>
          <p:cNvPicPr>
            <a:picLocks noChangeAspect="1"/>
          </p:cNvPicPr>
          <p:nvPr/>
        </p:nvPicPr>
        <p:blipFill>
          <a:blip r:embed="rId6"/>
          <a:stretch>
            <a:fillRect/>
          </a:stretch>
        </p:blipFill>
        <p:spPr>
          <a:xfrm>
            <a:off x="5565775" y="2260600"/>
            <a:ext cx="5483225" cy="300672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18b_0.png"/>
          <p:cNvPicPr>
            <a:picLocks noChangeAspect="1"/>
          </p:cNvPicPr>
          <p:nvPr/>
        </p:nvPicPr>
        <p:blipFill>
          <a:blip r:embed="rId3"/>
          <a:stretch>
            <a:fillRect/>
          </a:stretch>
        </p:blipFill>
        <p:spPr>
          <a:xfrm>
            <a:off x="0" y="0"/>
            <a:ext cx="12192000" cy="6858000"/>
          </a:xfrm>
          <a:prstGeom prst="rect">
            <a:avLst/>
          </a:prstGeom>
        </p:spPr>
      </p:pic>
      <p:pic>
        <p:nvPicPr>
          <p:cNvPr id="3" name="Build 1" descr="s18b_1.png"/>
          <p:cNvPicPr>
            <a:picLocks noChangeAspect="1"/>
          </p:cNvPicPr>
          <p:nvPr/>
        </p:nvPicPr>
        <p:blipFill>
          <a:blip r:embed="rId4"/>
          <a:stretch>
            <a:fillRect/>
          </a:stretch>
        </p:blipFill>
        <p:spPr>
          <a:xfrm>
            <a:off x="812800" y="1600200"/>
            <a:ext cx="6858000" cy="4397375"/>
          </a:xfrm>
          <a:prstGeom prst="rect">
            <a:avLst/>
          </a:prstGeom>
        </p:spPr>
      </p:pic>
      <p:pic>
        <p:nvPicPr>
          <p:cNvPr id="4" name="Build 2" descr="s18b_2.png"/>
          <p:cNvPicPr>
            <a:picLocks noChangeAspect="1"/>
          </p:cNvPicPr>
          <p:nvPr/>
        </p:nvPicPr>
        <p:blipFill>
          <a:blip r:embed="rId5"/>
          <a:stretch>
            <a:fillRect/>
          </a:stretch>
        </p:blipFill>
        <p:spPr>
          <a:xfrm>
            <a:off x="812800" y="2546350"/>
            <a:ext cx="6858000" cy="1631950"/>
          </a:xfrm>
          <a:prstGeom prst="rect">
            <a:avLst/>
          </a:prstGeom>
        </p:spPr>
      </p:pic>
      <p:pic>
        <p:nvPicPr>
          <p:cNvPr id="5" name="Build 3" descr="s18b_3.png"/>
          <p:cNvPicPr>
            <a:picLocks noChangeAspect="1"/>
          </p:cNvPicPr>
          <p:nvPr/>
        </p:nvPicPr>
        <p:blipFill>
          <a:blip r:embed="rId6"/>
          <a:stretch>
            <a:fillRect/>
          </a:stretch>
        </p:blipFill>
        <p:spPr>
          <a:xfrm>
            <a:off x="812800" y="4311650"/>
            <a:ext cx="6858000" cy="1263650"/>
          </a:xfrm>
          <a:prstGeom prst="rect">
            <a:avLst/>
          </a:prstGeom>
        </p:spPr>
      </p:pic>
      <p:pic>
        <p:nvPicPr>
          <p:cNvPr id="6" name="Build 4" descr="s18b_4.png"/>
          <p:cNvPicPr>
            <a:picLocks noChangeAspect="1"/>
          </p:cNvPicPr>
          <p:nvPr/>
        </p:nvPicPr>
        <p:blipFill>
          <a:blip r:embed="rId7"/>
          <a:stretch>
            <a:fillRect/>
          </a:stretch>
        </p:blipFill>
        <p:spPr>
          <a:xfrm>
            <a:off x="8026400" y="2270125"/>
            <a:ext cx="3333750" cy="1273175"/>
          </a:xfrm>
          <a:prstGeom prst="rect">
            <a:avLst/>
          </a:prstGeom>
        </p:spPr>
      </p:pic>
      <p:pic>
        <p:nvPicPr>
          <p:cNvPr id="7" name="Build 5" descr="s18b_5.png"/>
          <p:cNvPicPr>
            <a:picLocks noChangeAspect="1"/>
          </p:cNvPicPr>
          <p:nvPr/>
        </p:nvPicPr>
        <p:blipFill>
          <a:blip r:embed="rId8"/>
          <a:stretch>
            <a:fillRect/>
          </a:stretch>
        </p:blipFill>
        <p:spPr>
          <a:xfrm>
            <a:off x="8026400" y="3733800"/>
            <a:ext cx="3244850" cy="889000"/>
          </a:xfrm>
          <a:prstGeom prst="rect">
            <a:avLst/>
          </a:prstGeom>
        </p:spPr>
      </p:pic>
      <p:pic>
        <p:nvPicPr>
          <p:cNvPr id="8" name="Build 6" descr="s18b_6.png"/>
          <p:cNvPicPr>
            <a:picLocks noChangeAspect="1"/>
          </p:cNvPicPr>
          <p:nvPr/>
        </p:nvPicPr>
        <p:blipFill>
          <a:blip r:embed="rId9"/>
          <a:stretch>
            <a:fillRect/>
          </a:stretch>
        </p:blipFill>
        <p:spPr>
          <a:xfrm>
            <a:off x="8026400" y="4813300"/>
            <a:ext cx="2324100" cy="6667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19_0.png"/>
          <p:cNvPicPr>
            <a:picLocks noChangeAspect="1"/>
          </p:cNvPicPr>
          <p:nvPr/>
        </p:nvPicPr>
        <p:blipFill>
          <a:blip r:embed="rId3"/>
          <a:stretch>
            <a:fillRect/>
          </a:stretch>
        </p:blipFill>
        <p:spPr>
          <a:xfrm>
            <a:off x="0" y="0"/>
            <a:ext cx="12192000" cy="6858000"/>
          </a:xfrm>
          <a:prstGeom prst="rect">
            <a:avLst/>
          </a:prstGeom>
        </p:spPr>
      </p:pic>
      <p:pic>
        <p:nvPicPr>
          <p:cNvPr id="3" name="Build 1" descr="s19_1.png"/>
          <p:cNvPicPr>
            <a:picLocks noChangeAspect="1"/>
          </p:cNvPicPr>
          <p:nvPr/>
        </p:nvPicPr>
        <p:blipFill>
          <a:blip r:embed="rId4"/>
          <a:stretch>
            <a:fillRect/>
          </a:stretch>
        </p:blipFill>
        <p:spPr>
          <a:xfrm>
            <a:off x="812800" y="1905000"/>
            <a:ext cx="10566400" cy="1206500"/>
          </a:xfrm>
          <a:prstGeom prst="rect">
            <a:avLst/>
          </a:prstGeom>
        </p:spPr>
      </p:pic>
      <p:pic>
        <p:nvPicPr>
          <p:cNvPr id="4" name="Build 2" descr="s19_2.png"/>
          <p:cNvPicPr>
            <a:picLocks noChangeAspect="1"/>
          </p:cNvPicPr>
          <p:nvPr/>
        </p:nvPicPr>
        <p:blipFill>
          <a:blip r:embed="rId5"/>
          <a:stretch>
            <a:fillRect/>
          </a:stretch>
        </p:blipFill>
        <p:spPr>
          <a:xfrm>
            <a:off x="812800" y="3359150"/>
            <a:ext cx="10566400" cy="958850"/>
          </a:xfrm>
          <a:prstGeom prst="rect">
            <a:avLst/>
          </a:prstGeom>
        </p:spPr>
      </p:pic>
      <p:pic>
        <p:nvPicPr>
          <p:cNvPr id="5" name="Build 3" descr="s19_3.png"/>
          <p:cNvPicPr>
            <a:picLocks noChangeAspect="1"/>
          </p:cNvPicPr>
          <p:nvPr/>
        </p:nvPicPr>
        <p:blipFill>
          <a:blip r:embed="rId6"/>
          <a:stretch>
            <a:fillRect/>
          </a:stretch>
        </p:blipFill>
        <p:spPr>
          <a:xfrm>
            <a:off x="812800" y="4518025"/>
            <a:ext cx="10566400" cy="1006475"/>
          </a:xfrm>
          <a:prstGeom prst="rect">
            <a:avLst/>
          </a:prstGeom>
        </p:spPr>
      </p:pic>
      <p:pic>
        <p:nvPicPr>
          <p:cNvPr id="6" name="Build 4" descr="s19_4.png"/>
          <p:cNvPicPr>
            <a:picLocks noChangeAspect="1"/>
          </p:cNvPicPr>
          <p:nvPr/>
        </p:nvPicPr>
        <p:blipFill>
          <a:blip r:embed="rId7"/>
          <a:stretch>
            <a:fillRect/>
          </a:stretch>
        </p:blipFill>
        <p:spPr>
          <a:xfrm>
            <a:off x="819150" y="5737225"/>
            <a:ext cx="3663950" cy="20637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s20_0.png"/>
          <p:cNvPicPr>
            <a:picLocks noChangeAspect="1"/>
          </p:cNvPicPr>
          <p:nvPr/>
        </p:nvPicPr>
        <p:blipFill>
          <a:blip r:embed="rId3"/>
          <a:stretch>
            <a:fillRect/>
          </a:stretch>
        </p:blipFill>
        <p:spPr>
          <a:xfrm>
            <a:off x="0" y="0"/>
            <a:ext cx="12192000" cy="6858000"/>
          </a:xfrm>
          <a:prstGeom prst="rect">
            <a:avLst/>
          </a:prstGeom>
        </p:spPr>
      </p:pic>
      <p:pic>
        <p:nvPicPr>
          <p:cNvPr id="3" name="Build 1" descr="s20_1.png"/>
          <p:cNvPicPr>
            <a:picLocks noChangeAspect="1"/>
          </p:cNvPicPr>
          <p:nvPr/>
        </p:nvPicPr>
        <p:blipFill>
          <a:blip r:embed="rId4"/>
          <a:stretch>
            <a:fillRect/>
          </a:stretch>
        </p:blipFill>
        <p:spPr>
          <a:xfrm>
            <a:off x="812800" y="2032000"/>
            <a:ext cx="5156200" cy="3429000"/>
          </a:xfrm>
          <a:prstGeom prst="rect">
            <a:avLst/>
          </a:prstGeom>
        </p:spPr>
      </p:pic>
      <p:pic>
        <p:nvPicPr>
          <p:cNvPr id="4" name="Build 2" descr="s20_2.png"/>
          <p:cNvPicPr>
            <a:picLocks noChangeAspect="1"/>
          </p:cNvPicPr>
          <p:nvPr/>
        </p:nvPicPr>
        <p:blipFill>
          <a:blip r:embed="rId5"/>
          <a:stretch>
            <a:fillRect/>
          </a:stretch>
        </p:blipFill>
        <p:spPr>
          <a:xfrm>
            <a:off x="6223000" y="2032000"/>
            <a:ext cx="5156200" cy="3429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descr="thanks_0.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394</TotalTime>
  <Words>2882</Words>
  <Application>Microsoft Office PowerPoint</Application>
  <PresentationFormat>Widescreen</PresentationFormat>
  <Paragraphs>228</Paragraphs>
  <Slides>21</Slides>
  <Notes>21</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21</vt:i4>
      </vt:variant>
    </vt:vector>
  </HeadingPairs>
  <TitlesOfParts>
    <vt:vector size="24" baseType="lpstr">
      <vt:lpstr>Arial</vt:lpstr>
      <vt:lpstr>Calibri</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Neuro-Symbolic PPM with Procedural Background Knowledge: Thesis defense</dc:title>
  <dc:subject/>
  <dc:creator>Matteo Zorzi</dc:creator>
  <cp:keywords/>
  <dc:description>generated using python-pptx</dc:description>
  <cp:lastModifiedBy>matteo zorzi</cp:lastModifiedBy>
  <cp:revision>4</cp:revision>
  <dcterms:created xsi:type="dcterms:W3CDTF">2013-01-27T09:14:16Z</dcterms:created>
  <dcterms:modified xsi:type="dcterms:W3CDTF">2026-10-04T10:06:44Z</dcterms:modified>
  <cp:category/>
</cp:coreProperties>
</file>