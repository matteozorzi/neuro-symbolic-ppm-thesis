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54"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104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spoiler va detto subito: un solo effetto reale, e non è sull'accuratezza. La conoscenza nella loss riduce del 26-32% la massa di probabilità vietata in 9 celle su 9; la stessa conoscenza come feature non muove niente.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marking costa 1.1 ms per prefisso, calcolato una volta e messo in cache. Entrambi gli artefatti sono minati dal solo train: nessuno dei due vede validation o test.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tronco comune. Ogni modello successivo aggiunge una cosa sola.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Stessa rete del modello 1. Cambia solo la loss. Canale: la loss.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di nuovo cross-entropy pura. Cambia l'input. Canale: la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L'ipotesi: il vettore piatto perde la sincronizzazione fra posti. La struttura del grafo la conserva.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overwriting: nel caso AG di Sepsis dopo 3 eventi il marking torna identico a quello di partenza.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quattro scelte di protocollo vanno dette in fretta: sono ciò che rende confrontabili i numeri.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nuvola attraversa lo zero. La linea dello zero è la protagonista.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ognuna delle 18 celle: chi vince e su quanti seed su 10 la vittoria regge nel testa-a-testa con il secondo. Il vincitore cambia sette volte su diciotto, i seed vinti vanno da 3/10 a 7/10 (media 5.4). In cinque celle il margine sul secondo è sotto la quarta cifra decimale: 0.0004 contro uno scarto fra seed di 0.0009, cioè metà del rumore di misura.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Unica slide a colore pieno: qui c'è l'unico effetto reale. Le quattro varianti senza effetto sono una sola linea grigia perché sono sovrapposte.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sei celle chiare a rumore 0.0 non vanno nascoste: su dati puliti la massa vietata di partenza è già quasi zero — su BPIC 2013 vale 0.0000 anche per il vincitore. Il checker serve dove il modello sta effettivamente sbagliando. Il numero da dire a voce: sotto rumore il margine è dieci volte lo scarto fra seed, 0.0960 contro 0.0075 su BPIC 2020 GRU a 0.50.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ammorbidire il punto 3: il masking hard domina il checker sul piano pratico.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1047750"/>
            <a:ext cx="17602200"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52514E"/>
                </a:solidFill>
                <a:latin typeface="Courier New" pitchFamily="34" charset="0"/>
                <a:ea typeface="Courier New" pitchFamily="34" charset="-122"/>
                <a:cs typeface="Courier New" pitchFamily="34" charset="-120"/>
              </a:rPr>
              <a:t>AVANZAMENTO · 3 AGOSTO 2026</a:t>
            </a:r>
            <a:endParaRPr lang="en-US" sz="1950" dirty="0"/>
          </a:p>
        </p:txBody>
      </p:sp>
      <p:sp>
        <p:nvSpPr>
          <p:cNvPr id="3" name="Text 1"/>
          <p:cNvSpPr/>
          <p:nvPr/>
        </p:nvSpPr>
        <p:spPr>
          <a:xfrm>
            <a:off x="1143000" y="1638300"/>
            <a:ext cx="14716125" cy="1488877"/>
          </a:xfrm>
          <a:prstGeom prst="rect">
            <a:avLst/>
          </a:prstGeom>
          <a:noFill/>
          <a:ln/>
        </p:spPr>
        <p:txBody>
          <a:bodyPr wrap="square" lIns="25400" tIns="25400" rIns="25400" bIns="25400" rtlCol="0" anchor="t">
            <a:normAutofit/>
          </a:bodyPr>
          <a:lstStyle/>
          <a:p>
            <a:pPr marL="0" indent="0" algn="l">
              <a:lnSpc>
                <a:spcPct val="97641"/>
              </a:lnSpc>
              <a:buNone/>
            </a:pPr>
            <a:r>
              <a:rPr lang="en-US" sz="5100" b="1" kern="0" spc="-76" dirty="0">
                <a:solidFill>
                  <a:srgbClr val="0B0B0B"/>
                </a:solidFill>
                <a:latin typeface="Arial" pitchFamily="34" charset="0"/>
                <a:ea typeface="Arial" pitchFamily="34" charset="-122"/>
                <a:cs typeface="Arial" pitchFamily="34" charset="-120"/>
              </a:rPr>
              <a:t>Iniezione di conoscenza simbolica in modelli sequenziali per il Predictive Process Monitoring</a:t>
            </a:r>
            <a:endParaRPr lang="en-US" sz="5100" dirty="0"/>
          </a:p>
        </p:txBody>
      </p:sp>
      <p:sp>
        <p:nvSpPr>
          <p:cNvPr id="4" name="Text 2"/>
          <p:cNvSpPr/>
          <p:nvPr/>
        </p:nvSpPr>
        <p:spPr>
          <a:xfrm>
            <a:off x="1143000" y="3355777"/>
            <a:ext cx="7691628" cy="942975"/>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52514E"/>
                </a:solidFill>
                <a:latin typeface="Arial" pitchFamily="34" charset="0"/>
                <a:ea typeface="Arial" pitchFamily="34" charset="-122"/>
                <a:cs typeface="Arial" pitchFamily="34" charset="-120"/>
              </a:rPr>
              <a:t>Dare al modello la conoscenza di processo aiuta a predirre l'attività successiva, dato un prefisso?</a:t>
            </a:r>
            <a:endParaRPr lang="en-US" sz="2550" dirty="0"/>
          </a:p>
        </p:txBody>
      </p:sp>
      <p:sp>
        <p:nvSpPr>
          <p:cNvPr id="5" name="Text 3"/>
          <p:cNvSpPr/>
          <p:nvPr/>
        </p:nvSpPr>
        <p:spPr>
          <a:xfrm>
            <a:off x="2707481" y="6145113"/>
            <a:ext cx="969913" cy="1104900"/>
          </a:xfrm>
          <a:prstGeom prst="rect">
            <a:avLst/>
          </a:prstGeom>
          <a:noFill/>
          <a:ln/>
        </p:spPr>
        <p:txBody>
          <a:bodyPr wrap="square" lIns="25400" tIns="25400" rIns="25400" bIns="25400" rtlCol="0" anchor="t">
            <a:normAutofit/>
          </a:bodyPr>
          <a:lstStyle/>
          <a:p>
            <a:pPr marL="0" indent="0" algn="l">
              <a:lnSpc>
                <a:spcPct val="86822"/>
              </a:lnSpc>
              <a:buNone/>
            </a:pPr>
            <a:r>
              <a:rPr lang="en-US" sz="8400" b="1" kern="0" spc="-252" dirty="0">
                <a:solidFill>
                  <a:srgbClr val="0B0B0B"/>
                </a:solidFill>
                <a:latin typeface="Arial" pitchFamily="34" charset="0"/>
                <a:ea typeface="Arial" pitchFamily="34" charset="-122"/>
                <a:cs typeface="Arial" pitchFamily="34" charset="-120"/>
              </a:rPr>
              <a:t>5</a:t>
            </a:r>
            <a:endParaRPr lang="en-US" sz="8400" dirty="0"/>
          </a:p>
        </p:txBody>
      </p:sp>
      <p:sp>
        <p:nvSpPr>
          <p:cNvPr id="6" name="Text 4"/>
          <p:cNvSpPr/>
          <p:nvPr/>
        </p:nvSpPr>
        <p:spPr>
          <a:xfrm>
            <a:off x="2707481" y="7288113"/>
            <a:ext cx="969913"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2514E"/>
                </a:solidFill>
                <a:latin typeface="Arial" pitchFamily="34" charset="0"/>
                <a:ea typeface="Arial" pitchFamily="34" charset="-122"/>
                <a:cs typeface="Arial" pitchFamily="34" charset="-120"/>
              </a:rPr>
              <a:t>modelli</a:t>
            </a:r>
            <a:endParaRPr lang="en-US" sz="2100" dirty="0"/>
          </a:p>
        </p:txBody>
      </p:sp>
      <p:sp>
        <p:nvSpPr>
          <p:cNvPr id="7" name="Text 5"/>
          <p:cNvSpPr/>
          <p:nvPr/>
        </p:nvSpPr>
        <p:spPr>
          <a:xfrm>
            <a:off x="4515594" y="6145113"/>
            <a:ext cx="1852389" cy="1104900"/>
          </a:xfrm>
          <a:prstGeom prst="rect">
            <a:avLst/>
          </a:prstGeom>
          <a:noFill/>
          <a:ln/>
        </p:spPr>
        <p:txBody>
          <a:bodyPr wrap="square" lIns="25400" tIns="25400" rIns="25400" bIns="25400" rtlCol="0" anchor="t">
            <a:normAutofit/>
          </a:bodyPr>
          <a:lstStyle/>
          <a:p>
            <a:pPr marL="0" indent="0" algn="l">
              <a:lnSpc>
                <a:spcPct val="86822"/>
              </a:lnSpc>
              <a:buNone/>
            </a:pPr>
            <a:r>
              <a:rPr lang="en-US" sz="8400" b="1" kern="0" spc="-252" dirty="0">
                <a:solidFill>
                  <a:srgbClr val="0B0B0B"/>
                </a:solidFill>
                <a:latin typeface="Arial" pitchFamily="34" charset="0"/>
                <a:ea typeface="Arial" pitchFamily="34" charset="-122"/>
                <a:cs typeface="Arial" pitchFamily="34" charset="-120"/>
              </a:rPr>
              <a:t>900</a:t>
            </a:r>
            <a:endParaRPr lang="en-US" sz="8400" dirty="0"/>
          </a:p>
        </p:txBody>
      </p:sp>
      <p:sp>
        <p:nvSpPr>
          <p:cNvPr id="8" name="Text 6"/>
          <p:cNvSpPr/>
          <p:nvPr/>
        </p:nvSpPr>
        <p:spPr>
          <a:xfrm>
            <a:off x="4515594" y="7288113"/>
            <a:ext cx="1852389"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2514E"/>
                </a:solidFill>
                <a:latin typeface="Arial" pitchFamily="34" charset="0"/>
                <a:ea typeface="Arial" pitchFamily="34" charset="-122"/>
                <a:cs typeface="Arial" pitchFamily="34" charset="-120"/>
              </a:rPr>
              <a:t>run</a:t>
            </a:r>
            <a:endParaRPr lang="en-US" sz="2100" dirty="0"/>
          </a:p>
        </p:txBody>
      </p:sp>
      <p:sp>
        <p:nvSpPr>
          <p:cNvPr id="9" name="Text 7"/>
          <p:cNvSpPr/>
          <p:nvPr/>
        </p:nvSpPr>
        <p:spPr>
          <a:xfrm>
            <a:off x="7113984" y="6145113"/>
            <a:ext cx="3238366" cy="1104900"/>
          </a:xfrm>
          <a:prstGeom prst="rect">
            <a:avLst/>
          </a:prstGeom>
          <a:noFill/>
          <a:ln/>
        </p:spPr>
        <p:txBody>
          <a:bodyPr wrap="square" lIns="25400" tIns="25400" rIns="25400" bIns="25400" rtlCol="0" anchor="t">
            <a:normAutofit/>
          </a:bodyPr>
          <a:lstStyle/>
          <a:p>
            <a:pPr marL="0" indent="0" algn="l">
              <a:lnSpc>
                <a:spcPct val="86822"/>
              </a:lnSpc>
              <a:buNone/>
            </a:pPr>
            <a:r>
              <a:rPr lang="en-US" sz="8400" b="1" kern="0" spc="-252" dirty="0">
                <a:solidFill>
                  <a:srgbClr val="0B0B0B"/>
                </a:solidFill>
                <a:latin typeface="Arial" pitchFamily="34" charset="0"/>
                <a:ea typeface="Arial" pitchFamily="34" charset="-122"/>
                <a:cs typeface="Arial" pitchFamily="34" charset="-120"/>
              </a:rPr>
              <a:t>0</a:t>
            </a:r>
            <a:endParaRPr lang="en-US" sz="8400" dirty="0"/>
          </a:p>
        </p:txBody>
      </p:sp>
      <p:sp>
        <p:nvSpPr>
          <p:cNvPr id="10" name="Text 8"/>
          <p:cNvSpPr/>
          <p:nvPr/>
        </p:nvSpPr>
        <p:spPr>
          <a:xfrm>
            <a:off x="7113984" y="7288113"/>
            <a:ext cx="323836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2514E"/>
                </a:solidFill>
                <a:latin typeface="Arial" pitchFamily="34" charset="0"/>
                <a:ea typeface="Arial" pitchFamily="34" charset="-122"/>
                <a:cs typeface="Arial" pitchFamily="34" charset="-120"/>
              </a:rPr>
              <a:t>guadagno in accuratezza</a:t>
            </a:r>
            <a:endParaRPr lang="en-US" sz="2100" dirty="0"/>
          </a:p>
        </p:txBody>
      </p:sp>
      <p:sp>
        <p:nvSpPr>
          <p:cNvPr id="11" name="Text 9"/>
          <p:cNvSpPr/>
          <p:nvPr/>
        </p:nvSpPr>
        <p:spPr>
          <a:xfrm>
            <a:off x="10972354" y="6145113"/>
            <a:ext cx="5068982" cy="1104900"/>
          </a:xfrm>
          <a:prstGeom prst="rect">
            <a:avLst/>
          </a:prstGeom>
          <a:noFill/>
          <a:ln/>
        </p:spPr>
        <p:txBody>
          <a:bodyPr wrap="square" lIns="25400" tIns="25400" rIns="25400" bIns="25400" rtlCol="0" anchor="t">
            <a:normAutofit lnSpcReduction="10000"/>
          </a:bodyPr>
          <a:lstStyle/>
          <a:p>
            <a:pPr marL="0" indent="0" algn="l">
              <a:lnSpc>
                <a:spcPct val="86822"/>
              </a:lnSpc>
              <a:buNone/>
            </a:pPr>
            <a:r>
              <a:rPr lang="en-US" sz="8400" b="1" kern="0" spc="-252" dirty="0">
                <a:latin typeface="Arial" pitchFamily="34" charset="0"/>
                <a:ea typeface="Arial" pitchFamily="34" charset="-122"/>
                <a:cs typeface="Arial" pitchFamily="34" charset="-120"/>
              </a:rPr>
              <a:t>−26/−32%</a:t>
            </a:r>
            <a:endParaRPr lang="en-US" sz="8400" dirty="0"/>
          </a:p>
        </p:txBody>
      </p:sp>
      <p:sp>
        <p:nvSpPr>
          <p:cNvPr id="12" name="Text 10"/>
          <p:cNvSpPr/>
          <p:nvPr/>
        </p:nvSpPr>
        <p:spPr>
          <a:xfrm>
            <a:off x="10972354" y="7288113"/>
            <a:ext cx="5068982"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2514E"/>
                </a:solidFill>
                <a:latin typeface="Arial" pitchFamily="34" charset="0"/>
                <a:ea typeface="Arial" pitchFamily="34" charset="-122"/>
                <a:cs typeface="Arial" pitchFamily="34" charset="-120"/>
              </a:rPr>
              <a:t>massa vietata con la loss, 9 celle su 9</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762000"/>
            <a:ext cx="18021300" cy="657225"/>
          </a:xfrm>
          <a:prstGeom prst="rect">
            <a:avLst/>
          </a:prstGeom>
          <a:noFill/>
          <a:ln/>
        </p:spPr>
        <p:txBody>
          <a:bodyPr wrap="square" lIns="25400" tIns="25400" rIns="25400" bIns="25400" rtlCol="0" anchor="t">
            <a:normAutofit/>
          </a:bodyPr>
          <a:lstStyle/>
          <a:p>
            <a:pPr marL="0" indent="0" algn="l">
              <a:buNone/>
            </a:pPr>
            <a:r>
              <a:rPr lang="en-US" sz="4200" b="1" kern="0" spc="-63" dirty="0">
                <a:solidFill>
                  <a:srgbClr val="0B0B0B"/>
                </a:solidFill>
                <a:latin typeface="Arial" pitchFamily="34" charset="0"/>
                <a:ea typeface="Arial" pitchFamily="34" charset="-122"/>
                <a:cs typeface="Arial" pitchFamily="34" charset="-120"/>
              </a:rPr>
              <a:t>Dati e strutture simboliche</a:t>
            </a:r>
            <a:endParaRPr lang="en-US" sz="4200" dirty="0"/>
          </a:p>
        </p:txBody>
      </p:sp>
      <p:sp>
        <p:nvSpPr>
          <p:cNvPr id="3" name="Shape 1"/>
          <p:cNvSpPr/>
          <p:nvPr/>
        </p:nvSpPr>
        <p:spPr>
          <a:xfrm>
            <a:off x="952500" y="1914525"/>
            <a:ext cx="2838450" cy="1562100"/>
          </a:xfrm>
          <a:prstGeom prst="roundRect">
            <a:avLst>
              <a:gd name="adj" fmla="val 3659"/>
            </a:avLst>
          </a:prstGeom>
          <a:solidFill>
            <a:srgbClr val="EEEDE9"/>
          </a:solidFill>
          <a:ln w="9525">
            <a:solidFill>
              <a:srgbClr val="B9B8B1"/>
            </a:solidFill>
            <a:prstDash val="solid"/>
          </a:ln>
        </p:spPr>
        <p:txBody>
          <a:bodyPr/>
          <a:lstStyle/>
          <a:p>
            <a:endParaRPr lang="en-US"/>
          </a:p>
        </p:txBody>
      </p:sp>
      <p:sp>
        <p:nvSpPr>
          <p:cNvPr id="4" name="Text 2"/>
          <p:cNvSpPr/>
          <p:nvPr/>
        </p:nvSpPr>
        <p:spPr>
          <a:xfrm>
            <a:off x="1109948" y="2209800"/>
            <a:ext cx="2523554" cy="1009650"/>
          </a:xfrm>
          <a:prstGeom prst="rect">
            <a:avLst/>
          </a:prstGeom>
          <a:noFill/>
          <a:ln/>
        </p:spPr>
        <p:txBody>
          <a:bodyPr wrap="square" lIns="25400" tIns="25400" rIns="25400" bIns="25400" rtlCol="0" anchor="ctr">
            <a:normAutofit/>
          </a:bodyPr>
          <a:lstStyle/>
          <a:p>
            <a:pPr marL="0" indent="0" algn="ctr">
              <a:buNone/>
            </a:pPr>
            <a:r>
              <a:rPr lang="en-US" sz="1950" dirty="0">
                <a:solidFill>
                  <a:srgbClr val="0B0B0B"/>
                </a:solidFill>
                <a:latin typeface="Courier New" pitchFamily="34" charset="0"/>
                <a:ea typeface="Courier New" pitchFamily="34" charset="-122"/>
                <a:cs typeface="Courier New" pitchFamily="34" charset="-120"/>
              </a:rPr>
              <a:t>log XES</a:t>
            </a:r>
            <a:endParaRPr lang="en-US" sz="1950" dirty="0"/>
          </a:p>
        </p:txBody>
      </p:sp>
      <p:sp>
        <p:nvSpPr>
          <p:cNvPr id="5" name="Text 3"/>
          <p:cNvSpPr/>
          <p:nvPr/>
        </p:nvSpPr>
        <p:spPr>
          <a:xfrm>
            <a:off x="3905250" y="2533650"/>
            <a:ext cx="21237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2514E"/>
                </a:solidFill>
                <a:latin typeface="Courier New" pitchFamily="34" charset="0"/>
                <a:ea typeface="Courier New" pitchFamily="34" charset="-122"/>
                <a:cs typeface="Courier New" pitchFamily="34" charset="-120"/>
              </a:rPr>
              <a:t>→</a:t>
            </a:r>
            <a:endParaRPr lang="en-US" sz="1950" dirty="0"/>
          </a:p>
        </p:txBody>
      </p:sp>
      <p:sp>
        <p:nvSpPr>
          <p:cNvPr id="6" name="Shape 4"/>
          <p:cNvSpPr/>
          <p:nvPr/>
        </p:nvSpPr>
        <p:spPr>
          <a:xfrm>
            <a:off x="4155728" y="1914525"/>
            <a:ext cx="2838450" cy="1562100"/>
          </a:xfrm>
          <a:prstGeom prst="roundRect">
            <a:avLst>
              <a:gd name="adj" fmla="val 3659"/>
            </a:avLst>
          </a:prstGeom>
          <a:solidFill>
            <a:srgbClr val="EEEDE9"/>
          </a:solidFill>
          <a:ln w="9525">
            <a:solidFill>
              <a:srgbClr val="B9B8B1"/>
            </a:solidFill>
            <a:prstDash val="solid"/>
          </a:ln>
        </p:spPr>
        <p:txBody>
          <a:bodyPr/>
          <a:lstStyle/>
          <a:p>
            <a:endParaRPr lang="en-US"/>
          </a:p>
        </p:txBody>
      </p:sp>
      <p:sp>
        <p:nvSpPr>
          <p:cNvPr id="7" name="Text 5"/>
          <p:cNvSpPr/>
          <p:nvPr/>
        </p:nvSpPr>
        <p:spPr>
          <a:xfrm>
            <a:off x="4313176" y="2209800"/>
            <a:ext cx="2523554" cy="1009650"/>
          </a:xfrm>
          <a:prstGeom prst="rect">
            <a:avLst/>
          </a:prstGeom>
          <a:noFill/>
          <a:ln/>
        </p:spPr>
        <p:txBody>
          <a:bodyPr wrap="square" lIns="25400" tIns="25400" rIns="25400" bIns="25400" rtlCol="0" anchor="ctr">
            <a:normAutofit/>
          </a:bodyPr>
          <a:lstStyle/>
          <a:p>
            <a:pPr marL="0" indent="0" algn="ctr">
              <a:buNone/>
            </a:pPr>
            <a:r>
              <a:rPr lang="en-US" sz="1950" dirty="0">
                <a:solidFill>
                  <a:srgbClr val="0B0B0B"/>
                </a:solidFill>
                <a:latin typeface="Courier New" pitchFamily="34" charset="0"/>
                <a:ea typeface="Courier New" pitchFamily="34" charset="-122"/>
                <a:cs typeface="Courier New" pitchFamily="34" charset="-120"/>
              </a:rPr>
              <a:t>tracce per case</a:t>
            </a:r>
            <a:endParaRPr lang="en-US" sz="1950" dirty="0"/>
          </a:p>
        </p:txBody>
      </p:sp>
      <p:sp>
        <p:nvSpPr>
          <p:cNvPr id="8" name="Text 6"/>
          <p:cNvSpPr/>
          <p:nvPr/>
        </p:nvSpPr>
        <p:spPr>
          <a:xfrm>
            <a:off x="7108478" y="2533650"/>
            <a:ext cx="21237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2514E"/>
                </a:solidFill>
                <a:latin typeface="Courier New" pitchFamily="34" charset="0"/>
                <a:ea typeface="Courier New" pitchFamily="34" charset="-122"/>
                <a:cs typeface="Courier New" pitchFamily="34" charset="-120"/>
              </a:rPr>
              <a:t>→</a:t>
            </a:r>
            <a:endParaRPr lang="en-US" sz="1950" dirty="0"/>
          </a:p>
        </p:txBody>
      </p:sp>
      <p:sp>
        <p:nvSpPr>
          <p:cNvPr id="9" name="Shape 7"/>
          <p:cNvSpPr/>
          <p:nvPr/>
        </p:nvSpPr>
        <p:spPr>
          <a:xfrm>
            <a:off x="7358955" y="1914525"/>
            <a:ext cx="3082379" cy="1562100"/>
          </a:xfrm>
          <a:prstGeom prst="roundRect">
            <a:avLst>
              <a:gd name="adj" fmla="val 3659"/>
            </a:avLst>
          </a:prstGeom>
          <a:solidFill>
            <a:srgbClr val="EEEDE9"/>
          </a:solidFill>
          <a:ln w="9525">
            <a:solidFill>
              <a:srgbClr val="0B0B0B"/>
            </a:solidFill>
            <a:prstDash val="solid"/>
          </a:ln>
        </p:spPr>
        <p:txBody>
          <a:bodyPr/>
          <a:lstStyle/>
          <a:p>
            <a:endParaRPr lang="en-US"/>
          </a:p>
        </p:txBody>
      </p:sp>
      <p:sp>
        <p:nvSpPr>
          <p:cNvPr id="10" name="Text 8"/>
          <p:cNvSpPr/>
          <p:nvPr/>
        </p:nvSpPr>
        <p:spPr>
          <a:xfrm>
            <a:off x="7512745" y="2209800"/>
            <a:ext cx="2774801" cy="1009650"/>
          </a:xfrm>
          <a:prstGeom prst="rect">
            <a:avLst/>
          </a:prstGeom>
          <a:noFill/>
          <a:ln/>
        </p:spPr>
        <p:txBody>
          <a:bodyPr wrap="square" lIns="25400" tIns="25400" rIns="25400" bIns="25400" rtlCol="0" anchor="ctr">
            <a:normAutofit/>
          </a:bodyPr>
          <a:lstStyle/>
          <a:p>
            <a:pPr marL="0" indent="0" algn="ctr">
              <a:buNone/>
            </a:pPr>
            <a:r>
              <a:rPr lang="en-US" sz="1950" dirty="0">
                <a:solidFill>
                  <a:srgbClr val="0B0B0B"/>
                </a:solidFill>
                <a:latin typeface="Courier New" pitchFamily="34" charset="0"/>
                <a:ea typeface="Courier New" pitchFamily="34" charset="-122"/>
                <a:cs typeface="Courier New" pitchFamily="34" charset="-120"/>
              </a:rPr>
              <a:t>split per case 70 / 15 / 15</a:t>
            </a:r>
            <a:endParaRPr lang="en-US" sz="1950" dirty="0"/>
          </a:p>
        </p:txBody>
      </p:sp>
      <p:sp>
        <p:nvSpPr>
          <p:cNvPr id="11" name="Text 9"/>
          <p:cNvSpPr/>
          <p:nvPr/>
        </p:nvSpPr>
        <p:spPr>
          <a:xfrm>
            <a:off x="10555635" y="2533650"/>
            <a:ext cx="21237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2514E"/>
                </a:solidFill>
                <a:latin typeface="Courier New" pitchFamily="34" charset="0"/>
                <a:ea typeface="Courier New" pitchFamily="34" charset="-122"/>
                <a:cs typeface="Courier New" pitchFamily="34" charset="-120"/>
              </a:rPr>
              <a:t>→</a:t>
            </a:r>
            <a:endParaRPr lang="en-US" sz="1950" dirty="0"/>
          </a:p>
        </p:txBody>
      </p:sp>
      <p:sp>
        <p:nvSpPr>
          <p:cNvPr id="12" name="Shape 10"/>
          <p:cNvSpPr/>
          <p:nvPr/>
        </p:nvSpPr>
        <p:spPr>
          <a:xfrm>
            <a:off x="10806113" y="1914525"/>
            <a:ext cx="2838450" cy="1562100"/>
          </a:xfrm>
          <a:prstGeom prst="roundRect">
            <a:avLst>
              <a:gd name="adj" fmla="val 3659"/>
            </a:avLst>
          </a:prstGeom>
          <a:solidFill>
            <a:srgbClr val="EEEDE9"/>
          </a:solidFill>
          <a:ln w="9525">
            <a:solidFill>
              <a:srgbClr val="B9B8B1"/>
            </a:solidFill>
            <a:prstDash val="solid"/>
          </a:ln>
        </p:spPr>
        <p:txBody>
          <a:bodyPr/>
          <a:lstStyle/>
          <a:p>
            <a:endParaRPr lang="en-US"/>
          </a:p>
        </p:txBody>
      </p:sp>
      <p:sp>
        <p:nvSpPr>
          <p:cNvPr id="13" name="Text 11"/>
          <p:cNvSpPr/>
          <p:nvPr/>
        </p:nvSpPr>
        <p:spPr>
          <a:xfrm>
            <a:off x="10963561" y="2209800"/>
            <a:ext cx="2523554" cy="1009650"/>
          </a:xfrm>
          <a:prstGeom prst="rect">
            <a:avLst/>
          </a:prstGeom>
          <a:noFill/>
          <a:ln/>
        </p:spPr>
        <p:txBody>
          <a:bodyPr wrap="square" lIns="25400" tIns="25400" rIns="25400" bIns="25400" rtlCol="0" anchor="ctr">
            <a:normAutofit/>
          </a:bodyPr>
          <a:lstStyle/>
          <a:p>
            <a:pPr marL="0" indent="0" algn="ctr">
              <a:buNone/>
            </a:pPr>
            <a:r>
              <a:rPr lang="en-US" sz="1950" dirty="0">
                <a:solidFill>
                  <a:srgbClr val="0B0B0B"/>
                </a:solidFill>
                <a:latin typeface="Courier New" pitchFamily="34" charset="0"/>
                <a:ea typeface="Courier New" pitchFamily="34" charset="-122"/>
                <a:cs typeface="Courier New" pitchFamily="34" charset="-120"/>
              </a:rPr>
              <a:t>vocabolario dal train</a:t>
            </a:r>
            <a:endParaRPr lang="en-US" sz="1950" dirty="0"/>
          </a:p>
        </p:txBody>
      </p:sp>
      <p:sp>
        <p:nvSpPr>
          <p:cNvPr id="14" name="Text 12"/>
          <p:cNvSpPr/>
          <p:nvPr/>
        </p:nvSpPr>
        <p:spPr>
          <a:xfrm>
            <a:off x="13758863" y="2533650"/>
            <a:ext cx="21237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52514E"/>
                </a:solidFill>
                <a:latin typeface="Courier New" pitchFamily="34" charset="0"/>
                <a:ea typeface="Courier New" pitchFamily="34" charset="-122"/>
                <a:cs typeface="Courier New" pitchFamily="34" charset="-120"/>
              </a:rPr>
              <a:t>→</a:t>
            </a:r>
            <a:endParaRPr lang="en-US" sz="1950" dirty="0"/>
          </a:p>
        </p:txBody>
      </p:sp>
      <p:sp>
        <p:nvSpPr>
          <p:cNvPr id="15" name="Shape 13"/>
          <p:cNvSpPr/>
          <p:nvPr/>
        </p:nvSpPr>
        <p:spPr>
          <a:xfrm>
            <a:off x="14009340" y="1914525"/>
            <a:ext cx="3326160" cy="1562100"/>
          </a:xfrm>
          <a:prstGeom prst="roundRect">
            <a:avLst>
              <a:gd name="adj" fmla="val 3659"/>
            </a:avLst>
          </a:prstGeom>
          <a:solidFill>
            <a:srgbClr val="EEEDE9"/>
          </a:solidFill>
          <a:ln w="9525">
            <a:solidFill>
              <a:srgbClr val="B9B8B1"/>
            </a:solidFill>
            <a:prstDash val="solid"/>
          </a:ln>
        </p:spPr>
        <p:txBody>
          <a:bodyPr/>
          <a:lstStyle/>
          <a:p>
            <a:endParaRPr lang="en-US"/>
          </a:p>
        </p:txBody>
      </p:sp>
      <p:sp>
        <p:nvSpPr>
          <p:cNvPr id="16" name="Text 14"/>
          <p:cNvSpPr/>
          <p:nvPr/>
        </p:nvSpPr>
        <p:spPr>
          <a:xfrm>
            <a:off x="14159473" y="2209800"/>
            <a:ext cx="3025895" cy="1009650"/>
          </a:xfrm>
          <a:prstGeom prst="rect">
            <a:avLst/>
          </a:prstGeom>
          <a:noFill/>
          <a:ln/>
        </p:spPr>
        <p:txBody>
          <a:bodyPr wrap="square" lIns="25400" tIns="25400" rIns="25400" bIns="25400" rtlCol="0" anchor="ctr">
            <a:normAutofit/>
          </a:bodyPr>
          <a:lstStyle/>
          <a:p>
            <a:pPr marL="0" indent="0" algn="ctr">
              <a:buNone/>
            </a:pPr>
            <a:r>
              <a:rPr lang="en-US" sz="1950" dirty="0">
                <a:solidFill>
                  <a:srgbClr val="0B0B0B"/>
                </a:solidFill>
                <a:latin typeface="Courier New" pitchFamily="34" charset="0"/>
                <a:ea typeface="Courier New" pitchFamily="34" charset="-122"/>
                <a:cs typeface="Courier New" pitchFamily="34" charset="-120"/>
              </a:rPr>
              <a:t>prefix log: prefisso → attività successiva</a:t>
            </a:r>
            <a:endParaRPr lang="en-US" sz="1950" dirty="0"/>
          </a:p>
        </p:txBody>
      </p:sp>
      <p:sp>
        <p:nvSpPr>
          <p:cNvPr id="17" name="Shape 15"/>
          <p:cNvSpPr/>
          <p:nvPr/>
        </p:nvSpPr>
        <p:spPr>
          <a:xfrm>
            <a:off x="952500" y="4719638"/>
            <a:ext cx="7886700" cy="9525"/>
          </a:xfrm>
          <a:prstGeom prst="rect">
            <a:avLst/>
          </a:prstGeom>
          <a:solidFill>
            <a:srgbClr val="B9B8B1"/>
          </a:solidFill>
          <a:ln/>
        </p:spPr>
        <p:txBody>
          <a:bodyPr/>
          <a:lstStyle/>
          <a:p>
            <a:endParaRPr lang="en-US"/>
          </a:p>
        </p:txBody>
      </p:sp>
      <p:sp>
        <p:nvSpPr>
          <p:cNvPr id="18" name="Text 16"/>
          <p:cNvSpPr/>
          <p:nvPr/>
        </p:nvSpPr>
        <p:spPr>
          <a:xfrm>
            <a:off x="952500" y="4200525"/>
            <a:ext cx="4959224" cy="376238"/>
          </a:xfrm>
          <a:prstGeom prst="rect">
            <a:avLst/>
          </a:prstGeom>
          <a:noFill/>
          <a:ln/>
        </p:spPr>
        <p:txBody>
          <a:bodyPr wrap="square" lIns="25400" tIns="25400" rIns="25400" bIns="25400" rtlCol="0" anchor="ctr">
            <a:normAutofit/>
          </a:bodyPr>
          <a:lstStyle/>
          <a:p>
            <a:pPr marL="0" indent="0" algn="l">
              <a:buNone/>
            </a:pPr>
            <a:r>
              <a:rPr lang="en-US" sz="2025" dirty="0">
                <a:solidFill>
                  <a:srgbClr val="52514E"/>
                </a:solidFill>
                <a:latin typeface="Arial" pitchFamily="34" charset="0"/>
                <a:ea typeface="Arial" pitchFamily="34" charset="-122"/>
                <a:cs typeface="Arial" pitchFamily="34" charset="-120"/>
              </a:rPr>
              <a:t>dataset</a:t>
            </a:r>
            <a:endParaRPr lang="en-US" sz="2025" dirty="0"/>
          </a:p>
        </p:txBody>
      </p:sp>
      <p:sp>
        <p:nvSpPr>
          <p:cNvPr id="19" name="Text 17"/>
          <p:cNvSpPr/>
          <p:nvPr/>
        </p:nvSpPr>
        <p:spPr>
          <a:xfrm>
            <a:off x="6066532" y="4200525"/>
            <a:ext cx="1243161" cy="376238"/>
          </a:xfrm>
          <a:prstGeom prst="rect">
            <a:avLst/>
          </a:prstGeom>
          <a:noFill/>
          <a:ln/>
        </p:spPr>
        <p:txBody>
          <a:bodyPr wrap="square" lIns="25400" tIns="25400" rIns="25400" bIns="25400" rtlCol="0" anchor="ctr">
            <a:normAutofit/>
          </a:bodyPr>
          <a:lstStyle/>
          <a:p>
            <a:pPr marL="0" indent="0" algn="r">
              <a:buNone/>
            </a:pPr>
            <a:r>
              <a:rPr lang="en-US" sz="2025" dirty="0">
                <a:solidFill>
                  <a:srgbClr val="52514E"/>
                </a:solidFill>
                <a:latin typeface="Arial" pitchFamily="34" charset="0"/>
                <a:ea typeface="Arial" pitchFamily="34" charset="-122"/>
                <a:cs typeface="Arial" pitchFamily="34" charset="-120"/>
              </a:rPr>
              <a:t>tracce</a:t>
            </a:r>
            <a:endParaRPr lang="en-US" sz="2025" dirty="0"/>
          </a:p>
        </p:txBody>
      </p:sp>
      <p:sp>
        <p:nvSpPr>
          <p:cNvPr id="20" name="Text 18"/>
          <p:cNvSpPr/>
          <p:nvPr/>
        </p:nvSpPr>
        <p:spPr>
          <a:xfrm>
            <a:off x="7614493" y="4200525"/>
            <a:ext cx="1224707" cy="376238"/>
          </a:xfrm>
          <a:prstGeom prst="rect">
            <a:avLst/>
          </a:prstGeom>
          <a:noFill/>
          <a:ln/>
        </p:spPr>
        <p:txBody>
          <a:bodyPr wrap="square" lIns="25400" tIns="25400" rIns="25400" bIns="25400" rtlCol="0" anchor="ctr">
            <a:normAutofit/>
          </a:bodyPr>
          <a:lstStyle/>
          <a:p>
            <a:pPr marL="0" indent="0" algn="r">
              <a:buNone/>
            </a:pPr>
            <a:r>
              <a:rPr lang="en-US" sz="2025" dirty="0">
                <a:solidFill>
                  <a:srgbClr val="52514E"/>
                </a:solidFill>
                <a:latin typeface="Arial" pitchFamily="34" charset="0"/>
                <a:ea typeface="Arial" pitchFamily="34" charset="-122"/>
                <a:cs typeface="Arial" pitchFamily="34" charset="-120"/>
              </a:rPr>
              <a:t>eventi</a:t>
            </a:r>
            <a:endParaRPr lang="en-US" sz="2025" dirty="0"/>
          </a:p>
        </p:txBody>
      </p:sp>
      <p:sp>
        <p:nvSpPr>
          <p:cNvPr id="21" name="Shape 19"/>
          <p:cNvSpPr/>
          <p:nvPr/>
        </p:nvSpPr>
        <p:spPr>
          <a:xfrm>
            <a:off x="952500" y="5557838"/>
            <a:ext cx="7886700" cy="9525"/>
          </a:xfrm>
          <a:prstGeom prst="rect">
            <a:avLst/>
          </a:prstGeom>
          <a:solidFill>
            <a:srgbClr val="EEEDE9"/>
          </a:solidFill>
          <a:ln/>
        </p:spPr>
        <p:txBody>
          <a:bodyPr/>
          <a:lstStyle/>
          <a:p>
            <a:endParaRPr lang="en-US"/>
          </a:p>
        </p:txBody>
      </p:sp>
      <p:sp>
        <p:nvSpPr>
          <p:cNvPr id="22" name="Text 20"/>
          <p:cNvSpPr/>
          <p:nvPr/>
        </p:nvSpPr>
        <p:spPr>
          <a:xfrm>
            <a:off x="952500" y="4957763"/>
            <a:ext cx="4959224" cy="419100"/>
          </a:xfrm>
          <a:prstGeom prst="rect">
            <a:avLst/>
          </a:prstGeom>
          <a:noFill/>
          <a:ln/>
        </p:spPr>
        <p:txBody>
          <a:bodyPr wrap="square" lIns="25400" tIns="25400" rIns="25400" bIns="25400" rtlCol="0" anchor="ctr">
            <a:normAutofit/>
          </a:bodyPr>
          <a:lstStyle/>
          <a:p>
            <a:pPr marL="0" indent="0" algn="l">
              <a:buNone/>
            </a:pPr>
            <a:r>
              <a:rPr lang="en-US" sz="2250" dirty="0">
                <a:solidFill>
                  <a:srgbClr val="0B0B0B"/>
                </a:solidFill>
                <a:latin typeface="Arial" pitchFamily="34" charset="0"/>
                <a:ea typeface="Arial" pitchFamily="34" charset="-122"/>
                <a:cs typeface="Arial" pitchFamily="34" charset="-120"/>
              </a:rPr>
              <a:t>Sepsis Cases</a:t>
            </a:r>
            <a:endParaRPr lang="en-US" sz="2250" dirty="0"/>
          </a:p>
        </p:txBody>
      </p:sp>
      <p:sp>
        <p:nvSpPr>
          <p:cNvPr id="23" name="Text 21"/>
          <p:cNvSpPr/>
          <p:nvPr/>
        </p:nvSpPr>
        <p:spPr>
          <a:xfrm>
            <a:off x="6066532" y="4957763"/>
            <a:ext cx="1243161" cy="419100"/>
          </a:xfrm>
          <a:prstGeom prst="rect">
            <a:avLst/>
          </a:prstGeom>
          <a:noFill/>
          <a:ln/>
        </p:spPr>
        <p:txBody>
          <a:bodyPr wrap="square" lIns="25400" tIns="25400" rIns="25400" bIns="25400" rtlCol="0" anchor="ctr">
            <a:normAutofit/>
          </a:bodyPr>
          <a:lstStyle/>
          <a:p>
            <a:pPr marL="0" indent="0" algn="r">
              <a:buNone/>
            </a:pPr>
            <a:r>
              <a:rPr lang="en-US" sz="2250" dirty="0">
                <a:solidFill>
                  <a:srgbClr val="0B0B0B"/>
                </a:solidFill>
                <a:latin typeface="Courier New" pitchFamily="34" charset="0"/>
                <a:ea typeface="Courier New" pitchFamily="34" charset="-122"/>
                <a:cs typeface="Courier New" pitchFamily="34" charset="-120"/>
              </a:rPr>
              <a:t>1.050</a:t>
            </a:r>
            <a:endParaRPr lang="en-US" sz="2250" dirty="0"/>
          </a:p>
        </p:txBody>
      </p:sp>
      <p:sp>
        <p:nvSpPr>
          <p:cNvPr id="24" name="Text 22"/>
          <p:cNvSpPr/>
          <p:nvPr/>
        </p:nvSpPr>
        <p:spPr>
          <a:xfrm>
            <a:off x="7614493" y="4957763"/>
            <a:ext cx="1224707" cy="419100"/>
          </a:xfrm>
          <a:prstGeom prst="rect">
            <a:avLst/>
          </a:prstGeom>
          <a:noFill/>
          <a:ln/>
        </p:spPr>
        <p:txBody>
          <a:bodyPr wrap="square" lIns="25400" tIns="25400" rIns="25400" bIns="25400" rtlCol="0" anchor="ctr">
            <a:normAutofit/>
          </a:bodyPr>
          <a:lstStyle/>
          <a:p>
            <a:pPr marL="0" indent="0" algn="r">
              <a:buNone/>
            </a:pPr>
            <a:r>
              <a:rPr lang="en-US" sz="2250" dirty="0">
                <a:solidFill>
                  <a:srgbClr val="0B0B0B"/>
                </a:solidFill>
                <a:latin typeface="Courier New" pitchFamily="34" charset="0"/>
                <a:ea typeface="Courier New" pitchFamily="34" charset="-122"/>
                <a:cs typeface="Courier New" pitchFamily="34" charset="-120"/>
              </a:rPr>
              <a:t>15.214</a:t>
            </a:r>
            <a:endParaRPr lang="en-US" sz="2250" dirty="0"/>
          </a:p>
        </p:txBody>
      </p:sp>
      <p:sp>
        <p:nvSpPr>
          <p:cNvPr id="25" name="Shape 23"/>
          <p:cNvSpPr/>
          <p:nvPr/>
        </p:nvSpPr>
        <p:spPr>
          <a:xfrm>
            <a:off x="952500" y="6396038"/>
            <a:ext cx="7886700" cy="9525"/>
          </a:xfrm>
          <a:prstGeom prst="rect">
            <a:avLst/>
          </a:prstGeom>
          <a:solidFill>
            <a:srgbClr val="EEEDE9"/>
          </a:solidFill>
          <a:ln/>
        </p:spPr>
        <p:txBody>
          <a:bodyPr/>
          <a:lstStyle/>
          <a:p>
            <a:endParaRPr lang="en-US"/>
          </a:p>
        </p:txBody>
      </p:sp>
      <p:sp>
        <p:nvSpPr>
          <p:cNvPr id="26" name="Text 24"/>
          <p:cNvSpPr/>
          <p:nvPr/>
        </p:nvSpPr>
        <p:spPr>
          <a:xfrm>
            <a:off x="952500" y="5795963"/>
            <a:ext cx="4959224" cy="419100"/>
          </a:xfrm>
          <a:prstGeom prst="rect">
            <a:avLst/>
          </a:prstGeom>
          <a:noFill/>
          <a:ln/>
        </p:spPr>
        <p:txBody>
          <a:bodyPr wrap="square" lIns="25400" tIns="25400" rIns="25400" bIns="25400" rtlCol="0" anchor="ctr">
            <a:normAutofit/>
          </a:bodyPr>
          <a:lstStyle/>
          <a:p>
            <a:pPr marL="0" indent="0" algn="l">
              <a:buNone/>
            </a:pPr>
            <a:r>
              <a:rPr lang="en-US" sz="2250" dirty="0">
                <a:solidFill>
                  <a:srgbClr val="0B0B0B"/>
                </a:solidFill>
                <a:latin typeface="Arial" pitchFamily="34" charset="0"/>
                <a:ea typeface="Arial" pitchFamily="34" charset="-122"/>
                <a:cs typeface="Arial" pitchFamily="34" charset="-120"/>
              </a:rPr>
              <a:t>BPIC 2013 incidents</a:t>
            </a:r>
            <a:endParaRPr lang="en-US" sz="2250" dirty="0"/>
          </a:p>
        </p:txBody>
      </p:sp>
      <p:sp>
        <p:nvSpPr>
          <p:cNvPr id="27" name="Text 25"/>
          <p:cNvSpPr/>
          <p:nvPr/>
        </p:nvSpPr>
        <p:spPr>
          <a:xfrm>
            <a:off x="6066532" y="5795963"/>
            <a:ext cx="1243161" cy="419100"/>
          </a:xfrm>
          <a:prstGeom prst="rect">
            <a:avLst/>
          </a:prstGeom>
          <a:noFill/>
          <a:ln/>
        </p:spPr>
        <p:txBody>
          <a:bodyPr wrap="square" lIns="25400" tIns="25400" rIns="25400" bIns="25400" rtlCol="0" anchor="ctr">
            <a:normAutofit/>
          </a:bodyPr>
          <a:lstStyle/>
          <a:p>
            <a:pPr marL="0" indent="0" algn="r">
              <a:buNone/>
            </a:pPr>
            <a:r>
              <a:rPr lang="en-US" sz="2250" dirty="0">
                <a:solidFill>
                  <a:srgbClr val="0B0B0B"/>
                </a:solidFill>
                <a:latin typeface="Courier New" pitchFamily="34" charset="0"/>
                <a:ea typeface="Courier New" pitchFamily="34" charset="-122"/>
                <a:cs typeface="Courier New" pitchFamily="34" charset="-120"/>
              </a:rPr>
              <a:t>7.554</a:t>
            </a:r>
            <a:endParaRPr lang="en-US" sz="2250" dirty="0"/>
          </a:p>
        </p:txBody>
      </p:sp>
      <p:sp>
        <p:nvSpPr>
          <p:cNvPr id="28" name="Text 26"/>
          <p:cNvSpPr/>
          <p:nvPr/>
        </p:nvSpPr>
        <p:spPr>
          <a:xfrm>
            <a:off x="7614493" y="5795963"/>
            <a:ext cx="1224707" cy="419100"/>
          </a:xfrm>
          <a:prstGeom prst="rect">
            <a:avLst/>
          </a:prstGeom>
          <a:noFill/>
          <a:ln/>
        </p:spPr>
        <p:txBody>
          <a:bodyPr wrap="square" lIns="25400" tIns="25400" rIns="25400" bIns="25400" rtlCol="0" anchor="ctr">
            <a:normAutofit/>
          </a:bodyPr>
          <a:lstStyle/>
          <a:p>
            <a:pPr marL="0" indent="0" algn="r">
              <a:buNone/>
            </a:pPr>
            <a:r>
              <a:rPr lang="en-US" sz="2250" dirty="0">
                <a:solidFill>
                  <a:srgbClr val="0B0B0B"/>
                </a:solidFill>
                <a:latin typeface="Courier New" pitchFamily="34" charset="0"/>
                <a:ea typeface="Courier New" pitchFamily="34" charset="-122"/>
                <a:cs typeface="Courier New" pitchFamily="34" charset="-120"/>
              </a:rPr>
              <a:t>65.533</a:t>
            </a:r>
            <a:endParaRPr lang="en-US" sz="2250" dirty="0"/>
          </a:p>
        </p:txBody>
      </p:sp>
      <p:sp>
        <p:nvSpPr>
          <p:cNvPr id="29" name="Text 27"/>
          <p:cNvSpPr/>
          <p:nvPr/>
        </p:nvSpPr>
        <p:spPr>
          <a:xfrm>
            <a:off x="952500" y="6634163"/>
            <a:ext cx="4959224" cy="414338"/>
          </a:xfrm>
          <a:prstGeom prst="rect">
            <a:avLst/>
          </a:prstGeom>
          <a:noFill/>
          <a:ln/>
        </p:spPr>
        <p:txBody>
          <a:bodyPr wrap="square" lIns="25400" tIns="25400" rIns="25400" bIns="25400" rtlCol="0" anchor="ctr">
            <a:normAutofit/>
          </a:bodyPr>
          <a:lstStyle/>
          <a:p>
            <a:pPr marL="0" indent="0" algn="l">
              <a:buNone/>
            </a:pPr>
            <a:r>
              <a:rPr lang="en-US" sz="2250" dirty="0">
                <a:solidFill>
                  <a:srgbClr val="0B0B0B"/>
                </a:solidFill>
                <a:latin typeface="Arial" pitchFamily="34" charset="0"/>
                <a:ea typeface="Arial" pitchFamily="34" charset="-122"/>
                <a:cs typeface="Arial" pitchFamily="34" charset="-120"/>
              </a:rPr>
              <a:t>BPIC 2020 Domestic Declarations</a:t>
            </a:r>
            <a:endParaRPr lang="en-US" sz="2250" dirty="0"/>
          </a:p>
        </p:txBody>
      </p:sp>
      <p:sp>
        <p:nvSpPr>
          <p:cNvPr id="30" name="Text 28"/>
          <p:cNvSpPr/>
          <p:nvPr/>
        </p:nvSpPr>
        <p:spPr>
          <a:xfrm>
            <a:off x="6066532" y="6634163"/>
            <a:ext cx="1243161" cy="414338"/>
          </a:xfrm>
          <a:prstGeom prst="rect">
            <a:avLst/>
          </a:prstGeom>
          <a:noFill/>
          <a:ln/>
        </p:spPr>
        <p:txBody>
          <a:bodyPr wrap="square" lIns="25400" tIns="25400" rIns="25400" bIns="25400" rtlCol="0" anchor="ctr">
            <a:normAutofit/>
          </a:bodyPr>
          <a:lstStyle/>
          <a:p>
            <a:pPr marL="0" indent="0" algn="r">
              <a:buNone/>
            </a:pPr>
            <a:r>
              <a:rPr lang="en-US" sz="2250" dirty="0">
                <a:solidFill>
                  <a:srgbClr val="0B0B0B"/>
                </a:solidFill>
                <a:latin typeface="Courier New" pitchFamily="34" charset="0"/>
                <a:ea typeface="Courier New" pitchFamily="34" charset="-122"/>
                <a:cs typeface="Courier New" pitchFamily="34" charset="-120"/>
              </a:rPr>
              <a:t>10.500</a:t>
            </a:r>
            <a:endParaRPr lang="en-US" sz="2250" dirty="0"/>
          </a:p>
        </p:txBody>
      </p:sp>
      <p:sp>
        <p:nvSpPr>
          <p:cNvPr id="31" name="Text 29"/>
          <p:cNvSpPr/>
          <p:nvPr/>
        </p:nvSpPr>
        <p:spPr>
          <a:xfrm>
            <a:off x="7614493" y="6634163"/>
            <a:ext cx="1224707" cy="414338"/>
          </a:xfrm>
          <a:prstGeom prst="rect">
            <a:avLst/>
          </a:prstGeom>
          <a:noFill/>
          <a:ln/>
        </p:spPr>
        <p:txBody>
          <a:bodyPr wrap="square" lIns="25400" tIns="25400" rIns="25400" bIns="25400" rtlCol="0" anchor="ctr">
            <a:normAutofit/>
          </a:bodyPr>
          <a:lstStyle/>
          <a:p>
            <a:pPr marL="0" indent="0" algn="r">
              <a:buNone/>
            </a:pPr>
            <a:r>
              <a:rPr lang="en-US" sz="2250" dirty="0">
                <a:solidFill>
                  <a:srgbClr val="0B0B0B"/>
                </a:solidFill>
                <a:latin typeface="Courier New" pitchFamily="34" charset="0"/>
                <a:ea typeface="Courier New" pitchFamily="34" charset="-122"/>
                <a:cs typeface="Courier New" pitchFamily="34" charset="-120"/>
              </a:rPr>
              <a:t>56.437</a:t>
            </a:r>
            <a:endParaRPr lang="en-US" sz="2250" dirty="0"/>
          </a:p>
        </p:txBody>
      </p:sp>
      <p:sp>
        <p:nvSpPr>
          <p:cNvPr id="32" name="Text 30"/>
          <p:cNvSpPr/>
          <p:nvPr/>
        </p:nvSpPr>
        <p:spPr>
          <a:xfrm>
            <a:off x="952500" y="7467600"/>
            <a:ext cx="8675370" cy="411361"/>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[Split per case, non per evento]</a:t>
            </a:r>
            <a:endParaRPr lang="en-US" sz="2100" dirty="0"/>
          </a:p>
        </p:txBody>
      </p:sp>
      <p:sp>
        <p:nvSpPr>
          <p:cNvPr id="33" name="Shape 31"/>
          <p:cNvSpPr/>
          <p:nvPr/>
        </p:nvSpPr>
        <p:spPr>
          <a:xfrm>
            <a:off x="9448800" y="4010025"/>
            <a:ext cx="7886700" cy="28575"/>
          </a:xfrm>
          <a:prstGeom prst="rect">
            <a:avLst/>
          </a:prstGeom>
          <a:solidFill>
            <a:srgbClr val="0B0B0B"/>
          </a:solidFill>
          <a:ln/>
        </p:spPr>
        <p:txBody>
          <a:bodyPr/>
          <a:lstStyle/>
          <a:p>
            <a:endParaRPr lang="en-US"/>
          </a:p>
        </p:txBody>
      </p:sp>
      <p:sp>
        <p:nvSpPr>
          <p:cNvPr id="34" name="Text 32"/>
          <p:cNvSpPr/>
          <p:nvPr/>
        </p:nvSpPr>
        <p:spPr>
          <a:xfrm>
            <a:off x="9448800" y="4286250"/>
            <a:ext cx="8675370"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0B0B0B"/>
                </a:solidFill>
                <a:latin typeface="Arial" pitchFamily="34" charset="0"/>
                <a:ea typeface="Arial" pitchFamily="34" charset="-122"/>
                <a:cs typeface="Arial" pitchFamily="34" charset="-120"/>
              </a:rPr>
              <a:t>Automa directly-follows</a:t>
            </a:r>
            <a:endParaRPr lang="en-US" sz="2550" dirty="0"/>
          </a:p>
        </p:txBody>
      </p:sp>
      <p:sp>
        <p:nvSpPr>
          <p:cNvPr id="35" name="Text 33"/>
          <p:cNvSpPr/>
          <p:nvPr/>
        </p:nvSpPr>
        <p:spPr>
          <a:xfrm>
            <a:off x="9448800" y="4867275"/>
            <a:ext cx="8123301" cy="1198066"/>
          </a:xfrm>
          <a:prstGeom prst="rect">
            <a:avLst/>
          </a:prstGeom>
          <a:noFill/>
          <a:ln/>
        </p:spPr>
        <p:txBody>
          <a:bodyPr wrap="square" lIns="25400" tIns="25400" rIns="25400" bIns="25400" rtlCol="0" anchor="t">
            <a:normAutofit/>
          </a:bodyPr>
          <a:lstStyle/>
          <a:p>
            <a:pPr marL="0" indent="0" algn="l">
              <a:lnSpc>
                <a:spcPct val="126875"/>
              </a:lnSpc>
              <a:buNone/>
            </a:pPr>
            <a:r>
              <a:rPr lang="en-US" sz="2100" dirty="0">
                <a:solidFill>
                  <a:srgbClr val="52514E"/>
                </a:solidFill>
                <a:latin typeface="Arial" pitchFamily="34" charset="0"/>
                <a:ea typeface="Arial" pitchFamily="34" charset="-122"/>
                <a:cs typeface="Arial" pitchFamily="34" charset="-120"/>
              </a:rPr>
              <a:t>Coppie </a:t>
            </a:r>
            <a:r>
              <a:rPr lang="en-US" sz="2100" dirty="0">
                <a:solidFill>
                  <a:srgbClr val="0B0B0B"/>
                </a:solidFill>
                <a:latin typeface="Courier New" pitchFamily="34" charset="0"/>
                <a:ea typeface="Courier New" pitchFamily="34" charset="-122"/>
                <a:cs typeface="Courier New" pitchFamily="34" charset="-120"/>
              </a:rPr>
              <a:t>(a, b) </a:t>
            </a:r>
            <a:r>
              <a:rPr lang="en-US" sz="2100" dirty="0">
                <a:solidFill>
                  <a:srgbClr val="52514E"/>
                </a:solidFill>
                <a:latin typeface="Arial" pitchFamily="34" charset="0"/>
                <a:ea typeface="Arial" pitchFamily="34" charset="-122"/>
                <a:cs typeface="Arial" pitchFamily="34" charset="-120"/>
              </a:rPr>
              <a:t>osservate nel train. Maschera </a:t>
            </a:r>
            <a:r>
              <a:rPr lang="en-US" sz="2100" dirty="0">
                <a:solidFill>
                  <a:srgbClr val="0B0B0B"/>
                </a:solidFill>
                <a:latin typeface="Courier New" pitchFamily="34" charset="0"/>
                <a:ea typeface="Courier New" pitchFamily="34" charset="-122"/>
                <a:cs typeface="Courier New" pitchFamily="34" charset="-120"/>
              </a:rPr>
              <a:t>allowed[ultimo token, candidata] </a:t>
            </a:r>
            <a:r>
              <a:rPr lang="en-US" sz="2100" dirty="0">
                <a:solidFill>
                  <a:srgbClr val="52514E"/>
                </a:solidFill>
                <a:latin typeface="Arial" pitchFamily="34" charset="0"/>
                <a:ea typeface="Arial" pitchFamily="34" charset="-122"/>
                <a:cs typeface="Arial" pitchFamily="34" charset="-120"/>
              </a:rPr>
              <a:t>, su Sepsis 18 × 16: dice quali attività possono seguire quella appena vista.</a:t>
            </a:r>
            <a:endParaRPr lang="en-US" sz="2100" dirty="0"/>
          </a:p>
        </p:txBody>
      </p:sp>
      <p:sp>
        <p:nvSpPr>
          <p:cNvPr id="36" name="Shape 34"/>
          <p:cNvSpPr/>
          <p:nvPr/>
        </p:nvSpPr>
        <p:spPr>
          <a:xfrm>
            <a:off x="9448800" y="6408241"/>
            <a:ext cx="7886700" cy="28575"/>
          </a:xfrm>
          <a:prstGeom prst="rect">
            <a:avLst/>
          </a:prstGeom>
          <a:solidFill>
            <a:srgbClr val="0B0B0B"/>
          </a:solidFill>
          <a:ln/>
        </p:spPr>
        <p:txBody>
          <a:bodyPr/>
          <a:lstStyle/>
          <a:p>
            <a:endParaRPr lang="en-US"/>
          </a:p>
        </p:txBody>
      </p:sp>
      <p:sp>
        <p:nvSpPr>
          <p:cNvPr id="37" name="Text 35"/>
          <p:cNvSpPr/>
          <p:nvPr/>
        </p:nvSpPr>
        <p:spPr>
          <a:xfrm>
            <a:off x="9448800" y="6684466"/>
            <a:ext cx="8675370" cy="409575"/>
          </a:xfrm>
          <a:prstGeom prst="rect">
            <a:avLst/>
          </a:prstGeom>
          <a:noFill/>
          <a:ln/>
        </p:spPr>
        <p:txBody>
          <a:bodyPr wrap="square" lIns="25400" tIns="25400" rIns="25400" bIns="25400" rtlCol="0" anchor="t">
            <a:normAutofit/>
          </a:bodyPr>
          <a:lstStyle/>
          <a:p>
            <a:pPr marL="0" indent="0" algn="l">
              <a:buNone/>
            </a:pPr>
            <a:r>
              <a:rPr lang="en-US" sz="2550" b="1" dirty="0">
                <a:solidFill>
                  <a:srgbClr val="0B0B0B"/>
                </a:solidFill>
                <a:latin typeface="Arial" pitchFamily="34" charset="0"/>
                <a:ea typeface="Arial" pitchFamily="34" charset="-122"/>
                <a:cs typeface="Arial" pitchFamily="34" charset="-120"/>
              </a:rPr>
              <a:t>Rete di Petri</a:t>
            </a:r>
            <a:endParaRPr lang="en-US" sz="2550" dirty="0"/>
          </a:p>
        </p:txBody>
      </p:sp>
      <p:sp>
        <p:nvSpPr>
          <p:cNvPr id="38" name="Text 36"/>
          <p:cNvSpPr/>
          <p:nvPr/>
        </p:nvSpPr>
        <p:spPr>
          <a:xfrm>
            <a:off x="9448800" y="7265491"/>
            <a:ext cx="8123301" cy="1198066"/>
          </a:xfrm>
          <a:prstGeom prst="rect">
            <a:avLst/>
          </a:prstGeom>
          <a:noFill/>
          <a:ln/>
        </p:spPr>
        <p:txBody>
          <a:bodyPr wrap="square" lIns="25400" tIns="25400" rIns="25400" bIns="25400" rtlCol="0" anchor="t">
            <a:normAutofit/>
          </a:bodyPr>
          <a:lstStyle/>
          <a:p>
            <a:pPr marL="0" indent="0" algn="l">
              <a:lnSpc>
                <a:spcPct val="126875"/>
              </a:lnSpc>
              <a:buNone/>
            </a:pPr>
            <a:r>
              <a:rPr lang="en-US" sz="2100" dirty="0">
                <a:solidFill>
                  <a:srgbClr val="52514E"/>
                </a:solidFill>
                <a:latin typeface="Arial" pitchFamily="34" charset="0"/>
                <a:ea typeface="Arial" pitchFamily="34" charset="-122"/>
                <a:cs typeface="Arial" pitchFamily="34" charset="-120"/>
              </a:rPr>
              <a:t>Inductive miner sul solo train. Su Sepsis: 26 posti, 34 transizioni di cui 19 silenti, 80 archi. Il token replay del prefisso produce il marking, un vettore di 26 posizioni.</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2568625"/>
            <a:ext cx="8905875"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52514E"/>
                </a:solidFill>
                <a:latin typeface="Courier New" pitchFamily="34" charset="0"/>
                <a:ea typeface="Courier New" pitchFamily="34" charset="-122"/>
                <a:cs typeface="Courier New" pitchFamily="34" charset="-120"/>
              </a:rPr>
              <a:t>MODELLO 1 DI 5</a:t>
            </a:r>
            <a:endParaRPr lang="en-US" sz="1950" dirty="0"/>
          </a:p>
        </p:txBody>
      </p:sp>
      <p:sp>
        <p:nvSpPr>
          <p:cNvPr id="3" name="Text 1"/>
          <p:cNvSpPr/>
          <p:nvPr/>
        </p:nvSpPr>
        <p:spPr>
          <a:xfrm>
            <a:off x="857250" y="3197275"/>
            <a:ext cx="8905875" cy="695325"/>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Baseline: nessuna conoscenza</a:t>
            </a:r>
            <a:endParaRPr lang="en-US" sz="4500" dirty="0"/>
          </a:p>
        </p:txBody>
      </p:sp>
      <p:sp>
        <p:nvSpPr>
          <p:cNvPr id="4" name="Shape 2"/>
          <p:cNvSpPr/>
          <p:nvPr/>
        </p:nvSpPr>
        <p:spPr>
          <a:xfrm>
            <a:off x="857250" y="4159300"/>
            <a:ext cx="8096250" cy="1337072"/>
          </a:xfrm>
          <a:prstGeom prst="rect">
            <a:avLst/>
          </a:prstGeom>
          <a:solidFill>
            <a:srgbClr val="EEEDE9"/>
          </a:solidFill>
          <a:ln w="9525">
            <a:solidFill>
              <a:srgbClr val="B9B8B1"/>
            </a:solidFill>
            <a:prstDash val="solid"/>
          </a:ln>
        </p:spPr>
        <p:txBody>
          <a:bodyPr/>
          <a:lstStyle/>
          <a:p>
            <a:endParaRPr lang="en-US"/>
          </a:p>
        </p:txBody>
      </p:sp>
      <p:sp>
        <p:nvSpPr>
          <p:cNvPr id="5" name="Text 3"/>
          <p:cNvSpPr/>
          <p:nvPr/>
        </p:nvSpPr>
        <p:spPr>
          <a:xfrm>
            <a:off x="1133475" y="4416475"/>
            <a:ext cx="7786688" cy="860822"/>
          </a:xfrm>
          <a:prstGeom prst="rect">
            <a:avLst/>
          </a:prstGeom>
          <a:noFill/>
          <a:ln/>
        </p:spPr>
        <p:txBody>
          <a:bodyPr wrap="square" lIns="25400" tIns="25400" rIns="25400" bIns="25400" rtlCol="0" anchor="t">
            <a:normAutofit/>
          </a:bodyPr>
          <a:lstStyle/>
          <a:p>
            <a:pPr marL="0" indent="0" algn="l">
              <a:lnSpc>
                <a:spcPct val="144000"/>
              </a:lnSpc>
              <a:buNone/>
            </a:pPr>
            <a:r>
              <a:rPr lang="en-US" sz="2025" dirty="0">
                <a:solidFill>
                  <a:srgbClr val="0B0B0B"/>
                </a:solidFill>
                <a:latin typeface="Courier New" pitchFamily="34" charset="0"/>
                <a:ea typeface="Courier New" pitchFamily="34" charset="-122"/>
                <a:cs typeface="Courier New" pitchFamily="34" charset="-120"/>
              </a:rPr>
              <a:t>token → embedding 32 → GRU/LSTM 64 (packed) → dropout 0.2 → Linear → softmax</a:t>
            </a:r>
            <a:endParaRPr lang="en-US" sz="2025" dirty="0"/>
          </a:p>
        </p:txBody>
      </p:sp>
      <p:sp>
        <p:nvSpPr>
          <p:cNvPr id="6" name="Text 4"/>
          <p:cNvSpPr/>
          <p:nvPr/>
        </p:nvSpPr>
        <p:spPr>
          <a:xfrm>
            <a:off x="857250" y="5801171"/>
            <a:ext cx="8905875" cy="452438"/>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52514E"/>
                </a:solidFill>
                <a:latin typeface="Arial" pitchFamily="34" charset="0"/>
                <a:ea typeface="Arial" pitchFamily="34" charset="-122"/>
                <a:cs typeface="Arial" pitchFamily="34" charset="-120"/>
              </a:rPr>
              <a:t>Il modello di base usato per comparare gli altri modelli.</a:t>
            </a:r>
            <a:endParaRPr lang="en-US" sz="2250" dirty="0"/>
          </a:p>
        </p:txBody>
      </p:sp>
      <p:sp>
        <p:nvSpPr>
          <p:cNvPr id="7" name="Shape 5"/>
          <p:cNvSpPr/>
          <p:nvPr/>
        </p:nvSpPr>
        <p:spPr>
          <a:xfrm>
            <a:off x="857250" y="7129909"/>
            <a:ext cx="8096250" cy="9525"/>
          </a:xfrm>
          <a:prstGeom prst="rect">
            <a:avLst/>
          </a:prstGeom>
          <a:solidFill>
            <a:srgbClr val="B9B8B1"/>
          </a:solidFill>
          <a:ln/>
        </p:spPr>
        <p:txBody>
          <a:bodyPr/>
          <a:lstStyle/>
          <a:p>
            <a:endParaRPr lang="en-US"/>
          </a:p>
        </p:txBody>
      </p:sp>
      <p:sp>
        <p:nvSpPr>
          <p:cNvPr id="8" name="Text 6"/>
          <p:cNvSpPr/>
          <p:nvPr/>
        </p:nvSpPr>
        <p:spPr>
          <a:xfrm>
            <a:off x="857250" y="7291834"/>
            <a:ext cx="8339137" cy="655141"/>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52514E"/>
                </a:solidFill>
                <a:latin typeface="Courier New" pitchFamily="34" charset="0"/>
                <a:ea typeface="Courier New" pitchFamily="34" charset="-122"/>
                <a:cs typeface="Courier New" pitchFamily="34" charset="-120"/>
              </a:rPr>
              <a:t>Di Francescomarino, Donadello, Maggi — Predictive Process Monitoring</a:t>
            </a:r>
            <a:endParaRPr lang="en-US" sz="1800" dirty="0"/>
          </a:p>
        </p:txBody>
      </p:sp>
      <p:pic>
        <p:nvPicPr>
          <p:cNvPr id="9" name="Image 0" descr="preencoded.png"/>
          <p:cNvPicPr>
            <a:picLocks noChangeAspect="1"/>
          </p:cNvPicPr>
          <p:nvPr/>
        </p:nvPicPr>
        <p:blipFill>
          <a:blip r:embed="rId3"/>
          <a:srcRect l="-450" r="-450"/>
          <a:stretch/>
        </p:blipFill>
        <p:spPr>
          <a:xfrm>
            <a:off x="9525000" y="762000"/>
            <a:ext cx="7905750" cy="895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2459087"/>
            <a:ext cx="8905875"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52514E"/>
                </a:solidFill>
                <a:latin typeface="Courier New" pitchFamily="34" charset="0"/>
                <a:ea typeface="Courier New" pitchFamily="34" charset="-122"/>
                <a:cs typeface="Courier New" pitchFamily="34" charset="-120"/>
              </a:rPr>
              <a:t>MODELLO 2 DI 5</a:t>
            </a:r>
            <a:endParaRPr lang="en-US" sz="1950" dirty="0"/>
          </a:p>
        </p:txBody>
      </p:sp>
      <p:sp>
        <p:nvSpPr>
          <p:cNvPr id="3" name="Text 1"/>
          <p:cNvSpPr/>
          <p:nvPr/>
        </p:nvSpPr>
        <p:spPr>
          <a:xfrm>
            <a:off x="857250" y="3087737"/>
            <a:ext cx="8905875" cy="695325"/>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Checker: conoscenza nella loss</a:t>
            </a:r>
            <a:endParaRPr lang="en-US" sz="4500" dirty="0"/>
          </a:p>
        </p:txBody>
      </p:sp>
      <p:sp>
        <p:nvSpPr>
          <p:cNvPr id="4" name="Shape 2"/>
          <p:cNvSpPr/>
          <p:nvPr/>
        </p:nvSpPr>
        <p:spPr>
          <a:xfrm>
            <a:off x="857250" y="4049762"/>
            <a:ext cx="8096250" cy="1337072"/>
          </a:xfrm>
          <a:prstGeom prst="rect">
            <a:avLst/>
          </a:prstGeom>
          <a:solidFill>
            <a:srgbClr val="EEEDE9"/>
          </a:solidFill>
          <a:ln w="9525">
            <a:solidFill>
              <a:srgbClr val="B9B8B1"/>
            </a:solidFill>
            <a:prstDash val="solid"/>
          </a:ln>
        </p:spPr>
        <p:txBody>
          <a:bodyPr/>
          <a:lstStyle/>
          <a:p>
            <a:endParaRPr lang="en-US"/>
          </a:p>
        </p:txBody>
      </p:sp>
      <p:sp>
        <p:nvSpPr>
          <p:cNvPr id="5" name="Text 3"/>
          <p:cNvSpPr/>
          <p:nvPr/>
        </p:nvSpPr>
        <p:spPr>
          <a:xfrm>
            <a:off x="1133475" y="4306937"/>
            <a:ext cx="7786688" cy="860822"/>
          </a:xfrm>
          <a:prstGeom prst="rect">
            <a:avLst/>
          </a:prstGeom>
          <a:noFill/>
          <a:ln/>
        </p:spPr>
        <p:txBody>
          <a:bodyPr wrap="square" lIns="25400" tIns="25400" rIns="25400" bIns="25400" rtlCol="0" anchor="t">
            <a:normAutofit/>
          </a:bodyPr>
          <a:lstStyle/>
          <a:p>
            <a:pPr marL="0" indent="0" algn="l">
              <a:lnSpc>
                <a:spcPct val="144000"/>
              </a:lnSpc>
              <a:buNone/>
            </a:pPr>
            <a:r>
              <a:rPr lang="en-US" sz="2025" dirty="0">
                <a:solidFill>
                  <a:srgbClr val="0B0B0B"/>
                </a:solidFill>
                <a:latin typeface="Courier New" pitchFamily="34" charset="0"/>
                <a:ea typeface="Courier New" pitchFamily="34" charset="-122"/>
                <a:cs typeface="Courier New" pitchFamily="34" charset="-120"/>
              </a:rPr>
              <a:t>loss = cross-entropy + λ · Σ softmax(logits) sulle attività vietate dal DFA</a:t>
            </a:r>
            <a:endParaRPr lang="en-US" sz="2025" dirty="0"/>
          </a:p>
        </p:txBody>
      </p:sp>
      <p:sp>
        <p:nvSpPr>
          <p:cNvPr id="6" name="Text 4"/>
          <p:cNvSpPr/>
          <p:nvPr/>
        </p:nvSpPr>
        <p:spPr>
          <a:xfrm>
            <a:off x="857250" y="5691634"/>
            <a:ext cx="8339137" cy="1281113"/>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52514E"/>
                </a:solidFill>
                <a:latin typeface="Arial" pitchFamily="34" charset="0"/>
                <a:ea typeface="Arial" pitchFamily="34" charset="-122"/>
                <a:cs typeface="Arial" pitchFamily="34" charset="-120"/>
              </a:rPr>
              <a:t>Il termine simbolico misura la massa di probabilità vietata: quanta probabilità il modello mette su attività che l'automa dichiara impossibili dopo l'ultimo token osservato.</a:t>
            </a:r>
            <a:endParaRPr lang="en-US" sz="2250" dirty="0"/>
          </a:p>
        </p:txBody>
      </p:sp>
      <p:sp>
        <p:nvSpPr>
          <p:cNvPr id="7" name="Shape 5"/>
          <p:cNvSpPr/>
          <p:nvPr/>
        </p:nvSpPr>
        <p:spPr>
          <a:xfrm>
            <a:off x="857250" y="7239446"/>
            <a:ext cx="8096250" cy="9525"/>
          </a:xfrm>
          <a:prstGeom prst="rect">
            <a:avLst/>
          </a:prstGeom>
          <a:solidFill>
            <a:srgbClr val="B9B8B1"/>
          </a:solidFill>
          <a:ln/>
        </p:spPr>
        <p:txBody>
          <a:bodyPr/>
          <a:lstStyle/>
          <a:p>
            <a:endParaRPr lang="en-US"/>
          </a:p>
        </p:txBody>
      </p:sp>
      <p:sp>
        <p:nvSpPr>
          <p:cNvPr id="8" name="Text 6"/>
          <p:cNvSpPr/>
          <p:nvPr/>
        </p:nvSpPr>
        <p:spPr>
          <a:xfrm>
            <a:off x="857250" y="7401371"/>
            <a:ext cx="8339137" cy="655141"/>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52514E"/>
                </a:solidFill>
                <a:latin typeface="Courier New" pitchFamily="34" charset="0"/>
                <a:ea typeface="Courier New" pitchFamily="34" charset="-122"/>
                <a:cs typeface="Courier New" pitchFamily="34" charset="-120"/>
              </a:rPr>
              <a:t>Xie, Zhou, Soh — Embedding Symbolic Temporal Knowledge into Deep Sequential Models (NUS)</a:t>
            </a:r>
            <a:endParaRPr lang="en-US" sz="1800" dirty="0"/>
          </a:p>
        </p:txBody>
      </p:sp>
      <p:pic>
        <p:nvPicPr>
          <p:cNvPr id="9" name="Image 0" descr="preencoded.png"/>
          <p:cNvPicPr>
            <a:picLocks noChangeAspect="1"/>
          </p:cNvPicPr>
          <p:nvPr/>
        </p:nvPicPr>
        <p:blipFill>
          <a:blip r:embed="rId3"/>
          <a:srcRect l="-450" r="-450"/>
          <a:stretch/>
        </p:blipFill>
        <p:spPr>
          <a:xfrm>
            <a:off x="9525000" y="762000"/>
            <a:ext cx="7905750" cy="895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2382738"/>
            <a:ext cx="8905875"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52514E"/>
                </a:solidFill>
                <a:latin typeface="Courier New" pitchFamily="34" charset="0"/>
                <a:ea typeface="Courier New" pitchFamily="34" charset="-122"/>
                <a:cs typeface="Courier New" pitchFamily="34" charset="-120"/>
              </a:rPr>
              <a:t>MODELLO 3 DI 5</a:t>
            </a:r>
            <a:endParaRPr lang="en-US" sz="1950" dirty="0"/>
          </a:p>
        </p:txBody>
      </p:sp>
      <p:sp>
        <p:nvSpPr>
          <p:cNvPr id="3" name="Text 1"/>
          <p:cNvSpPr/>
          <p:nvPr/>
        </p:nvSpPr>
        <p:spPr>
          <a:xfrm>
            <a:off x="857250" y="3011388"/>
            <a:ext cx="8339137" cy="1352550"/>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Marking: conoscenza come feature</a:t>
            </a:r>
            <a:endParaRPr lang="en-US" sz="4500" dirty="0"/>
          </a:p>
        </p:txBody>
      </p:sp>
      <p:sp>
        <p:nvSpPr>
          <p:cNvPr id="4" name="Text 2"/>
          <p:cNvSpPr/>
          <p:nvPr/>
        </p:nvSpPr>
        <p:spPr>
          <a:xfrm>
            <a:off x="857250" y="4630638"/>
            <a:ext cx="8339137" cy="2109788"/>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52514E"/>
                </a:solidFill>
                <a:latin typeface="Arial" pitchFamily="34" charset="0"/>
                <a:ea typeface="Arial" pitchFamily="34" charset="-122"/>
                <a:cs typeface="Arial" pitchFamily="34" charset="-120"/>
              </a:rPr>
              <a:t>Una GRU identica al baseline legge i token del prefisso; in parallelo lo stesso prefisso viene rigiocato sulla rete di Petri (token replay), e lo stato raggiunto (26 per Sepsis) viene concatenato allo stato finale della GRU. Il vettore finale passa quindi da 64 a 90 features.</a:t>
            </a:r>
            <a:endParaRPr lang="en-US" sz="2250" dirty="0"/>
          </a:p>
        </p:txBody>
      </p:sp>
      <p:sp>
        <p:nvSpPr>
          <p:cNvPr id="5" name="Shape 3"/>
          <p:cNvSpPr/>
          <p:nvPr/>
        </p:nvSpPr>
        <p:spPr>
          <a:xfrm>
            <a:off x="857250" y="7007126"/>
            <a:ext cx="8096250" cy="9525"/>
          </a:xfrm>
          <a:prstGeom prst="rect">
            <a:avLst/>
          </a:prstGeom>
          <a:solidFill>
            <a:srgbClr val="B9B8B1"/>
          </a:solidFill>
          <a:ln/>
        </p:spPr>
        <p:txBody>
          <a:bodyPr/>
          <a:lstStyle/>
          <a:p>
            <a:endParaRPr lang="en-US"/>
          </a:p>
        </p:txBody>
      </p:sp>
      <p:sp>
        <p:nvSpPr>
          <p:cNvPr id="6" name="Text 4"/>
          <p:cNvSpPr/>
          <p:nvPr/>
        </p:nvSpPr>
        <p:spPr>
          <a:xfrm>
            <a:off x="857250" y="7169051"/>
            <a:ext cx="8339137" cy="963662"/>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52514E"/>
                </a:solidFill>
                <a:latin typeface="Courier New" pitchFamily="34" charset="0"/>
                <a:ea typeface="Courier New" pitchFamily="34" charset="-122"/>
                <a:cs typeface="Courier New" pitchFamily="34" charset="-120"/>
              </a:rPr>
              <a:t>Rama-Maneiro, Vidal, Lama — Embedding Graph Convolutional Networks in Recurrent Neural Networks for Predictive Monitoring</a:t>
            </a:r>
            <a:endParaRPr lang="en-US" sz="1800" dirty="0"/>
          </a:p>
        </p:txBody>
      </p:sp>
      <p:pic>
        <p:nvPicPr>
          <p:cNvPr id="7" name="Image 0" descr="preencoded.png"/>
          <p:cNvPicPr>
            <a:picLocks noChangeAspect="1"/>
          </p:cNvPicPr>
          <p:nvPr/>
        </p:nvPicPr>
        <p:blipFill>
          <a:blip r:embed="rId3"/>
          <a:srcRect l="-450" r="-450"/>
          <a:stretch/>
        </p:blipFill>
        <p:spPr>
          <a:xfrm>
            <a:off x="9525000" y="762000"/>
            <a:ext cx="7905750" cy="895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1854101"/>
            <a:ext cx="8905875"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52514E"/>
                </a:solidFill>
                <a:latin typeface="Courier New" pitchFamily="34" charset="0"/>
                <a:ea typeface="Courier New" pitchFamily="34" charset="-122"/>
                <a:cs typeface="Courier New" pitchFamily="34" charset="-120"/>
              </a:rPr>
              <a:t>MODELLO 4 DI 5</a:t>
            </a:r>
            <a:endParaRPr lang="en-US" sz="1950" dirty="0"/>
          </a:p>
        </p:txBody>
      </p:sp>
      <p:sp>
        <p:nvSpPr>
          <p:cNvPr id="3" name="Text 1"/>
          <p:cNvSpPr/>
          <p:nvPr/>
        </p:nvSpPr>
        <p:spPr>
          <a:xfrm>
            <a:off x="857250" y="2463701"/>
            <a:ext cx="8339137" cy="1352550"/>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GNN eterogenea sul grafo della rete</a:t>
            </a:r>
            <a:endParaRPr lang="en-US" sz="4500" dirty="0"/>
          </a:p>
        </p:txBody>
      </p:sp>
      <p:sp>
        <p:nvSpPr>
          <p:cNvPr id="4" name="Text 2"/>
          <p:cNvSpPr/>
          <p:nvPr/>
        </p:nvSpPr>
        <p:spPr>
          <a:xfrm>
            <a:off x="857250" y="4063901"/>
            <a:ext cx="8339137" cy="2938463"/>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52514E"/>
                </a:solidFill>
                <a:latin typeface="Arial" pitchFamily="34" charset="0"/>
                <a:ea typeface="Arial" pitchFamily="34" charset="-122"/>
                <a:cs typeface="Arial" pitchFamily="34" charset="-120"/>
              </a:rPr>
              <a:t>Il marking derivato dalla Petri Net diventa il grafo bipartito della rete attraverso una GNN. Ogni posto è un nodo e viene fatto passare attraverso le transizioni per ottenere un nuovo posto. Un max comprime il risultato in un vettore da 64 che prende il posto del marking grezzo. Quindi la GNN trasforma dove sono i token in cosa può succedere dopo. Il vettore finale passa quindi da 64 a 128 features.</a:t>
            </a:r>
            <a:endParaRPr lang="en-US" sz="2250" dirty="0"/>
          </a:p>
        </p:txBody>
      </p:sp>
      <p:sp>
        <p:nvSpPr>
          <p:cNvPr id="5" name="Shape 3"/>
          <p:cNvSpPr/>
          <p:nvPr/>
        </p:nvSpPr>
        <p:spPr>
          <a:xfrm>
            <a:off x="857250" y="7535763"/>
            <a:ext cx="8096250" cy="9525"/>
          </a:xfrm>
          <a:prstGeom prst="rect">
            <a:avLst/>
          </a:prstGeom>
          <a:solidFill>
            <a:srgbClr val="B9B8B1"/>
          </a:solidFill>
          <a:ln/>
        </p:spPr>
        <p:txBody>
          <a:bodyPr/>
          <a:lstStyle/>
          <a:p>
            <a:endParaRPr lang="en-US"/>
          </a:p>
        </p:txBody>
      </p:sp>
      <p:sp>
        <p:nvSpPr>
          <p:cNvPr id="6" name="Text 4"/>
          <p:cNvSpPr/>
          <p:nvPr/>
        </p:nvSpPr>
        <p:spPr>
          <a:xfrm>
            <a:off x="857250" y="7697688"/>
            <a:ext cx="8339137" cy="963662"/>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52514E"/>
                </a:solidFill>
                <a:latin typeface="Courier New" pitchFamily="34" charset="0"/>
                <a:ea typeface="Courier New" pitchFamily="34" charset="-122"/>
                <a:cs typeface="Courier New" pitchFamily="34" charset="-120"/>
              </a:rPr>
              <a:t>Rama-Maneiro, Vidal, Lama — Embedding Graph Convolutional Networks in Recurrent Neural Networks for Predictive Monitoring</a:t>
            </a:r>
            <a:endParaRPr lang="en-US" sz="1800" dirty="0"/>
          </a:p>
        </p:txBody>
      </p:sp>
      <p:pic>
        <p:nvPicPr>
          <p:cNvPr id="7" name="Image 0" descr="preencoded.png"/>
          <p:cNvPicPr>
            <a:picLocks noChangeAspect="1"/>
          </p:cNvPicPr>
          <p:nvPr/>
        </p:nvPicPr>
        <p:blipFill>
          <a:blip r:embed="rId3"/>
          <a:srcRect l="-450" r="-450"/>
          <a:stretch/>
        </p:blipFill>
        <p:spPr>
          <a:xfrm>
            <a:off x="9525000" y="762000"/>
            <a:ext cx="7905750" cy="895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1789807"/>
            <a:ext cx="8905875" cy="36195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52514E"/>
                </a:solidFill>
                <a:latin typeface="Courier New" pitchFamily="34" charset="0"/>
                <a:ea typeface="Courier New" pitchFamily="34" charset="-122"/>
                <a:cs typeface="Courier New" pitchFamily="34" charset="-120"/>
              </a:rPr>
              <a:t>MODELLO 5 DI 5</a:t>
            </a:r>
            <a:endParaRPr lang="en-US" sz="1950" dirty="0"/>
          </a:p>
        </p:txBody>
      </p:sp>
      <p:sp>
        <p:nvSpPr>
          <p:cNvPr id="3" name="Text 1"/>
          <p:cNvSpPr/>
          <p:nvPr/>
        </p:nvSpPr>
        <p:spPr>
          <a:xfrm>
            <a:off x="857250" y="2399407"/>
            <a:ext cx="8339137" cy="1352550"/>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Sequenza di marking: aggiungere il tempo</a:t>
            </a:r>
            <a:endParaRPr lang="en-US" sz="4500" dirty="0"/>
          </a:p>
        </p:txBody>
      </p:sp>
      <p:sp>
        <p:nvSpPr>
          <p:cNvPr id="4" name="Text 2"/>
          <p:cNvSpPr/>
          <p:nvPr/>
        </p:nvSpPr>
        <p:spPr>
          <a:xfrm>
            <a:off x="857250" y="3999607"/>
            <a:ext cx="8339137" cy="3352800"/>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52514E"/>
                </a:solidFill>
                <a:latin typeface="Arial" pitchFamily="34" charset="0"/>
                <a:ea typeface="Arial" pitchFamily="34" charset="-122"/>
                <a:cs typeface="Arial" pitchFamily="34" charset="-120"/>
              </a:rPr>
              <a:t>Invece di un solo marking, il modello 5 riceve la sequenza: un marking per ogni evento del prefisso. La stessa GNN del modello 4 viene applicata a ciascuno, quindi ogni passo produce il suo vettore da 64, e una GRU interna li legge in ordine. L'ultimo stato, sempre 64, prende il posto del readout singolo. Quindi la GNN dice cosa può succedere dopo, la GRU interna in che ordine ci si è arrivati. Il vettore finale passa da 64 a 128 features.</a:t>
            </a:r>
            <a:endParaRPr lang="en-US" sz="2250" dirty="0"/>
          </a:p>
        </p:txBody>
      </p:sp>
      <p:sp>
        <p:nvSpPr>
          <p:cNvPr id="5" name="Shape 3"/>
          <p:cNvSpPr/>
          <p:nvPr/>
        </p:nvSpPr>
        <p:spPr>
          <a:xfrm>
            <a:off x="857250" y="7600057"/>
            <a:ext cx="8096250" cy="9525"/>
          </a:xfrm>
          <a:prstGeom prst="rect">
            <a:avLst/>
          </a:prstGeom>
          <a:solidFill>
            <a:srgbClr val="B9B8B1"/>
          </a:solidFill>
          <a:ln/>
        </p:spPr>
        <p:txBody>
          <a:bodyPr/>
          <a:lstStyle/>
          <a:p>
            <a:endParaRPr lang="en-US"/>
          </a:p>
        </p:txBody>
      </p:sp>
      <p:sp>
        <p:nvSpPr>
          <p:cNvPr id="6" name="Text 4"/>
          <p:cNvSpPr/>
          <p:nvPr/>
        </p:nvSpPr>
        <p:spPr>
          <a:xfrm>
            <a:off x="857250" y="7761982"/>
            <a:ext cx="8339137" cy="963662"/>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52514E"/>
                </a:solidFill>
                <a:latin typeface="Courier New" pitchFamily="34" charset="0"/>
                <a:ea typeface="Courier New" pitchFamily="34" charset="-122"/>
                <a:cs typeface="Courier New" pitchFamily="34" charset="-120"/>
              </a:rPr>
              <a:t>Rama-Maneiro, Vidal, Lama — Embedding Graph Convolutional Networks in Recurrent Neural Networks for Predictive Monitoring</a:t>
            </a:r>
            <a:endParaRPr lang="en-US" sz="1800" dirty="0"/>
          </a:p>
        </p:txBody>
      </p:sp>
      <p:pic>
        <p:nvPicPr>
          <p:cNvPr id="7" name="Image 0" descr="preencoded.png"/>
          <p:cNvPicPr>
            <a:picLocks noChangeAspect="1"/>
          </p:cNvPicPr>
          <p:nvPr/>
        </p:nvPicPr>
        <p:blipFill>
          <a:blip r:embed="rId3"/>
          <a:srcRect l="-450" r="-450"/>
          <a:stretch/>
        </p:blipFill>
        <p:spPr>
          <a:xfrm>
            <a:off x="9525000" y="762000"/>
            <a:ext cx="7905750" cy="895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695325"/>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Come sono stati lanciati gli esperimenti</a:t>
            </a:r>
            <a:endParaRPr lang="en-US" sz="4500" dirty="0"/>
          </a:p>
        </p:txBody>
      </p:sp>
      <p:sp>
        <p:nvSpPr>
          <p:cNvPr id="3" name="Text 1"/>
          <p:cNvSpPr/>
          <p:nvPr/>
        </p:nvSpPr>
        <p:spPr>
          <a:xfrm>
            <a:off x="1143000" y="2066925"/>
            <a:ext cx="319980" cy="552450"/>
          </a:xfrm>
          <a:prstGeom prst="rect">
            <a:avLst/>
          </a:prstGeom>
          <a:noFill/>
          <a:ln/>
        </p:spPr>
        <p:txBody>
          <a:bodyPr wrap="none" lIns="25400" tIns="25400" rIns="25400" bIns="25400" rtlCol="0" anchor="t">
            <a:normAutofit/>
          </a:bodyPr>
          <a:lstStyle/>
          <a:p>
            <a:pPr marL="0" indent="0" algn="l">
              <a:buNone/>
            </a:pPr>
            <a:r>
              <a:rPr lang="en-US" sz="3450" b="1" dirty="0">
                <a:solidFill>
                  <a:srgbClr val="0B0B0B"/>
                </a:solidFill>
                <a:latin typeface="Arial" pitchFamily="34" charset="0"/>
                <a:ea typeface="Arial" pitchFamily="34" charset="-122"/>
                <a:cs typeface="Arial" pitchFamily="34" charset="-120"/>
              </a:rPr>
              <a:t>3</a:t>
            </a:r>
            <a:endParaRPr lang="en-US" sz="3450" dirty="0"/>
          </a:p>
        </p:txBody>
      </p:sp>
      <p:sp>
        <p:nvSpPr>
          <p:cNvPr id="4" name="Text 2"/>
          <p:cNvSpPr/>
          <p:nvPr/>
        </p:nvSpPr>
        <p:spPr>
          <a:xfrm>
            <a:off x="1558230" y="2162175"/>
            <a:ext cx="1108323" cy="438150"/>
          </a:xfrm>
          <a:prstGeom prst="rect">
            <a:avLst/>
          </a:prstGeom>
          <a:noFill/>
          <a:ln/>
        </p:spPr>
        <p:txBody>
          <a:bodyPr wrap="none" lIns="25400" tIns="25400" rIns="25400" bIns="25400" rtlCol="0" anchor="t">
            <a:normAutofit/>
          </a:bodyPr>
          <a:lstStyle/>
          <a:p>
            <a:pPr marL="0" indent="0" algn="l">
              <a:buNone/>
            </a:pPr>
            <a:r>
              <a:rPr lang="en-US" sz="2400" dirty="0">
                <a:solidFill>
                  <a:srgbClr val="52514E"/>
                </a:solidFill>
                <a:latin typeface="Arial" pitchFamily="34" charset="0"/>
                <a:ea typeface="Arial" pitchFamily="34" charset="-122"/>
                <a:cs typeface="Arial" pitchFamily="34" charset="-120"/>
              </a:rPr>
              <a:t>dataset</a:t>
            </a:r>
            <a:endParaRPr lang="en-US" sz="2400" dirty="0"/>
          </a:p>
        </p:txBody>
      </p:sp>
      <p:sp>
        <p:nvSpPr>
          <p:cNvPr id="5" name="Text 3"/>
          <p:cNvSpPr/>
          <p:nvPr/>
        </p:nvSpPr>
        <p:spPr>
          <a:xfrm>
            <a:off x="2761804" y="2162175"/>
            <a:ext cx="259110" cy="438150"/>
          </a:xfrm>
          <a:prstGeom prst="rect">
            <a:avLst/>
          </a:prstGeom>
          <a:noFill/>
          <a:ln/>
        </p:spPr>
        <p:txBody>
          <a:bodyPr wrap="none" lIns="25400" tIns="25400" rIns="25400" bIns="25400" rtlCol="0" anchor="t">
            <a:normAutofit/>
          </a:bodyPr>
          <a:lstStyle/>
          <a:p>
            <a:pPr marL="0" indent="0" algn="l">
              <a:buNone/>
            </a:pPr>
            <a:r>
              <a:rPr lang="en-US" sz="2400" dirty="0">
                <a:solidFill>
                  <a:srgbClr val="B9B8B1"/>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3116163" y="2066925"/>
            <a:ext cx="319980" cy="552450"/>
          </a:xfrm>
          <a:prstGeom prst="rect">
            <a:avLst/>
          </a:prstGeom>
          <a:noFill/>
          <a:ln/>
        </p:spPr>
        <p:txBody>
          <a:bodyPr wrap="none" lIns="25400" tIns="25400" rIns="25400" bIns="25400" rtlCol="0" anchor="t">
            <a:normAutofit/>
          </a:bodyPr>
          <a:lstStyle/>
          <a:p>
            <a:pPr marL="0" indent="0" algn="l">
              <a:buNone/>
            </a:pPr>
            <a:r>
              <a:rPr lang="en-US" sz="3450" b="1" dirty="0">
                <a:solidFill>
                  <a:srgbClr val="0B0B0B"/>
                </a:solidFill>
                <a:latin typeface="Arial" pitchFamily="34" charset="0"/>
                <a:ea typeface="Arial" pitchFamily="34" charset="-122"/>
                <a:cs typeface="Arial" pitchFamily="34" charset="-120"/>
              </a:rPr>
              <a:t>2</a:t>
            </a:r>
            <a:endParaRPr lang="en-US" sz="3450" dirty="0"/>
          </a:p>
        </p:txBody>
      </p:sp>
      <p:sp>
        <p:nvSpPr>
          <p:cNvPr id="7" name="Text 5"/>
          <p:cNvSpPr/>
          <p:nvPr/>
        </p:nvSpPr>
        <p:spPr>
          <a:xfrm>
            <a:off x="3531394" y="2162175"/>
            <a:ext cx="1772007" cy="438150"/>
          </a:xfrm>
          <a:prstGeom prst="rect">
            <a:avLst/>
          </a:prstGeom>
          <a:noFill/>
          <a:ln/>
        </p:spPr>
        <p:txBody>
          <a:bodyPr wrap="none" lIns="25400" tIns="25400" rIns="25400" bIns="25400" rtlCol="0" anchor="t">
            <a:normAutofit/>
          </a:bodyPr>
          <a:lstStyle/>
          <a:p>
            <a:pPr marL="0" indent="0" algn="l">
              <a:buNone/>
            </a:pPr>
            <a:r>
              <a:rPr lang="en-US" sz="2400" dirty="0">
                <a:solidFill>
                  <a:srgbClr val="52514E"/>
                </a:solidFill>
                <a:latin typeface="Arial" pitchFamily="34" charset="0"/>
                <a:ea typeface="Arial" pitchFamily="34" charset="-122"/>
                <a:cs typeface="Arial" pitchFamily="34" charset="-120"/>
              </a:rPr>
              <a:t>architetture</a:t>
            </a:r>
            <a:endParaRPr lang="en-US" sz="2400" dirty="0"/>
          </a:p>
        </p:txBody>
      </p:sp>
      <p:sp>
        <p:nvSpPr>
          <p:cNvPr id="8" name="Text 6"/>
          <p:cNvSpPr/>
          <p:nvPr/>
        </p:nvSpPr>
        <p:spPr>
          <a:xfrm>
            <a:off x="5313759" y="2162175"/>
            <a:ext cx="259110" cy="438150"/>
          </a:xfrm>
          <a:prstGeom prst="rect">
            <a:avLst/>
          </a:prstGeom>
          <a:noFill/>
          <a:ln/>
        </p:spPr>
        <p:txBody>
          <a:bodyPr wrap="none" lIns="25400" tIns="25400" rIns="25400" bIns="25400" rtlCol="0" anchor="t">
            <a:normAutofit/>
          </a:bodyPr>
          <a:lstStyle/>
          <a:p>
            <a:pPr marL="0" indent="0" algn="l">
              <a:buNone/>
            </a:pPr>
            <a:r>
              <a:rPr lang="en-US" sz="2400" dirty="0">
                <a:solidFill>
                  <a:srgbClr val="B9B8B1"/>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5668119" y="2066925"/>
            <a:ext cx="319980" cy="552450"/>
          </a:xfrm>
          <a:prstGeom prst="rect">
            <a:avLst/>
          </a:prstGeom>
          <a:noFill/>
          <a:ln/>
        </p:spPr>
        <p:txBody>
          <a:bodyPr wrap="none" lIns="25400" tIns="25400" rIns="25400" bIns="25400" rtlCol="0" anchor="t">
            <a:normAutofit/>
          </a:bodyPr>
          <a:lstStyle/>
          <a:p>
            <a:pPr marL="0" indent="0" algn="l">
              <a:buNone/>
            </a:pPr>
            <a:r>
              <a:rPr lang="en-US" sz="3450" b="1" dirty="0">
                <a:solidFill>
                  <a:srgbClr val="0B0B0B"/>
                </a:solidFill>
                <a:latin typeface="Arial" pitchFamily="34" charset="0"/>
                <a:ea typeface="Arial" pitchFamily="34" charset="-122"/>
                <a:cs typeface="Arial" pitchFamily="34" charset="-120"/>
              </a:rPr>
              <a:t>5</a:t>
            </a:r>
            <a:endParaRPr lang="en-US" sz="3450" dirty="0"/>
          </a:p>
        </p:txBody>
      </p:sp>
      <p:sp>
        <p:nvSpPr>
          <p:cNvPr id="10" name="Text 8"/>
          <p:cNvSpPr/>
          <p:nvPr/>
        </p:nvSpPr>
        <p:spPr>
          <a:xfrm>
            <a:off x="6083350" y="2162175"/>
            <a:ext cx="1097607" cy="438150"/>
          </a:xfrm>
          <a:prstGeom prst="rect">
            <a:avLst/>
          </a:prstGeom>
          <a:noFill/>
          <a:ln/>
        </p:spPr>
        <p:txBody>
          <a:bodyPr wrap="none" lIns="25400" tIns="25400" rIns="25400" bIns="25400" rtlCol="0" anchor="t">
            <a:normAutofit/>
          </a:bodyPr>
          <a:lstStyle/>
          <a:p>
            <a:pPr marL="0" indent="0" algn="l">
              <a:buNone/>
            </a:pPr>
            <a:r>
              <a:rPr lang="en-US" sz="2400" dirty="0">
                <a:solidFill>
                  <a:srgbClr val="52514E"/>
                </a:solidFill>
                <a:latin typeface="Arial" pitchFamily="34" charset="0"/>
                <a:ea typeface="Arial" pitchFamily="34" charset="-122"/>
                <a:cs typeface="Arial" pitchFamily="34" charset="-120"/>
              </a:rPr>
              <a:t>modelli</a:t>
            </a:r>
            <a:endParaRPr lang="en-US" sz="2400" dirty="0"/>
          </a:p>
        </p:txBody>
      </p:sp>
      <p:sp>
        <p:nvSpPr>
          <p:cNvPr id="11" name="Text 9"/>
          <p:cNvSpPr/>
          <p:nvPr/>
        </p:nvSpPr>
        <p:spPr>
          <a:xfrm>
            <a:off x="7276207" y="2162175"/>
            <a:ext cx="259110" cy="438150"/>
          </a:xfrm>
          <a:prstGeom prst="rect">
            <a:avLst/>
          </a:prstGeom>
          <a:noFill/>
          <a:ln/>
        </p:spPr>
        <p:txBody>
          <a:bodyPr wrap="none" lIns="25400" tIns="25400" rIns="25400" bIns="25400" rtlCol="0" anchor="t">
            <a:normAutofit/>
          </a:bodyPr>
          <a:lstStyle/>
          <a:p>
            <a:pPr marL="0" indent="0" algn="l">
              <a:buNone/>
            </a:pPr>
            <a:r>
              <a:rPr lang="en-US" sz="2400" dirty="0">
                <a:solidFill>
                  <a:srgbClr val="B9B8B1"/>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7630567" y="2066925"/>
            <a:ext cx="319980" cy="552450"/>
          </a:xfrm>
          <a:prstGeom prst="rect">
            <a:avLst/>
          </a:prstGeom>
          <a:noFill/>
          <a:ln/>
        </p:spPr>
        <p:txBody>
          <a:bodyPr wrap="none" lIns="25400" tIns="25400" rIns="25400" bIns="25400" rtlCol="0" anchor="t">
            <a:normAutofit/>
          </a:bodyPr>
          <a:lstStyle/>
          <a:p>
            <a:pPr marL="0" indent="0" algn="l">
              <a:buNone/>
            </a:pPr>
            <a:r>
              <a:rPr lang="en-US" sz="3450" b="1" dirty="0">
                <a:solidFill>
                  <a:srgbClr val="0B0B0B"/>
                </a:solidFill>
                <a:latin typeface="Arial" pitchFamily="34" charset="0"/>
                <a:ea typeface="Arial" pitchFamily="34" charset="-122"/>
                <a:cs typeface="Arial" pitchFamily="34" charset="-120"/>
              </a:rPr>
              <a:t>3</a:t>
            </a:r>
            <a:endParaRPr lang="en-US" sz="3450" dirty="0"/>
          </a:p>
        </p:txBody>
      </p:sp>
      <p:sp>
        <p:nvSpPr>
          <p:cNvPr id="13" name="Text 11"/>
          <p:cNvSpPr/>
          <p:nvPr/>
        </p:nvSpPr>
        <p:spPr>
          <a:xfrm>
            <a:off x="8045797" y="2162175"/>
            <a:ext cx="2321912" cy="438150"/>
          </a:xfrm>
          <a:prstGeom prst="rect">
            <a:avLst/>
          </a:prstGeom>
          <a:noFill/>
          <a:ln/>
        </p:spPr>
        <p:txBody>
          <a:bodyPr wrap="none" lIns="25400" tIns="25400" rIns="25400" bIns="25400" rtlCol="0" anchor="t">
            <a:normAutofit/>
          </a:bodyPr>
          <a:lstStyle/>
          <a:p>
            <a:pPr marL="0" indent="0" algn="l">
              <a:buNone/>
            </a:pPr>
            <a:r>
              <a:rPr lang="en-US" sz="2400" dirty="0">
                <a:solidFill>
                  <a:srgbClr val="52514E"/>
                </a:solidFill>
                <a:latin typeface="Arial" pitchFamily="34" charset="0"/>
                <a:ea typeface="Arial" pitchFamily="34" charset="-122"/>
                <a:cs typeface="Arial" pitchFamily="34" charset="-120"/>
              </a:rPr>
              <a:t>livelli di rumore</a:t>
            </a:r>
            <a:endParaRPr lang="en-US" sz="2400" dirty="0"/>
          </a:p>
        </p:txBody>
      </p:sp>
      <p:sp>
        <p:nvSpPr>
          <p:cNvPr id="14" name="Text 12"/>
          <p:cNvSpPr/>
          <p:nvPr/>
        </p:nvSpPr>
        <p:spPr>
          <a:xfrm>
            <a:off x="10328077" y="2162175"/>
            <a:ext cx="259110" cy="438150"/>
          </a:xfrm>
          <a:prstGeom prst="rect">
            <a:avLst/>
          </a:prstGeom>
          <a:noFill/>
          <a:ln/>
        </p:spPr>
        <p:txBody>
          <a:bodyPr wrap="none" lIns="25400" tIns="25400" rIns="25400" bIns="25400" rtlCol="0" anchor="t">
            <a:normAutofit/>
          </a:bodyPr>
          <a:lstStyle/>
          <a:p>
            <a:pPr marL="0" indent="0" algn="l">
              <a:buNone/>
            </a:pPr>
            <a:r>
              <a:rPr lang="en-US" sz="2400" dirty="0">
                <a:solidFill>
                  <a:srgbClr val="B9B8B1"/>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10682436" y="2066925"/>
            <a:ext cx="563612" cy="552450"/>
          </a:xfrm>
          <a:prstGeom prst="rect">
            <a:avLst/>
          </a:prstGeom>
          <a:noFill/>
          <a:ln/>
        </p:spPr>
        <p:txBody>
          <a:bodyPr wrap="none" lIns="25400" tIns="25400" rIns="25400" bIns="25400" rtlCol="0" anchor="t">
            <a:normAutofit/>
          </a:bodyPr>
          <a:lstStyle/>
          <a:p>
            <a:pPr marL="0" indent="0" algn="l">
              <a:buNone/>
            </a:pPr>
            <a:r>
              <a:rPr lang="en-US" sz="3450" b="1" dirty="0">
                <a:solidFill>
                  <a:srgbClr val="0B0B0B"/>
                </a:solidFill>
                <a:latin typeface="Arial" pitchFamily="34" charset="0"/>
                <a:ea typeface="Arial" pitchFamily="34" charset="-122"/>
                <a:cs typeface="Arial" pitchFamily="34" charset="-120"/>
              </a:rPr>
              <a:t>10</a:t>
            </a:r>
            <a:endParaRPr lang="en-US" sz="3450" dirty="0"/>
          </a:p>
        </p:txBody>
      </p:sp>
      <p:sp>
        <p:nvSpPr>
          <p:cNvPr id="16" name="Text 14"/>
          <p:cNvSpPr/>
          <p:nvPr/>
        </p:nvSpPr>
        <p:spPr>
          <a:xfrm>
            <a:off x="11341298" y="2162175"/>
            <a:ext cx="736104" cy="438150"/>
          </a:xfrm>
          <a:prstGeom prst="rect">
            <a:avLst/>
          </a:prstGeom>
          <a:noFill/>
          <a:ln/>
        </p:spPr>
        <p:txBody>
          <a:bodyPr wrap="none" lIns="25400" tIns="25400" rIns="25400" bIns="25400" rtlCol="0" anchor="t">
            <a:normAutofit/>
          </a:bodyPr>
          <a:lstStyle/>
          <a:p>
            <a:pPr marL="0" indent="0" algn="l">
              <a:buNone/>
            </a:pPr>
            <a:r>
              <a:rPr lang="en-US" sz="2400" dirty="0">
                <a:solidFill>
                  <a:srgbClr val="52514E"/>
                </a:solidFill>
                <a:latin typeface="Arial" pitchFamily="34" charset="0"/>
                <a:ea typeface="Arial" pitchFamily="34" charset="-122"/>
                <a:cs typeface="Arial" pitchFamily="34" charset="-120"/>
              </a:rPr>
              <a:t>seed</a:t>
            </a:r>
            <a:endParaRPr lang="en-US" sz="2400" dirty="0"/>
          </a:p>
        </p:txBody>
      </p:sp>
      <p:sp>
        <p:nvSpPr>
          <p:cNvPr id="17" name="Text 15"/>
          <p:cNvSpPr/>
          <p:nvPr/>
        </p:nvSpPr>
        <p:spPr>
          <a:xfrm>
            <a:off x="12172652" y="2162175"/>
            <a:ext cx="259110" cy="438150"/>
          </a:xfrm>
          <a:prstGeom prst="rect">
            <a:avLst/>
          </a:prstGeom>
          <a:noFill/>
          <a:ln/>
        </p:spPr>
        <p:txBody>
          <a:bodyPr wrap="none" lIns="25400" tIns="25400" rIns="25400" bIns="25400" rtlCol="0" anchor="t">
            <a:normAutofit/>
          </a:bodyPr>
          <a:lstStyle/>
          <a:p>
            <a:pPr marL="0" indent="0" algn="l">
              <a:buNone/>
            </a:pPr>
            <a:r>
              <a:rPr lang="en-US" sz="2400" dirty="0">
                <a:solidFill>
                  <a:srgbClr val="B9B8B1"/>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12527012" y="2066925"/>
            <a:ext cx="1634654" cy="552450"/>
          </a:xfrm>
          <a:prstGeom prst="rect">
            <a:avLst/>
          </a:prstGeom>
          <a:noFill/>
          <a:ln/>
        </p:spPr>
        <p:txBody>
          <a:bodyPr wrap="none" lIns="25400" tIns="25400" rIns="25400" bIns="25400" rtlCol="0" anchor="t">
            <a:normAutofit/>
          </a:bodyPr>
          <a:lstStyle/>
          <a:p>
            <a:pPr marL="0" indent="0" algn="l">
              <a:buNone/>
            </a:pPr>
            <a:r>
              <a:rPr lang="en-US" sz="3450" b="1" dirty="0">
                <a:solidFill>
                  <a:srgbClr val="0B0B0B"/>
                </a:solidFill>
                <a:latin typeface="Arial" pitchFamily="34" charset="0"/>
                <a:ea typeface="Arial" pitchFamily="34" charset="-122"/>
                <a:cs typeface="Arial" pitchFamily="34" charset="-120"/>
              </a:rPr>
              <a:t>900 run</a:t>
            </a:r>
            <a:endParaRPr lang="en-US" sz="3450" dirty="0"/>
          </a:p>
        </p:txBody>
      </p:sp>
      <p:sp>
        <p:nvSpPr>
          <p:cNvPr id="19" name="Shape 17"/>
          <p:cNvSpPr/>
          <p:nvPr/>
        </p:nvSpPr>
        <p:spPr>
          <a:xfrm>
            <a:off x="1143000" y="3038475"/>
            <a:ext cx="7658100" cy="9525"/>
          </a:xfrm>
          <a:prstGeom prst="rect">
            <a:avLst/>
          </a:prstGeom>
          <a:solidFill>
            <a:srgbClr val="B9B8B1"/>
          </a:solidFill>
          <a:ln/>
        </p:spPr>
        <p:txBody>
          <a:bodyPr/>
          <a:lstStyle/>
          <a:p>
            <a:endParaRPr lang="en-US"/>
          </a:p>
        </p:txBody>
      </p:sp>
      <p:sp>
        <p:nvSpPr>
          <p:cNvPr id="20" name="Text 18"/>
          <p:cNvSpPr/>
          <p:nvPr/>
        </p:nvSpPr>
        <p:spPr>
          <a:xfrm>
            <a:off x="1143000" y="3257550"/>
            <a:ext cx="842391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0B0B0B"/>
                </a:solidFill>
                <a:latin typeface="Arial" pitchFamily="34" charset="0"/>
                <a:ea typeface="Arial" pitchFamily="34" charset="-122"/>
                <a:cs typeface="Arial" pitchFamily="34" charset="-120"/>
              </a:rPr>
              <a:t>Confronti appaiati per seed</a:t>
            </a:r>
            <a:endParaRPr lang="en-US" sz="2400" dirty="0"/>
          </a:p>
        </p:txBody>
      </p:sp>
      <p:sp>
        <p:nvSpPr>
          <p:cNvPr id="21" name="Text 19"/>
          <p:cNvSpPr/>
          <p:nvPr/>
        </p:nvSpPr>
        <p:spPr>
          <a:xfrm>
            <a:off x="1143000" y="3724275"/>
            <a:ext cx="7887843" cy="784622"/>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10 seed per cella: si guarda la differenza seed per seed, non la differenza fra due medie.</a:t>
            </a:r>
            <a:endParaRPr lang="en-US" sz="2100" dirty="0"/>
          </a:p>
        </p:txBody>
      </p:sp>
      <p:sp>
        <p:nvSpPr>
          <p:cNvPr id="22" name="Shape 20"/>
          <p:cNvSpPr/>
          <p:nvPr/>
        </p:nvSpPr>
        <p:spPr>
          <a:xfrm>
            <a:off x="9486900" y="3038475"/>
            <a:ext cx="7658100" cy="9525"/>
          </a:xfrm>
          <a:prstGeom prst="rect">
            <a:avLst/>
          </a:prstGeom>
          <a:solidFill>
            <a:srgbClr val="B9B8B1"/>
          </a:solidFill>
          <a:ln/>
        </p:spPr>
        <p:txBody>
          <a:bodyPr/>
          <a:lstStyle/>
          <a:p>
            <a:endParaRPr lang="en-US"/>
          </a:p>
        </p:txBody>
      </p:sp>
      <p:sp>
        <p:nvSpPr>
          <p:cNvPr id="23" name="Text 21"/>
          <p:cNvSpPr/>
          <p:nvPr/>
        </p:nvSpPr>
        <p:spPr>
          <a:xfrm>
            <a:off x="9486900" y="3257550"/>
            <a:ext cx="842391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0B0B0B"/>
                </a:solidFill>
                <a:latin typeface="Arial" pitchFamily="34" charset="0"/>
                <a:ea typeface="Arial" pitchFamily="34" charset="-122"/>
                <a:cs typeface="Arial" pitchFamily="34" charset="-120"/>
              </a:rPr>
              <a:t>Twin-run</a:t>
            </a:r>
            <a:endParaRPr lang="en-US" sz="2400" dirty="0"/>
          </a:p>
        </p:txBody>
      </p:sp>
      <p:sp>
        <p:nvSpPr>
          <p:cNvPr id="24" name="Text 22"/>
          <p:cNvSpPr/>
          <p:nvPr/>
        </p:nvSpPr>
        <p:spPr>
          <a:xfrm>
            <a:off x="9486900" y="3724275"/>
            <a:ext cx="7887843" cy="784622"/>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Dentro una cella tutti e cinque i modelli vedono le stesse etichette corrotte (stesso RNG).</a:t>
            </a:r>
            <a:endParaRPr lang="en-US" sz="2100" dirty="0"/>
          </a:p>
        </p:txBody>
      </p:sp>
      <p:sp>
        <p:nvSpPr>
          <p:cNvPr id="25" name="Shape 23"/>
          <p:cNvSpPr/>
          <p:nvPr/>
        </p:nvSpPr>
        <p:spPr>
          <a:xfrm>
            <a:off x="1143000" y="4851797"/>
            <a:ext cx="7658100" cy="9525"/>
          </a:xfrm>
          <a:prstGeom prst="rect">
            <a:avLst/>
          </a:prstGeom>
          <a:solidFill>
            <a:srgbClr val="B9B8B1"/>
          </a:solidFill>
          <a:ln/>
        </p:spPr>
        <p:txBody>
          <a:bodyPr/>
          <a:lstStyle/>
          <a:p>
            <a:endParaRPr lang="en-US"/>
          </a:p>
        </p:txBody>
      </p:sp>
      <p:sp>
        <p:nvSpPr>
          <p:cNvPr id="26" name="Text 24"/>
          <p:cNvSpPr/>
          <p:nvPr/>
        </p:nvSpPr>
        <p:spPr>
          <a:xfrm>
            <a:off x="1143000" y="5070872"/>
            <a:ext cx="842391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0B0B0B"/>
                </a:solidFill>
                <a:latin typeface="Arial" pitchFamily="34" charset="0"/>
                <a:ea typeface="Arial" pitchFamily="34" charset="-122"/>
                <a:cs typeface="Arial" pitchFamily="34" charset="-120"/>
              </a:rPr>
              <a:t>Label noise 0 / 25 / 50%</a:t>
            </a:r>
            <a:endParaRPr lang="en-US" sz="2400" dirty="0"/>
          </a:p>
        </p:txBody>
      </p:sp>
      <p:sp>
        <p:nvSpPr>
          <p:cNvPr id="27" name="Text 25"/>
          <p:cNvSpPr/>
          <p:nvPr/>
        </p:nvSpPr>
        <p:spPr>
          <a:xfrm>
            <a:off x="1143000" y="5537597"/>
            <a:ext cx="7887843" cy="784622"/>
          </a:xfrm>
          <a:prstGeom prst="rect">
            <a:avLst/>
          </a:prstGeom>
          <a:noFill/>
          <a:ln/>
        </p:spPr>
        <p:txBody>
          <a:bodyPr wrap="square" lIns="25400" tIns="25400" rIns="25400" bIns="25400" rtlCol="0" anchor="t">
            <a:normAutofit lnSpcReduction="10000"/>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Solo sulle etichette di train; validation e test restano puliti. Se la </a:t>
            </a:r>
            <a:r>
              <a:rPr lang="en-US" sz="2100" dirty="0" err="1">
                <a:solidFill>
                  <a:srgbClr val="52514E"/>
                </a:solidFill>
                <a:latin typeface="Arial" pitchFamily="34" charset="0"/>
                <a:ea typeface="Arial" pitchFamily="34" charset="-122"/>
                <a:cs typeface="Arial" pitchFamily="34" charset="-120"/>
              </a:rPr>
              <a:t>conoscenza</a:t>
            </a:r>
            <a:r>
              <a:rPr lang="en-US" sz="2100" dirty="0">
                <a:solidFill>
                  <a:srgbClr val="52514E"/>
                </a:solidFill>
                <a:latin typeface="Arial" pitchFamily="34" charset="0"/>
                <a:ea typeface="Arial" pitchFamily="34" charset="-122"/>
                <a:cs typeface="Arial" pitchFamily="34" charset="-120"/>
              </a:rPr>
              <a:t> da </a:t>
            </a:r>
            <a:r>
              <a:rPr lang="en-US" sz="2100" dirty="0" err="1">
                <a:solidFill>
                  <a:srgbClr val="52514E"/>
                </a:solidFill>
                <a:latin typeface="Arial" pitchFamily="34" charset="0"/>
                <a:ea typeface="Arial" pitchFamily="34" charset="-122"/>
                <a:cs typeface="Arial" pitchFamily="34" charset="-120"/>
              </a:rPr>
              <a:t>ancora</a:t>
            </a:r>
            <a:endParaRPr lang="en-US" sz="2100" dirty="0"/>
          </a:p>
        </p:txBody>
      </p:sp>
      <p:sp>
        <p:nvSpPr>
          <p:cNvPr id="28" name="Shape 26"/>
          <p:cNvSpPr/>
          <p:nvPr/>
        </p:nvSpPr>
        <p:spPr>
          <a:xfrm>
            <a:off x="9486900" y="4851797"/>
            <a:ext cx="7658100" cy="9525"/>
          </a:xfrm>
          <a:prstGeom prst="rect">
            <a:avLst/>
          </a:prstGeom>
          <a:solidFill>
            <a:srgbClr val="B9B8B1"/>
          </a:solidFill>
          <a:ln/>
        </p:spPr>
        <p:txBody>
          <a:bodyPr/>
          <a:lstStyle/>
          <a:p>
            <a:endParaRPr lang="en-US"/>
          </a:p>
        </p:txBody>
      </p:sp>
      <p:sp>
        <p:nvSpPr>
          <p:cNvPr id="29" name="Text 27"/>
          <p:cNvSpPr/>
          <p:nvPr/>
        </p:nvSpPr>
        <p:spPr>
          <a:xfrm>
            <a:off x="9486900" y="5070872"/>
            <a:ext cx="842391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0B0B0B"/>
                </a:solidFill>
                <a:latin typeface="Arial" pitchFamily="34" charset="0"/>
                <a:ea typeface="Arial" pitchFamily="34" charset="-122"/>
                <a:cs typeface="Arial" pitchFamily="34" charset="-120"/>
              </a:rPr>
              <a:t>Early stopping su validation pulita</a:t>
            </a:r>
            <a:endParaRPr lang="en-US" sz="2400" dirty="0"/>
          </a:p>
        </p:txBody>
      </p:sp>
      <p:sp>
        <p:nvSpPr>
          <p:cNvPr id="30" name="Text 28"/>
          <p:cNvSpPr/>
          <p:nvPr/>
        </p:nvSpPr>
        <p:spPr>
          <a:xfrm>
            <a:off x="9486900" y="5537597"/>
            <a:ext cx="7887843" cy="784622"/>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Uguale per tutti. Costo: 16-35 secondi per run per baseline e checker, di più con la GNN.</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19100"/>
            <a:ext cx="18440400" cy="695325"/>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Risultato 1: accuratezza</a:t>
            </a:r>
            <a:endParaRPr lang="en-US" sz="4500" dirty="0"/>
          </a:p>
        </p:txBody>
      </p:sp>
      <p:pic>
        <p:nvPicPr>
          <p:cNvPr id="3" name="Image 0" descr="preencoded.png"/>
          <p:cNvPicPr>
            <a:picLocks noChangeAspect="1"/>
          </p:cNvPicPr>
          <p:nvPr/>
        </p:nvPicPr>
        <p:blipFill>
          <a:blip r:embed="rId3"/>
          <a:srcRect/>
          <a:stretch/>
        </p:blipFill>
        <p:spPr>
          <a:xfrm>
            <a:off x="762000" y="1813471"/>
            <a:ext cx="10953750" cy="7564934"/>
          </a:xfrm>
          <a:prstGeom prst="rect">
            <a:avLst/>
          </a:prstGeom>
        </p:spPr>
      </p:pic>
      <p:sp>
        <p:nvSpPr>
          <p:cNvPr id="4" name="Text 1"/>
          <p:cNvSpPr/>
          <p:nvPr/>
        </p:nvSpPr>
        <p:spPr>
          <a:xfrm>
            <a:off x="12192000" y="3275856"/>
            <a:ext cx="5494020" cy="731341"/>
          </a:xfrm>
          <a:prstGeom prst="rect">
            <a:avLst/>
          </a:prstGeom>
          <a:noFill/>
          <a:ln/>
        </p:spPr>
        <p:txBody>
          <a:bodyPr wrap="square" lIns="25400" tIns="25400" rIns="25400" bIns="25400" rtlCol="0" anchor="t">
            <a:normAutofit/>
          </a:bodyPr>
          <a:lstStyle/>
          <a:p>
            <a:pPr marL="0" indent="0" algn="l">
              <a:lnSpc>
                <a:spcPct val="117419"/>
              </a:lnSpc>
              <a:buNone/>
            </a:pPr>
            <a:r>
              <a:rPr lang="en-US" sz="1950" dirty="0">
                <a:solidFill>
                  <a:srgbClr val="52514E"/>
                </a:solidFill>
                <a:latin typeface="Arial" pitchFamily="34" charset="0"/>
                <a:ea typeface="Arial" pitchFamily="34" charset="-122"/>
                <a:cs typeface="Arial" pitchFamily="34" charset="-120"/>
              </a:rPr>
              <a:t>Differenze rispetto alla baseline, appaiate per seed. 18 celle × 10 seed = 180 coppie.</a:t>
            </a:r>
            <a:endParaRPr lang="en-US" sz="1950" dirty="0"/>
          </a:p>
        </p:txBody>
      </p:sp>
      <p:sp>
        <p:nvSpPr>
          <p:cNvPr id="5" name="Shape 2"/>
          <p:cNvSpPr/>
          <p:nvPr/>
        </p:nvSpPr>
        <p:spPr>
          <a:xfrm>
            <a:off x="12192000" y="4745385"/>
            <a:ext cx="5334000" cy="9525"/>
          </a:xfrm>
          <a:prstGeom prst="rect">
            <a:avLst/>
          </a:prstGeom>
          <a:solidFill>
            <a:srgbClr val="B9B8B1"/>
          </a:solidFill>
          <a:ln/>
        </p:spPr>
        <p:txBody>
          <a:bodyPr/>
          <a:lstStyle/>
          <a:p>
            <a:endParaRPr lang="en-US"/>
          </a:p>
        </p:txBody>
      </p:sp>
      <p:sp>
        <p:nvSpPr>
          <p:cNvPr id="6" name="Text 3"/>
          <p:cNvSpPr/>
          <p:nvPr/>
        </p:nvSpPr>
        <p:spPr>
          <a:xfrm>
            <a:off x="12192000" y="4331047"/>
            <a:ext cx="2336750" cy="342900"/>
          </a:xfrm>
          <a:prstGeom prst="rect">
            <a:avLst/>
          </a:prstGeom>
          <a:noFill/>
          <a:ln/>
        </p:spPr>
        <p:txBody>
          <a:bodyPr wrap="none" lIns="25400" tIns="25400" rIns="25400" bIns="25400" rtlCol="0" anchor="t">
            <a:normAutofit/>
          </a:bodyPr>
          <a:lstStyle/>
          <a:p>
            <a:pPr marL="0" indent="0" algn="l">
              <a:buNone/>
            </a:pPr>
            <a:r>
              <a:rPr lang="en-US" sz="1800" dirty="0">
                <a:solidFill>
                  <a:srgbClr val="52514E"/>
                </a:solidFill>
                <a:latin typeface="Arial" pitchFamily="34" charset="0"/>
                <a:ea typeface="Arial" pitchFamily="34" charset="-122"/>
                <a:cs typeface="Arial" pitchFamily="34" charset="-120"/>
              </a:rPr>
              <a:t>modello</a:t>
            </a:r>
            <a:endParaRPr lang="en-US" sz="1800" dirty="0"/>
          </a:p>
        </p:txBody>
      </p:sp>
      <p:sp>
        <p:nvSpPr>
          <p:cNvPr id="7" name="Text 4"/>
          <p:cNvSpPr/>
          <p:nvPr/>
        </p:nvSpPr>
        <p:spPr>
          <a:xfrm>
            <a:off x="14528750" y="4331047"/>
            <a:ext cx="899071" cy="347663"/>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Arial" pitchFamily="34" charset="0"/>
                <a:ea typeface="Arial" pitchFamily="34" charset="-122"/>
                <a:cs typeface="Arial" pitchFamily="34" charset="-120"/>
              </a:rPr>
              <a:t>delta</a:t>
            </a:r>
            <a:endParaRPr lang="en-US" sz="1800" dirty="0"/>
          </a:p>
        </p:txBody>
      </p:sp>
      <p:sp>
        <p:nvSpPr>
          <p:cNvPr id="8" name="Text 5"/>
          <p:cNvSpPr/>
          <p:nvPr/>
        </p:nvSpPr>
        <p:spPr>
          <a:xfrm>
            <a:off x="15504021" y="4331047"/>
            <a:ext cx="899071" cy="347663"/>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Arial" pitchFamily="34" charset="0"/>
                <a:ea typeface="Arial" pitchFamily="34" charset="-122"/>
                <a:cs typeface="Arial" pitchFamily="34" charset="-120"/>
              </a:rPr>
              <a:t>celle</a:t>
            </a:r>
            <a:endParaRPr lang="en-US" sz="1800" dirty="0"/>
          </a:p>
        </p:txBody>
      </p:sp>
      <p:sp>
        <p:nvSpPr>
          <p:cNvPr id="9" name="Text 6"/>
          <p:cNvSpPr/>
          <p:nvPr/>
        </p:nvSpPr>
        <p:spPr>
          <a:xfrm>
            <a:off x="16479292" y="4331047"/>
            <a:ext cx="1046708" cy="347663"/>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Arial" pitchFamily="34" charset="0"/>
                <a:ea typeface="Arial" pitchFamily="34" charset="-122"/>
                <a:cs typeface="Arial" pitchFamily="34" charset="-120"/>
              </a:rPr>
              <a:t>seed</a:t>
            </a:r>
            <a:endParaRPr lang="en-US" sz="1800" dirty="0"/>
          </a:p>
        </p:txBody>
      </p:sp>
      <p:sp>
        <p:nvSpPr>
          <p:cNvPr id="10" name="Shape 7"/>
          <p:cNvSpPr/>
          <p:nvPr/>
        </p:nvSpPr>
        <p:spPr>
          <a:xfrm>
            <a:off x="12192000" y="5326410"/>
            <a:ext cx="5334000" cy="9525"/>
          </a:xfrm>
          <a:prstGeom prst="rect">
            <a:avLst/>
          </a:prstGeom>
          <a:solidFill>
            <a:srgbClr val="EEEDE9"/>
          </a:solidFill>
          <a:ln/>
        </p:spPr>
        <p:txBody>
          <a:bodyPr/>
          <a:lstStyle/>
          <a:p>
            <a:endParaRPr lang="en-US"/>
          </a:p>
        </p:txBody>
      </p:sp>
      <p:sp>
        <p:nvSpPr>
          <p:cNvPr id="11" name="Text 8"/>
          <p:cNvSpPr/>
          <p:nvPr/>
        </p:nvSpPr>
        <p:spPr>
          <a:xfrm>
            <a:off x="12192000" y="4888260"/>
            <a:ext cx="2336750" cy="352425"/>
          </a:xfrm>
          <a:prstGeom prst="rect">
            <a:avLst/>
          </a:prstGeom>
          <a:noFill/>
          <a:ln/>
        </p:spPr>
        <p:txBody>
          <a:bodyPr wrap="none" lIns="25400" tIns="25400" rIns="25400" bIns="25400" rtlCol="0" anchor="ctr">
            <a:normAutofit/>
          </a:bodyPr>
          <a:lstStyle/>
          <a:p>
            <a:pPr marL="0" indent="0" algn="l">
              <a:buNone/>
            </a:pPr>
            <a:r>
              <a:rPr lang="en-US" sz="1800" dirty="0">
                <a:solidFill>
                  <a:srgbClr val="E87BA4"/>
                </a:solidFill>
                <a:latin typeface="Arial" pitchFamily="34" charset="0"/>
                <a:ea typeface="Arial" pitchFamily="34" charset="-122"/>
                <a:cs typeface="Arial" pitchFamily="34" charset="-120"/>
              </a:rPr>
              <a:t>◆ </a:t>
            </a:r>
            <a:r>
              <a:rPr lang="en-US" sz="1800" dirty="0">
                <a:solidFill>
                  <a:srgbClr val="0B0B0B"/>
                </a:solidFill>
                <a:latin typeface="Arial" pitchFamily="34" charset="0"/>
                <a:ea typeface="Arial" pitchFamily="34" charset="-122"/>
                <a:cs typeface="Arial" pitchFamily="34" charset="-120"/>
              </a:rPr>
              <a:t>seq (+ tempo)</a:t>
            </a:r>
            <a:endParaRPr lang="en-US" sz="1800" dirty="0"/>
          </a:p>
        </p:txBody>
      </p:sp>
      <p:sp>
        <p:nvSpPr>
          <p:cNvPr id="12" name="Text 9"/>
          <p:cNvSpPr/>
          <p:nvPr/>
        </p:nvSpPr>
        <p:spPr>
          <a:xfrm>
            <a:off x="14528750" y="4888260"/>
            <a:ext cx="899071" cy="352425"/>
          </a:xfrm>
          <a:prstGeom prst="rect">
            <a:avLst/>
          </a:prstGeom>
          <a:noFill/>
          <a:ln/>
        </p:spPr>
        <p:txBody>
          <a:bodyPr wrap="none" lIns="25400" tIns="25400" rIns="25400" bIns="25400" rtlCol="0" anchor="ctr">
            <a:normAutofit/>
          </a:bodyPr>
          <a:lstStyle/>
          <a:p>
            <a:pPr marL="0" indent="0" algn="r">
              <a:buNone/>
            </a:pPr>
            <a:r>
              <a:rPr lang="en-US" sz="1800" dirty="0">
                <a:solidFill>
                  <a:srgbClr val="0B0B0B"/>
                </a:solidFill>
                <a:latin typeface="Courier New" pitchFamily="34" charset="0"/>
                <a:ea typeface="Courier New" pitchFamily="34" charset="-122"/>
                <a:cs typeface="Courier New" pitchFamily="34" charset="-120"/>
              </a:rPr>
              <a:t>−0.06</a:t>
            </a:r>
            <a:endParaRPr lang="en-US" sz="1800" dirty="0"/>
          </a:p>
        </p:txBody>
      </p:sp>
      <p:sp>
        <p:nvSpPr>
          <p:cNvPr id="13" name="Text 10"/>
          <p:cNvSpPr/>
          <p:nvPr/>
        </p:nvSpPr>
        <p:spPr>
          <a:xfrm>
            <a:off x="15504021" y="4888260"/>
            <a:ext cx="899071" cy="352425"/>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8/18</a:t>
            </a:r>
            <a:endParaRPr lang="en-US" sz="1800" dirty="0"/>
          </a:p>
        </p:txBody>
      </p:sp>
      <p:sp>
        <p:nvSpPr>
          <p:cNvPr id="14" name="Text 11"/>
          <p:cNvSpPr/>
          <p:nvPr/>
        </p:nvSpPr>
        <p:spPr>
          <a:xfrm>
            <a:off x="16479292" y="4888260"/>
            <a:ext cx="1046708" cy="352425"/>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79/180</a:t>
            </a:r>
            <a:endParaRPr lang="en-US" sz="1800" dirty="0"/>
          </a:p>
        </p:txBody>
      </p:sp>
      <p:sp>
        <p:nvSpPr>
          <p:cNvPr id="15" name="Shape 12"/>
          <p:cNvSpPr/>
          <p:nvPr/>
        </p:nvSpPr>
        <p:spPr>
          <a:xfrm>
            <a:off x="12192000" y="5907435"/>
            <a:ext cx="5334000" cy="9525"/>
          </a:xfrm>
          <a:prstGeom prst="rect">
            <a:avLst/>
          </a:prstGeom>
          <a:solidFill>
            <a:srgbClr val="EEEDE9"/>
          </a:solidFill>
          <a:ln/>
        </p:spPr>
        <p:txBody>
          <a:bodyPr/>
          <a:lstStyle/>
          <a:p>
            <a:endParaRPr lang="en-US"/>
          </a:p>
        </p:txBody>
      </p:sp>
      <p:sp>
        <p:nvSpPr>
          <p:cNvPr id="16" name="Text 13"/>
          <p:cNvSpPr/>
          <p:nvPr/>
        </p:nvSpPr>
        <p:spPr>
          <a:xfrm>
            <a:off x="12192000" y="5469285"/>
            <a:ext cx="2336750" cy="352425"/>
          </a:xfrm>
          <a:prstGeom prst="rect">
            <a:avLst/>
          </a:prstGeom>
          <a:noFill/>
          <a:ln/>
        </p:spPr>
        <p:txBody>
          <a:bodyPr wrap="none" lIns="25400" tIns="25400" rIns="25400" bIns="25400" rtlCol="0" anchor="ctr">
            <a:normAutofit/>
          </a:bodyPr>
          <a:lstStyle/>
          <a:p>
            <a:pPr marL="0" indent="0" algn="l">
              <a:buNone/>
            </a:pPr>
            <a:r>
              <a:rPr lang="en-US" sz="1800" dirty="0">
                <a:solidFill>
                  <a:srgbClr val="EDA100"/>
                </a:solidFill>
                <a:latin typeface="Arial" pitchFamily="34" charset="0"/>
                <a:ea typeface="Arial" pitchFamily="34" charset="-122"/>
                <a:cs typeface="Arial" pitchFamily="34" charset="-120"/>
              </a:rPr>
              <a:t>◆ </a:t>
            </a:r>
            <a:r>
              <a:rPr lang="en-US" sz="1800" dirty="0">
                <a:solidFill>
                  <a:srgbClr val="0B0B0B"/>
                </a:solidFill>
                <a:latin typeface="Arial" pitchFamily="34" charset="0"/>
                <a:ea typeface="Arial" pitchFamily="34" charset="-122"/>
                <a:cs typeface="Arial" pitchFamily="34" charset="-120"/>
              </a:rPr>
              <a:t>gnn (strutturata)</a:t>
            </a:r>
            <a:endParaRPr lang="en-US" sz="1800" dirty="0"/>
          </a:p>
        </p:txBody>
      </p:sp>
      <p:sp>
        <p:nvSpPr>
          <p:cNvPr id="17" name="Text 14"/>
          <p:cNvSpPr/>
          <p:nvPr/>
        </p:nvSpPr>
        <p:spPr>
          <a:xfrm>
            <a:off x="14528750" y="5469285"/>
            <a:ext cx="899071" cy="352425"/>
          </a:xfrm>
          <a:prstGeom prst="rect">
            <a:avLst/>
          </a:prstGeom>
          <a:noFill/>
          <a:ln/>
        </p:spPr>
        <p:txBody>
          <a:bodyPr wrap="none" lIns="25400" tIns="25400" rIns="25400" bIns="25400" rtlCol="0" anchor="ctr">
            <a:normAutofit/>
          </a:bodyPr>
          <a:lstStyle/>
          <a:p>
            <a:pPr marL="0" indent="0" algn="r">
              <a:buNone/>
            </a:pPr>
            <a:r>
              <a:rPr lang="en-US" sz="1800" dirty="0">
                <a:solidFill>
                  <a:srgbClr val="0B0B0B"/>
                </a:solidFill>
                <a:latin typeface="Courier New" pitchFamily="34" charset="0"/>
                <a:ea typeface="Courier New" pitchFamily="34" charset="-122"/>
                <a:cs typeface="Courier New" pitchFamily="34" charset="-120"/>
              </a:rPr>
              <a:t>+0.03</a:t>
            </a:r>
            <a:endParaRPr lang="en-US" sz="1800" dirty="0"/>
          </a:p>
        </p:txBody>
      </p:sp>
      <p:sp>
        <p:nvSpPr>
          <p:cNvPr id="18" name="Text 15"/>
          <p:cNvSpPr/>
          <p:nvPr/>
        </p:nvSpPr>
        <p:spPr>
          <a:xfrm>
            <a:off x="15504021" y="5469285"/>
            <a:ext cx="899071" cy="352425"/>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6/18</a:t>
            </a:r>
            <a:endParaRPr lang="en-US" sz="1800" dirty="0"/>
          </a:p>
        </p:txBody>
      </p:sp>
      <p:sp>
        <p:nvSpPr>
          <p:cNvPr id="19" name="Text 16"/>
          <p:cNvSpPr/>
          <p:nvPr/>
        </p:nvSpPr>
        <p:spPr>
          <a:xfrm>
            <a:off x="16479292" y="5469285"/>
            <a:ext cx="1046708" cy="352425"/>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78/180</a:t>
            </a:r>
            <a:endParaRPr lang="en-US" sz="1800" dirty="0"/>
          </a:p>
        </p:txBody>
      </p:sp>
      <p:sp>
        <p:nvSpPr>
          <p:cNvPr id="20" name="Shape 17"/>
          <p:cNvSpPr/>
          <p:nvPr/>
        </p:nvSpPr>
        <p:spPr>
          <a:xfrm>
            <a:off x="12192000" y="6488460"/>
            <a:ext cx="5334000" cy="9525"/>
          </a:xfrm>
          <a:prstGeom prst="rect">
            <a:avLst/>
          </a:prstGeom>
          <a:solidFill>
            <a:srgbClr val="EEEDE9"/>
          </a:solidFill>
          <a:ln/>
        </p:spPr>
        <p:txBody>
          <a:bodyPr/>
          <a:lstStyle/>
          <a:p>
            <a:endParaRPr lang="en-US"/>
          </a:p>
        </p:txBody>
      </p:sp>
      <p:sp>
        <p:nvSpPr>
          <p:cNvPr id="21" name="Text 18"/>
          <p:cNvSpPr/>
          <p:nvPr/>
        </p:nvSpPr>
        <p:spPr>
          <a:xfrm>
            <a:off x="12192000" y="6050310"/>
            <a:ext cx="2336750" cy="352425"/>
          </a:xfrm>
          <a:prstGeom prst="rect">
            <a:avLst/>
          </a:prstGeom>
          <a:noFill/>
          <a:ln/>
        </p:spPr>
        <p:txBody>
          <a:bodyPr wrap="none" lIns="25400" tIns="25400" rIns="25400" bIns="25400" rtlCol="0" anchor="ctr">
            <a:normAutofit/>
          </a:bodyPr>
          <a:lstStyle/>
          <a:p>
            <a:pPr marL="0" indent="0" algn="l">
              <a:buNone/>
            </a:pPr>
            <a:r>
              <a:rPr lang="en-US" sz="1800" dirty="0">
                <a:solidFill>
                  <a:srgbClr val="1BAF7A"/>
                </a:solidFill>
                <a:latin typeface="Arial" pitchFamily="34" charset="0"/>
                <a:ea typeface="Arial" pitchFamily="34" charset="-122"/>
                <a:cs typeface="Arial" pitchFamily="34" charset="-120"/>
              </a:rPr>
              <a:t>◆ </a:t>
            </a:r>
            <a:r>
              <a:rPr lang="en-US" sz="1800" dirty="0">
                <a:solidFill>
                  <a:srgbClr val="0B0B0B"/>
                </a:solidFill>
                <a:latin typeface="Arial" pitchFamily="34" charset="0"/>
                <a:ea typeface="Arial" pitchFamily="34" charset="-122"/>
                <a:cs typeface="Arial" pitchFamily="34" charset="-120"/>
              </a:rPr>
              <a:t>marking (piatta)</a:t>
            </a:r>
            <a:endParaRPr lang="en-US" sz="1800" dirty="0"/>
          </a:p>
        </p:txBody>
      </p:sp>
      <p:sp>
        <p:nvSpPr>
          <p:cNvPr id="22" name="Text 19"/>
          <p:cNvSpPr/>
          <p:nvPr/>
        </p:nvSpPr>
        <p:spPr>
          <a:xfrm>
            <a:off x="14528750" y="6050310"/>
            <a:ext cx="899071" cy="352425"/>
          </a:xfrm>
          <a:prstGeom prst="rect">
            <a:avLst/>
          </a:prstGeom>
          <a:noFill/>
          <a:ln/>
        </p:spPr>
        <p:txBody>
          <a:bodyPr wrap="none" lIns="25400" tIns="25400" rIns="25400" bIns="25400" rtlCol="0" anchor="ctr">
            <a:normAutofit/>
          </a:bodyPr>
          <a:lstStyle/>
          <a:p>
            <a:pPr marL="0" indent="0" algn="r">
              <a:buNone/>
            </a:pPr>
            <a:r>
              <a:rPr lang="en-US" sz="1800" dirty="0">
                <a:solidFill>
                  <a:srgbClr val="0B0B0B"/>
                </a:solidFill>
                <a:latin typeface="Courier New" pitchFamily="34" charset="0"/>
                <a:ea typeface="Courier New" pitchFamily="34" charset="-122"/>
                <a:cs typeface="Courier New" pitchFamily="34" charset="-120"/>
              </a:rPr>
              <a:t>+0.06</a:t>
            </a:r>
            <a:endParaRPr lang="en-US" sz="1800" dirty="0"/>
          </a:p>
        </p:txBody>
      </p:sp>
      <p:sp>
        <p:nvSpPr>
          <p:cNvPr id="23" name="Text 20"/>
          <p:cNvSpPr/>
          <p:nvPr/>
        </p:nvSpPr>
        <p:spPr>
          <a:xfrm>
            <a:off x="15504021" y="6050310"/>
            <a:ext cx="899071" cy="352425"/>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11/18</a:t>
            </a:r>
            <a:endParaRPr lang="en-US" sz="1800" dirty="0"/>
          </a:p>
        </p:txBody>
      </p:sp>
      <p:sp>
        <p:nvSpPr>
          <p:cNvPr id="24" name="Text 21"/>
          <p:cNvSpPr/>
          <p:nvPr/>
        </p:nvSpPr>
        <p:spPr>
          <a:xfrm>
            <a:off x="16479292" y="6050310"/>
            <a:ext cx="1046708" cy="352425"/>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97/180</a:t>
            </a:r>
            <a:endParaRPr lang="en-US" sz="1800" dirty="0"/>
          </a:p>
        </p:txBody>
      </p:sp>
      <p:sp>
        <p:nvSpPr>
          <p:cNvPr id="25" name="Text 22"/>
          <p:cNvSpPr/>
          <p:nvPr/>
        </p:nvSpPr>
        <p:spPr>
          <a:xfrm>
            <a:off x="12192000" y="6631335"/>
            <a:ext cx="2336750" cy="347663"/>
          </a:xfrm>
          <a:prstGeom prst="rect">
            <a:avLst/>
          </a:prstGeom>
          <a:noFill/>
          <a:ln/>
        </p:spPr>
        <p:txBody>
          <a:bodyPr wrap="none" lIns="25400" tIns="25400" rIns="25400" bIns="25400" rtlCol="0" anchor="ctr">
            <a:normAutofit/>
          </a:bodyPr>
          <a:lstStyle/>
          <a:p>
            <a:pPr marL="0" indent="0" algn="l">
              <a:buNone/>
            </a:pPr>
            <a:r>
              <a:rPr lang="en-US" sz="1800" dirty="0">
                <a:solidFill>
                  <a:srgbClr val="EB6834"/>
                </a:solidFill>
                <a:latin typeface="Arial" pitchFamily="34" charset="0"/>
                <a:ea typeface="Arial" pitchFamily="34" charset="-122"/>
                <a:cs typeface="Arial" pitchFamily="34" charset="-120"/>
              </a:rPr>
              <a:t>◆ </a:t>
            </a:r>
            <a:r>
              <a:rPr lang="en-US" sz="1800" dirty="0">
                <a:solidFill>
                  <a:srgbClr val="0B0B0B"/>
                </a:solidFill>
                <a:latin typeface="Arial" pitchFamily="34" charset="0"/>
                <a:ea typeface="Arial" pitchFamily="34" charset="-122"/>
                <a:cs typeface="Arial" pitchFamily="34" charset="-120"/>
              </a:rPr>
              <a:t>checker (loss)</a:t>
            </a:r>
            <a:endParaRPr lang="en-US" sz="1800" dirty="0"/>
          </a:p>
        </p:txBody>
      </p:sp>
      <p:sp>
        <p:nvSpPr>
          <p:cNvPr id="26" name="Text 23"/>
          <p:cNvSpPr/>
          <p:nvPr/>
        </p:nvSpPr>
        <p:spPr>
          <a:xfrm>
            <a:off x="14528750" y="6631335"/>
            <a:ext cx="899071" cy="347663"/>
          </a:xfrm>
          <a:prstGeom prst="rect">
            <a:avLst/>
          </a:prstGeom>
          <a:noFill/>
          <a:ln/>
        </p:spPr>
        <p:txBody>
          <a:bodyPr wrap="none" lIns="25400" tIns="25400" rIns="25400" bIns="25400" rtlCol="0" anchor="ctr">
            <a:normAutofit/>
          </a:bodyPr>
          <a:lstStyle/>
          <a:p>
            <a:pPr marL="0" indent="0" algn="r">
              <a:buNone/>
            </a:pPr>
            <a:r>
              <a:rPr lang="en-US" sz="1800" dirty="0">
                <a:solidFill>
                  <a:srgbClr val="0B0B0B"/>
                </a:solidFill>
                <a:latin typeface="Courier New" pitchFamily="34" charset="0"/>
                <a:ea typeface="Courier New" pitchFamily="34" charset="-122"/>
                <a:cs typeface="Courier New" pitchFamily="34" charset="-120"/>
              </a:rPr>
              <a:t>+0.02</a:t>
            </a:r>
            <a:endParaRPr lang="en-US" sz="1800" dirty="0"/>
          </a:p>
        </p:txBody>
      </p:sp>
      <p:sp>
        <p:nvSpPr>
          <p:cNvPr id="27" name="Text 24"/>
          <p:cNvSpPr/>
          <p:nvPr/>
        </p:nvSpPr>
        <p:spPr>
          <a:xfrm>
            <a:off x="15504021" y="6631335"/>
            <a:ext cx="899071" cy="347663"/>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5/18</a:t>
            </a:r>
            <a:endParaRPr lang="en-US" sz="1800" dirty="0"/>
          </a:p>
        </p:txBody>
      </p:sp>
      <p:sp>
        <p:nvSpPr>
          <p:cNvPr id="28" name="Text 25"/>
          <p:cNvSpPr/>
          <p:nvPr/>
        </p:nvSpPr>
        <p:spPr>
          <a:xfrm>
            <a:off x="16479292" y="6631335"/>
            <a:ext cx="1046708" cy="347663"/>
          </a:xfrm>
          <a:prstGeom prst="rect">
            <a:avLst/>
          </a:prstGeom>
          <a:noFill/>
          <a:ln/>
        </p:spPr>
        <p:txBody>
          <a:bodyPr wrap="none" lIns="25400" tIns="25400" rIns="25400" bIns="25400" rtlCol="0" anchor="ctr">
            <a:normAutofit/>
          </a:bodyPr>
          <a:lstStyle/>
          <a:p>
            <a:pPr marL="0" indent="0" algn="r">
              <a:buNone/>
            </a:pPr>
            <a:r>
              <a:rPr lang="en-US" sz="1800" dirty="0">
                <a:solidFill>
                  <a:srgbClr val="52514E"/>
                </a:solidFill>
                <a:latin typeface="Courier New" pitchFamily="34" charset="0"/>
                <a:ea typeface="Courier New" pitchFamily="34" charset="-122"/>
                <a:cs typeface="Courier New" pitchFamily="34" charset="-120"/>
              </a:rPr>
              <a:t>58/180</a:t>
            </a:r>
            <a:endParaRPr lang="en-US" sz="1800" dirty="0"/>
          </a:p>
        </p:txBody>
      </p:sp>
      <p:sp>
        <p:nvSpPr>
          <p:cNvPr id="29" name="Text 26"/>
          <p:cNvSpPr/>
          <p:nvPr/>
        </p:nvSpPr>
        <p:spPr>
          <a:xfrm>
            <a:off x="12192000" y="7321897"/>
            <a:ext cx="5494020" cy="67806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800" dirty="0">
                <a:solidFill>
                  <a:srgbClr val="52514E"/>
                </a:solidFill>
                <a:latin typeface="Arial" pitchFamily="34" charset="0"/>
                <a:ea typeface="Arial" pitchFamily="34" charset="-122"/>
                <a:cs typeface="Arial" pitchFamily="34" charset="-120"/>
              </a:rPr>
              <a:t>Delta medio in punti; celle vinte su 18; seed vinti su 180. I colori sono gli stessi della figura.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419100"/>
            <a:ext cx="4958804" cy="514350"/>
          </a:xfrm>
          <a:prstGeom prst="rect">
            <a:avLst/>
          </a:prstGeom>
          <a:noFill/>
          <a:ln/>
        </p:spPr>
        <p:txBody>
          <a:bodyPr wrap="square" lIns="25400" tIns="25400" rIns="25400" bIns="25400" rtlCol="0" anchor="t">
            <a:normAutofit/>
          </a:bodyPr>
          <a:lstStyle/>
          <a:p>
            <a:pPr marL="0" indent="0" algn="l">
              <a:buNone/>
            </a:pPr>
            <a:r>
              <a:rPr lang="en-US" sz="3300" b="1" kern="0" spc="-49" dirty="0">
                <a:solidFill>
                  <a:srgbClr val="0B0B0B"/>
                </a:solidFill>
                <a:latin typeface="Arial" pitchFamily="34" charset="0"/>
                <a:ea typeface="Arial" pitchFamily="34" charset="-122"/>
                <a:cs typeface="Arial" pitchFamily="34" charset="-120"/>
              </a:rPr>
              <a:t>Chi vince su accuratezza</a:t>
            </a:r>
            <a:endParaRPr lang="en-US" sz="3300" dirty="0"/>
          </a:p>
        </p:txBody>
      </p:sp>
      <p:pic>
        <p:nvPicPr>
          <p:cNvPr id="3" name="Image 0" descr="preencoded.png"/>
          <p:cNvPicPr>
            <a:picLocks noChangeAspect="1"/>
          </p:cNvPicPr>
          <p:nvPr/>
        </p:nvPicPr>
        <p:blipFill>
          <a:blip r:embed="rId3"/>
          <a:srcRect/>
          <a:stretch/>
        </p:blipFill>
        <p:spPr>
          <a:xfrm>
            <a:off x="1985963" y="1290638"/>
            <a:ext cx="14316075" cy="83915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762000"/>
            <a:ext cx="9221019" cy="628650"/>
          </a:xfrm>
          <a:prstGeom prst="rect">
            <a:avLst/>
          </a:prstGeom>
          <a:noFill/>
          <a:ln/>
        </p:spPr>
        <p:txBody>
          <a:bodyPr wrap="square" lIns="25400" tIns="25400" rIns="25400" bIns="25400" rtlCol="0" anchor="t">
            <a:normAutofit/>
          </a:bodyPr>
          <a:lstStyle/>
          <a:p>
            <a:pPr marL="0" indent="0" algn="l">
              <a:buNone/>
            </a:pPr>
            <a:r>
              <a:rPr lang="en-US" sz="4050" b="1" kern="0" spc="-61" dirty="0">
                <a:solidFill>
                  <a:srgbClr val="0B0B0B"/>
                </a:solidFill>
                <a:latin typeface="Arial" pitchFamily="34" charset="0"/>
                <a:ea typeface="Arial" pitchFamily="34" charset="-122"/>
                <a:cs typeface="Arial" pitchFamily="34" charset="-120"/>
              </a:rPr>
              <a:t>Risultato 2: conformità delle predizioni</a:t>
            </a:r>
            <a:endParaRPr lang="en-US" sz="4050" dirty="0"/>
          </a:p>
        </p:txBody>
      </p:sp>
      <p:sp>
        <p:nvSpPr>
          <p:cNvPr id="3" name="Text 1"/>
          <p:cNvSpPr/>
          <p:nvPr/>
        </p:nvSpPr>
        <p:spPr>
          <a:xfrm>
            <a:off x="11056620" y="971550"/>
            <a:ext cx="6278880" cy="704850"/>
          </a:xfrm>
          <a:prstGeom prst="rect">
            <a:avLst/>
          </a:prstGeom>
          <a:noFill/>
          <a:ln/>
        </p:spPr>
        <p:txBody>
          <a:bodyPr wrap="square" lIns="25400" tIns="25400" rIns="25400" bIns="25400" rtlCol="0" anchor="t">
            <a:normAutofit/>
          </a:bodyPr>
          <a:lstStyle/>
          <a:p>
            <a:pPr marL="0" indent="0" algn="r">
              <a:buNone/>
            </a:pPr>
            <a:r>
              <a:rPr lang="en-US" sz="2025" dirty="0">
                <a:solidFill>
                  <a:srgbClr val="52514E"/>
                </a:solidFill>
                <a:latin typeface="Arial" pitchFamily="34" charset="0"/>
                <a:ea typeface="Arial" pitchFamily="34" charset="-122"/>
                <a:cs typeface="Arial" pitchFamily="34" charset="-120"/>
              </a:rPr>
              <a:t>Massa di probabilità vietata: quanta probabilità va su attività che non possono seguire l'ultima osservata.</a:t>
            </a:r>
            <a:endParaRPr lang="en-US" sz="2025" dirty="0"/>
          </a:p>
        </p:txBody>
      </p:sp>
      <p:pic>
        <p:nvPicPr>
          <p:cNvPr id="4" name="Image 0" descr="preencoded.png"/>
          <p:cNvPicPr>
            <a:picLocks noChangeAspect="1"/>
          </p:cNvPicPr>
          <p:nvPr/>
        </p:nvPicPr>
        <p:blipFill>
          <a:blip r:embed="rId3"/>
          <a:srcRect l="-1" r="-1"/>
          <a:stretch/>
        </p:blipFill>
        <p:spPr>
          <a:xfrm>
            <a:off x="952500" y="1981200"/>
            <a:ext cx="16383000" cy="5339209"/>
          </a:xfrm>
          <a:prstGeom prst="rect">
            <a:avLst/>
          </a:prstGeom>
        </p:spPr>
      </p:pic>
      <p:sp>
        <p:nvSpPr>
          <p:cNvPr id="5" name="Shape 2"/>
          <p:cNvSpPr/>
          <p:nvPr/>
        </p:nvSpPr>
        <p:spPr>
          <a:xfrm>
            <a:off x="952500" y="7663309"/>
            <a:ext cx="16383000" cy="9525"/>
          </a:xfrm>
          <a:prstGeom prst="rect">
            <a:avLst/>
          </a:prstGeom>
          <a:solidFill>
            <a:srgbClr val="B9B8B1"/>
          </a:solidFill>
          <a:ln/>
        </p:spPr>
        <p:txBody>
          <a:bodyPr/>
          <a:lstStyle/>
          <a:p>
            <a:endParaRPr lang="en-US"/>
          </a:p>
        </p:txBody>
      </p:sp>
      <p:sp>
        <p:nvSpPr>
          <p:cNvPr id="6" name="Text 3"/>
          <p:cNvSpPr/>
          <p:nvPr/>
        </p:nvSpPr>
        <p:spPr>
          <a:xfrm>
            <a:off x="952500" y="7939534"/>
            <a:ext cx="5597799" cy="1540669"/>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0B0B0B"/>
                </a:solidFill>
                <a:latin typeface="Arial" pitchFamily="34" charset="0"/>
                <a:ea typeface="Arial" pitchFamily="34" charset="-122"/>
                <a:cs typeface="Arial" pitchFamily="34" charset="-120"/>
              </a:rPr>
              <a:t>Il checker la riduce del </a:t>
            </a:r>
            <a:r>
              <a:rPr lang="en-US" sz="2100" b="1" dirty="0">
                <a:solidFill>
                  <a:srgbClr val="EB6834"/>
                </a:solidFill>
                <a:latin typeface="Arial" pitchFamily="34" charset="0"/>
                <a:ea typeface="Arial" pitchFamily="34" charset="-122"/>
                <a:cs typeface="Arial" pitchFamily="34" charset="-120"/>
              </a:rPr>
              <a:t>26-32% </a:t>
            </a:r>
            <a:r>
              <a:rPr lang="en-US" sz="2100" dirty="0">
                <a:solidFill>
                  <a:srgbClr val="0B0B0B"/>
                </a:solidFill>
                <a:latin typeface="Arial" pitchFamily="34" charset="0"/>
                <a:ea typeface="Arial" pitchFamily="34" charset="-122"/>
                <a:cs typeface="Arial" pitchFamily="34" charset="-120"/>
              </a:rPr>
              <a:t>in tutte e nove le celle, senza una sola eccezione. BPIC 2020 al 50%: 0.3992 → 0.2969; Sepsis al 50%: 0.1512 → 0.1097.</a:t>
            </a:r>
            <a:endParaRPr lang="en-US" sz="2100" dirty="0"/>
          </a:p>
        </p:txBody>
      </p:sp>
      <p:sp>
        <p:nvSpPr>
          <p:cNvPr id="7" name="Text 4"/>
          <p:cNvSpPr/>
          <p:nvPr/>
        </p:nvSpPr>
        <p:spPr>
          <a:xfrm>
            <a:off x="6920657" y="7939534"/>
            <a:ext cx="5088867" cy="1540669"/>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I tre modelli a feature restano incollati alla baseline, entro ±2% relativo; sui dati puliti lo scarto cambia perfino segno da dataset a dataset. Cioè è rumore.</a:t>
            </a:r>
            <a:endParaRPr lang="en-US" sz="2100" dirty="0"/>
          </a:p>
        </p:txBody>
      </p:sp>
      <p:sp>
        <p:nvSpPr>
          <p:cNvPr id="8" name="Text 5"/>
          <p:cNvSpPr/>
          <p:nvPr/>
        </p:nvSpPr>
        <p:spPr>
          <a:xfrm>
            <a:off x="12394704" y="7939534"/>
            <a:ext cx="5089020" cy="1540669"/>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2514E"/>
                </a:solidFill>
                <a:latin typeface="Arial" pitchFamily="34" charset="0"/>
                <a:ea typeface="Arial" pitchFamily="34" charset="-122"/>
                <a:cs typeface="Arial" pitchFamily="34" charset="-120"/>
              </a:rPr>
              <a:t>Il costo predittivo del checker è zero: −0.02 pt a rumore 0, −0.02 a 0.25, +0.11 a 0.50.</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7250" y="419100"/>
            <a:ext cx="5303580" cy="514350"/>
          </a:xfrm>
          <a:prstGeom prst="rect">
            <a:avLst/>
          </a:prstGeom>
          <a:noFill/>
          <a:ln/>
        </p:spPr>
        <p:txBody>
          <a:bodyPr wrap="square" lIns="25400" tIns="25400" rIns="25400" bIns="25400" rtlCol="0" anchor="t">
            <a:normAutofit/>
          </a:bodyPr>
          <a:lstStyle/>
          <a:p>
            <a:pPr marL="0" indent="0" algn="l">
              <a:buNone/>
            </a:pPr>
            <a:r>
              <a:rPr lang="en-US" sz="3300" b="1" kern="0" spc="-49" dirty="0">
                <a:solidFill>
                  <a:srgbClr val="0B0B0B"/>
                </a:solidFill>
                <a:latin typeface="Arial" pitchFamily="34" charset="0"/>
                <a:ea typeface="Arial" pitchFamily="34" charset="-122"/>
                <a:cs typeface="Arial" pitchFamily="34" charset="-120"/>
              </a:rPr>
              <a:t>Chi vince su massa vietata</a:t>
            </a:r>
            <a:endParaRPr lang="en-US" sz="3300" dirty="0"/>
          </a:p>
        </p:txBody>
      </p:sp>
      <p:pic>
        <p:nvPicPr>
          <p:cNvPr id="3" name="Image 0" descr="preencoded.png"/>
          <p:cNvPicPr>
            <a:picLocks noChangeAspect="1"/>
          </p:cNvPicPr>
          <p:nvPr/>
        </p:nvPicPr>
        <p:blipFill>
          <a:blip r:embed="rId3"/>
          <a:srcRect/>
          <a:stretch/>
        </p:blipFill>
        <p:spPr>
          <a:xfrm>
            <a:off x="1985963" y="1290638"/>
            <a:ext cx="14316075" cy="83915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7602200" cy="695325"/>
          </a:xfrm>
          <a:prstGeom prst="rect">
            <a:avLst/>
          </a:prstGeom>
          <a:noFill/>
          <a:ln/>
        </p:spPr>
        <p:txBody>
          <a:bodyPr wrap="square" lIns="25400" tIns="25400" rIns="25400" bIns="25400" rtlCol="0" anchor="t">
            <a:normAutofit/>
          </a:bodyPr>
          <a:lstStyle/>
          <a:p>
            <a:pPr marL="0" indent="0" algn="l">
              <a:buNone/>
            </a:pPr>
            <a:r>
              <a:rPr lang="en-US" sz="4500" b="1" kern="0" spc="-67" dirty="0">
                <a:solidFill>
                  <a:srgbClr val="0B0B0B"/>
                </a:solidFill>
                <a:latin typeface="Arial" pitchFamily="34" charset="0"/>
                <a:ea typeface="Arial" pitchFamily="34" charset="-122"/>
                <a:cs typeface="Arial" pitchFamily="34" charset="-120"/>
              </a:rPr>
              <a:t>Conclusioni</a:t>
            </a:r>
            <a:endParaRPr lang="en-US" sz="4500" dirty="0"/>
          </a:p>
        </p:txBody>
      </p:sp>
      <p:sp>
        <p:nvSpPr>
          <p:cNvPr id="3" name="Shape 1"/>
          <p:cNvSpPr/>
          <p:nvPr/>
        </p:nvSpPr>
        <p:spPr>
          <a:xfrm>
            <a:off x="1143000" y="2105025"/>
            <a:ext cx="16002000" cy="9525"/>
          </a:xfrm>
          <a:prstGeom prst="rect">
            <a:avLst/>
          </a:prstGeom>
          <a:solidFill>
            <a:srgbClr val="B9B8B1"/>
          </a:solidFill>
          <a:ln/>
        </p:spPr>
        <p:txBody>
          <a:bodyPr/>
          <a:lstStyle/>
          <a:p>
            <a:endParaRPr lang="en-US"/>
          </a:p>
        </p:txBody>
      </p:sp>
      <p:sp>
        <p:nvSpPr>
          <p:cNvPr id="4" name="Text 2"/>
          <p:cNvSpPr/>
          <p:nvPr/>
        </p:nvSpPr>
        <p:spPr>
          <a:xfrm>
            <a:off x="1143000" y="2400300"/>
            <a:ext cx="647700" cy="457200"/>
          </a:xfrm>
          <a:prstGeom prst="rect">
            <a:avLst/>
          </a:prstGeom>
          <a:noFill/>
          <a:ln/>
        </p:spPr>
        <p:txBody>
          <a:bodyPr wrap="square" lIns="25400" tIns="25400" rIns="25400" bIns="25400" rtlCol="0" anchor="t">
            <a:normAutofit/>
          </a:bodyPr>
          <a:lstStyle/>
          <a:p>
            <a:pPr marL="0" indent="0" algn="l">
              <a:lnSpc>
                <a:spcPct val="88000"/>
              </a:lnSpc>
              <a:buNone/>
            </a:pPr>
            <a:r>
              <a:rPr lang="en-US" sz="3300" b="1" dirty="0">
                <a:solidFill>
                  <a:srgbClr val="B9B8B1"/>
                </a:solidFill>
                <a:latin typeface="Arial" pitchFamily="34" charset="0"/>
                <a:ea typeface="Arial" pitchFamily="34" charset="-122"/>
                <a:cs typeface="Arial" pitchFamily="34" charset="-120"/>
              </a:rPr>
              <a:t>1</a:t>
            </a:r>
            <a:endParaRPr lang="en-US" sz="3300" dirty="0"/>
          </a:p>
        </p:txBody>
      </p:sp>
      <p:sp>
        <p:nvSpPr>
          <p:cNvPr id="5" name="Text 3"/>
          <p:cNvSpPr/>
          <p:nvPr/>
        </p:nvSpPr>
        <p:spPr>
          <a:xfrm>
            <a:off x="2095500" y="2934972"/>
            <a:ext cx="15500985" cy="811411"/>
          </a:xfrm>
          <a:prstGeom prst="rect">
            <a:avLst/>
          </a:prstGeom>
          <a:noFill/>
          <a:ln/>
        </p:spPr>
        <p:txBody>
          <a:bodyPr wrap="square" lIns="25400" tIns="25400" rIns="25400" bIns="25400" rtlCol="0" anchor="t">
            <a:normAutofit lnSpcReduction="10000"/>
          </a:bodyPr>
          <a:lstStyle/>
          <a:p>
            <a:pPr marL="0" indent="0" algn="l">
              <a:lnSpc>
                <a:spcPct val="123030"/>
              </a:lnSpc>
              <a:buNone/>
            </a:pPr>
            <a:r>
              <a:rPr lang="en-US" sz="2175" dirty="0">
                <a:solidFill>
                  <a:srgbClr val="52514E"/>
                </a:solidFill>
                <a:latin typeface="Arial" pitchFamily="34" charset="0"/>
                <a:ea typeface="Arial" pitchFamily="34" charset="-122"/>
                <a:cs typeface="Arial" pitchFamily="34" charset="-120"/>
              </a:rPr>
              <a:t>Quattro modi diversi di dare conoscenza di processo, 900 run, delta su 10 seed: tutti indistinguibili dalla baseline. Il modello 5 ha stato, struttura e storia, ed è quello che va leggermente peggio.</a:t>
            </a:r>
            <a:endParaRPr lang="en-US" sz="2175" dirty="0"/>
          </a:p>
        </p:txBody>
      </p:sp>
      <p:sp>
        <p:nvSpPr>
          <p:cNvPr id="6" name="Shape 4"/>
          <p:cNvSpPr/>
          <p:nvPr/>
        </p:nvSpPr>
        <p:spPr>
          <a:xfrm>
            <a:off x="1143000" y="4014718"/>
            <a:ext cx="16002000" cy="9525"/>
          </a:xfrm>
          <a:prstGeom prst="rect">
            <a:avLst/>
          </a:prstGeom>
          <a:solidFill>
            <a:srgbClr val="B9B8B1"/>
          </a:solidFill>
          <a:ln/>
        </p:spPr>
        <p:txBody>
          <a:bodyPr/>
          <a:lstStyle/>
          <a:p>
            <a:endParaRPr lang="en-US"/>
          </a:p>
        </p:txBody>
      </p:sp>
      <p:sp>
        <p:nvSpPr>
          <p:cNvPr id="7" name="Text 5"/>
          <p:cNvSpPr/>
          <p:nvPr/>
        </p:nvSpPr>
        <p:spPr>
          <a:xfrm>
            <a:off x="1143000" y="4294024"/>
            <a:ext cx="647700" cy="457200"/>
          </a:xfrm>
          <a:prstGeom prst="rect">
            <a:avLst/>
          </a:prstGeom>
          <a:noFill/>
          <a:ln/>
        </p:spPr>
        <p:txBody>
          <a:bodyPr wrap="square" lIns="25400" tIns="25400" rIns="25400" bIns="25400" rtlCol="0" anchor="t">
            <a:normAutofit lnSpcReduction="10000"/>
          </a:bodyPr>
          <a:lstStyle/>
          <a:p>
            <a:pPr marL="0" indent="0" algn="l">
              <a:lnSpc>
                <a:spcPct val="88000"/>
              </a:lnSpc>
              <a:buNone/>
            </a:pPr>
            <a:r>
              <a:rPr lang="en-US" sz="3300" b="1" dirty="0">
                <a:solidFill>
                  <a:srgbClr val="B9B8B1"/>
                </a:solidFill>
                <a:latin typeface="Arial" pitchFamily="34" charset="0"/>
                <a:ea typeface="Arial" pitchFamily="34" charset="-122"/>
                <a:cs typeface="Arial" pitchFamily="34" charset="-120"/>
              </a:rPr>
              <a:t>2</a:t>
            </a:r>
            <a:endParaRPr lang="en-US" sz="3300" dirty="0"/>
          </a:p>
        </p:txBody>
      </p:sp>
      <p:sp>
        <p:nvSpPr>
          <p:cNvPr id="8" name="Text 6"/>
          <p:cNvSpPr/>
          <p:nvPr/>
        </p:nvSpPr>
        <p:spPr>
          <a:xfrm>
            <a:off x="2095500" y="4294024"/>
            <a:ext cx="1655445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0B0B0B"/>
                </a:solidFill>
                <a:latin typeface="Arial" pitchFamily="34" charset="0"/>
                <a:ea typeface="Arial" pitchFamily="34" charset="-122"/>
                <a:cs typeface="Arial" pitchFamily="34" charset="-120"/>
              </a:rPr>
              <a:t>Conta il canale, non la quantità</a:t>
            </a:r>
            <a:endParaRPr lang="en-US" sz="2850" dirty="0"/>
          </a:p>
        </p:txBody>
      </p:sp>
      <p:sp>
        <p:nvSpPr>
          <p:cNvPr id="9" name="Text 7"/>
          <p:cNvSpPr/>
          <p:nvPr/>
        </p:nvSpPr>
        <p:spPr>
          <a:xfrm>
            <a:off x="2095500" y="4817899"/>
            <a:ext cx="15500985" cy="811411"/>
          </a:xfrm>
          <a:prstGeom prst="rect">
            <a:avLst/>
          </a:prstGeom>
          <a:noFill/>
          <a:ln/>
        </p:spPr>
        <p:txBody>
          <a:bodyPr wrap="square" lIns="25400" tIns="25400" rIns="25400" bIns="25400" rtlCol="0" anchor="t">
            <a:normAutofit lnSpcReduction="10000"/>
          </a:bodyPr>
          <a:lstStyle/>
          <a:p>
            <a:pPr marL="0" indent="0" algn="l">
              <a:lnSpc>
                <a:spcPct val="123030"/>
              </a:lnSpc>
              <a:buNone/>
            </a:pPr>
            <a:r>
              <a:rPr lang="en-US" sz="2175" dirty="0">
                <a:solidFill>
                  <a:srgbClr val="52514E"/>
                </a:solidFill>
                <a:latin typeface="Arial" pitchFamily="34" charset="0"/>
                <a:ea typeface="Arial" pitchFamily="34" charset="-122"/>
                <a:cs typeface="Arial" pitchFamily="34" charset="-120"/>
              </a:rPr>
              <a:t>La stessa conoscenza messa nella loss produce l'unico fatto (−26/−32% di massa vietata, 9 celle su 9). messa come feature non produce niente. Non sono due modi equivalenti di dare la stessa informazione.</a:t>
            </a:r>
            <a:endParaRPr lang="en-US" sz="2175" dirty="0"/>
          </a:p>
        </p:txBody>
      </p:sp>
      <p:sp>
        <p:nvSpPr>
          <p:cNvPr id="10" name="Shape 8"/>
          <p:cNvSpPr/>
          <p:nvPr/>
        </p:nvSpPr>
        <p:spPr>
          <a:xfrm>
            <a:off x="1143000" y="5972210"/>
            <a:ext cx="16002000" cy="9525"/>
          </a:xfrm>
          <a:prstGeom prst="rect">
            <a:avLst/>
          </a:prstGeom>
          <a:solidFill>
            <a:srgbClr val="B9B8B1"/>
          </a:solidFill>
          <a:ln/>
        </p:spPr>
        <p:txBody>
          <a:bodyPr/>
          <a:lstStyle/>
          <a:p>
            <a:endParaRPr lang="en-US"/>
          </a:p>
        </p:txBody>
      </p:sp>
      <p:sp>
        <p:nvSpPr>
          <p:cNvPr id="11" name="Text 9"/>
          <p:cNvSpPr/>
          <p:nvPr/>
        </p:nvSpPr>
        <p:spPr>
          <a:xfrm>
            <a:off x="1143000" y="6267485"/>
            <a:ext cx="647700" cy="457200"/>
          </a:xfrm>
          <a:prstGeom prst="rect">
            <a:avLst/>
          </a:prstGeom>
          <a:noFill/>
          <a:ln/>
        </p:spPr>
        <p:txBody>
          <a:bodyPr wrap="square" lIns="25400" tIns="25400" rIns="25400" bIns="25400" rtlCol="0" anchor="t">
            <a:normAutofit lnSpcReduction="10000"/>
          </a:bodyPr>
          <a:lstStyle/>
          <a:p>
            <a:pPr marL="0" indent="0" algn="l">
              <a:lnSpc>
                <a:spcPct val="88000"/>
              </a:lnSpc>
              <a:buNone/>
            </a:pPr>
            <a:r>
              <a:rPr lang="en-US" sz="3300" b="1" dirty="0">
                <a:solidFill>
                  <a:srgbClr val="B9B8B1"/>
                </a:solidFill>
                <a:latin typeface="Arial" pitchFamily="34" charset="0"/>
                <a:ea typeface="Arial" pitchFamily="34" charset="-122"/>
                <a:cs typeface="Arial" pitchFamily="34" charset="-120"/>
              </a:rPr>
              <a:t>3</a:t>
            </a:r>
            <a:endParaRPr lang="en-US" sz="3300" dirty="0"/>
          </a:p>
        </p:txBody>
      </p:sp>
      <p:sp>
        <p:nvSpPr>
          <p:cNvPr id="12" name="Text 10"/>
          <p:cNvSpPr/>
          <p:nvPr/>
        </p:nvSpPr>
        <p:spPr>
          <a:xfrm>
            <a:off x="2095500" y="6267485"/>
            <a:ext cx="1655445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0B0B0B"/>
                </a:solidFill>
                <a:latin typeface="Arial" pitchFamily="34" charset="0"/>
                <a:ea typeface="Arial" pitchFamily="34" charset="-122"/>
                <a:cs typeface="Arial" pitchFamily="34" charset="-120"/>
              </a:rPr>
              <a:t>Il limite del risultato positivo, dichiarato</a:t>
            </a:r>
            <a:endParaRPr lang="en-US" sz="2850" dirty="0"/>
          </a:p>
        </p:txBody>
      </p:sp>
      <p:sp>
        <p:nvSpPr>
          <p:cNvPr id="13" name="Text 11"/>
          <p:cNvSpPr/>
          <p:nvPr/>
        </p:nvSpPr>
        <p:spPr>
          <a:xfrm>
            <a:off x="2095500" y="6791360"/>
            <a:ext cx="15500985" cy="811411"/>
          </a:xfrm>
          <a:prstGeom prst="rect">
            <a:avLst/>
          </a:prstGeom>
          <a:noFill/>
          <a:ln/>
        </p:spPr>
        <p:txBody>
          <a:bodyPr wrap="square" lIns="25400" tIns="25400" rIns="25400" bIns="25400" rtlCol="0" anchor="t">
            <a:normAutofit lnSpcReduction="10000"/>
          </a:bodyPr>
          <a:lstStyle/>
          <a:p>
            <a:pPr marL="0" indent="0" algn="l">
              <a:lnSpc>
                <a:spcPct val="123030"/>
              </a:lnSpc>
              <a:buNone/>
            </a:pPr>
            <a:r>
              <a:rPr lang="en-US" sz="2175" dirty="0">
                <a:solidFill>
                  <a:srgbClr val="52514E"/>
                </a:solidFill>
                <a:latin typeface="Arial" pitchFamily="34" charset="0"/>
                <a:ea typeface="Arial" pitchFamily="34" charset="-122"/>
                <a:cs typeface="Arial" pitchFamily="34" charset="-120"/>
              </a:rPr>
              <a:t>Una maschera hard sulla softmax porterebbe la massa vietata esattamente a 0, gratis, per costruzione: sul piano pratico il masking domina il checker.</a:t>
            </a:r>
            <a:endParaRPr lang="en-US" sz="2175" dirty="0"/>
          </a:p>
        </p:txBody>
      </p:sp>
      <p:sp>
        <p:nvSpPr>
          <p:cNvPr id="17" name="Text 6">
            <a:extLst>
              <a:ext uri="{FF2B5EF4-FFF2-40B4-BE49-F238E27FC236}">
                <a16:creationId xmlns:a16="http://schemas.microsoft.com/office/drawing/2014/main" id="{2247386D-0A1F-7585-1C7D-C4A9C2FD39FF}"/>
              </a:ext>
            </a:extLst>
          </p:cNvPr>
          <p:cNvSpPr/>
          <p:nvPr/>
        </p:nvSpPr>
        <p:spPr>
          <a:xfrm>
            <a:off x="2095500" y="2405062"/>
            <a:ext cx="1655445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0B0B0B"/>
                </a:solidFill>
                <a:latin typeface="Arial" pitchFamily="34" charset="0"/>
                <a:ea typeface="Arial" pitchFamily="34" charset="-122"/>
                <a:cs typeface="Arial" pitchFamily="34" charset="-120"/>
              </a:rPr>
              <a:t>In </a:t>
            </a:r>
            <a:r>
              <a:rPr lang="en-US" sz="2850" b="1" dirty="0" err="1">
                <a:solidFill>
                  <a:srgbClr val="0B0B0B"/>
                </a:solidFill>
                <a:latin typeface="Arial" pitchFamily="34" charset="0"/>
                <a:ea typeface="Arial" pitchFamily="34" charset="-122"/>
                <a:cs typeface="Arial" pitchFamily="34" charset="-120"/>
              </a:rPr>
              <a:t>accuratezza</a:t>
            </a:r>
            <a:r>
              <a:rPr lang="en-US" sz="2850" b="1" dirty="0">
                <a:solidFill>
                  <a:srgbClr val="0B0B0B"/>
                </a:solidFill>
                <a:latin typeface="Arial" pitchFamily="34" charset="0"/>
                <a:ea typeface="Arial" pitchFamily="34" charset="-122"/>
                <a:cs typeface="Arial" pitchFamily="34" charset="-120"/>
              </a:rPr>
              <a:t>, niente</a:t>
            </a:r>
            <a:endParaRPr lang="en-US" sz="2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1465</Words>
  <Application>Microsoft Office PowerPoint</Application>
  <PresentationFormat>Personalizzato</PresentationFormat>
  <Paragraphs>151</Paragraphs>
  <Slides>13</Slides>
  <Notes>13</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13</vt:i4>
      </vt:variant>
    </vt:vector>
  </HeadingPairs>
  <TitlesOfParts>
    <vt:vector size="16" baseType="lpstr">
      <vt:lpstr>Arial</vt:lpstr>
      <vt:lpstr>Courier New</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matteo zorzi</cp:lastModifiedBy>
  <cp:revision>3</cp:revision>
  <dcterms:created xsi:type="dcterms:W3CDTF">2026-08-03T19:29:05Z</dcterms:created>
  <dcterms:modified xsi:type="dcterms:W3CDTF">2026-08-04T09:33:45Z</dcterms:modified>
</cp:coreProperties>
</file>