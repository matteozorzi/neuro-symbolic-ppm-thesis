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69" r:id="rId2"/>
    <p:sldId id="258" r:id="rId3"/>
    <p:sldId id="272" r:id="rId4"/>
    <p:sldId id="264" r:id="rId5"/>
    <p:sldId id="265" r:id="rId6"/>
    <p:sldId id="270" r:id="rId7"/>
    <p:sldId id="271" r:id="rId8"/>
    <p:sldId id="275" r:id="rId9"/>
    <p:sldId id="266" r:id="rId10"/>
    <p:sldId id="267" r:id="rId11"/>
    <p:sldId id="278" r:id="rId12"/>
    <p:sldId id="277" r:id="rId13"/>
    <p:sldId id="276" r:id="rId14"/>
    <p:sldId id="280" r:id="rId15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78" y="6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1042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Secondo aggiornamento. Non ri-spieghiamo i modelli: stessi due risultati sul protocollo temporale, poi il confronto, poi il suffisso — che e' il risultato nuovo.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cuore del deck. Cambiano cinque cose insieme: nessuna differenza di livello e' attribuibile a un singolo cambiamento. Confrontabile e' solo il confronto interno, checker contro baseline dentro ciascun protocollo.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Ogni nuvola attraversa lo zero. La linea dello zero è la protagonista.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 ognuna delle 18 celle: chi vince e su quanti seed su 10 la vittoria regge nel testa-a-testa con il secondo. Il vincitore cambia sette volte su diciotto, i seed vinti vanno da 3/10 a 7/10 (media 5.4). In cinque celle il margine sul secondo è sotto la quarta cifra decimale: 0.0004 contro uno scarto fra seed di 0.0009, cioè metà del rumore di misura.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AC6F1-7AC1-6BAA-A825-0C851E6B2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0EC477-6A25-5CC8-2FE6-9598DF2152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0C3107-F120-9814-6983-2D24F3E857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Ogni nuvola attraversa lo zero. La linea dello zero è la protagonista.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3EA060-5006-A66A-A155-E000C1B40D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4470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FF383-D414-1605-C84F-242C30E58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3854E4-5A59-7F34-0B1A-3BCA0C738D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D753C3-7F1B-C0FB-C8EF-CAE7959203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 ognuna delle 18 celle: chi vince e su quanti seed su 10 la vittoria regge nel testa-a-testa con il secondo. Il vincitore cambia sette volte su diciotto, i seed vinti vanno da 3/10 a 7/10 (media 5.4). In cinque celle il margine sul secondo è sotto la quarta cifra decimale: 0.0004 contro uno scarto fra seed di 0.0009, cioè metà del rumore di misura.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85CD55-6808-155D-2CCD-BEE643D0AE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8615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Unica slide a colore pieno: qui c'è l'unico effetto reale. Le quattro varianti senza effetto sono una sola linea grigia perché sono sovrapposte.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sei celle chiare a rumore 0.0 non vanno nascoste: su dati puliti la massa vietata di partenza è già quasi zero — su BPIC 2013 vale 0.0000 anche per il vincitore. Il checker serve dove il modello sta effettivamente sbagliando. Il numero da dire a voce: sotto rumore il margine è dieci volte lo scarto fra seed, 0.0960 contro 0.0075 su BPIC 2020 GRU a 0.50.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ECEDE-61AD-0315-FA6C-8DA4B0CDD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690A58-EF7A-7086-DA57-82A25DE8C6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9F2C3B-7597-CE12-9847-B7B02A9CA3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Unica slide a colore pieno: qui c'è l'unico effetto reale. Le quattro varianti senza effetto sono una sola linea grigia perché sono sovrapposte.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C5ADAE-23E6-1A75-933C-7755CB9402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2253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C1762-5429-7558-CDED-DCF25BB09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B2B02F-CC0A-805C-DA4E-92F516B20D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1BD91C-94A6-6E1B-E562-F2FFCDA24F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sei celle chiare a rumore 0.0 non vanno nascoste: su dati puliti la massa vietata di partenza è già quasi zero — su BPIC 2013 vale 0.0000 anche per il vincitore. Il checker serve dove il modello sta effettivamente sbagliando. Il numero da dire a voce: sotto rumore il margine è dieci volte lo scarto fra seed, 0.0960 contro 0.0075 su BPIC 2020 GRU a 0.50.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10C463-2F8B-0A27-49EA-E0F21DF05D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2766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1572578"/>
            <a:ext cx="173926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it-IT" sz="1800" kern="0" spc="288" noProof="1">
                <a:solidFill>
                  <a:srgbClr val="8A8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AGOSTO 2026 · SECONDO AGGIORNAMENTO</a:t>
            </a:r>
            <a:endParaRPr lang="it-IT" sz="1800" noProof="1"/>
          </a:p>
        </p:txBody>
      </p:sp>
      <p:sp>
        <p:nvSpPr>
          <p:cNvPr id="3" name="Text 1"/>
          <p:cNvSpPr/>
          <p:nvPr/>
        </p:nvSpPr>
        <p:spPr>
          <a:xfrm>
            <a:off x="1238250" y="2153603"/>
            <a:ext cx="14716125" cy="2260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3695"/>
              </a:lnSpc>
              <a:buNone/>
            </a:pPr>
            <a:r>
              <a:rPr lang="it-IT" sz="4800" b="1" kern="0" spc="-108" noProof="1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Conoscenza simbolica nel Predictive Process Monitoring: Due protocolli sperimentali a confronto</a:t>
            </a:r>
            <a:endParaRPr lang="it-IT" sz="4800" noProof="1"/>
          </a:p>
        </p:txBody>
      </p:sp>
      <p:sp>
        <p:nvSpPr>
          <p:cNvPr id="4" name="Text 2"/>
          <p:cNvSpPr/>
          <p:nvPr/>
        </p:nvSpPr>
        <p:spPr>
          <a:xfrm>
            <a:off x="1238250" y="3779203"/>
            <a:ext cx="1353883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it-IT" sz="2250" i="1" noProof="1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stesso risultato regge cambiando tutto il modo in cui i dati sono preparati? e cosa succede quando il modello deve generare l'intero suffisso della traccia?</a:t>
            </a:r>
            <a:endParaRPr lang="it-IT" sz="2250" noProof="1"/>
          </a:p>
        </p:txBody>
      </p:sp>
      <p:sp>
        <p:nvSpPr>
          <p:cNvPr id="5" name="Text 3"/>
          <p:cNvSpPr/>
          <p:nvPr/>
        </p:nvSpPr>
        <p:spPr>
          <a:xfrm>
            <a:off x="3497580" y="5697220"/>
            <a:ext cx="1940433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6275"/>
              </a:lnSpc>
              <a:buNone/>
            </a:pPr>
            <a:r>
              <a:rPr lang="it-IT" sz="6600" b="1" kern="0" spc="-198" noProof="1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1800</a:t>
            </a:r>
            <a:endParaRPr lang="it-IT" sz="6600" noProof="1"/>
          </a:p>
        </p:txBody>
      </p:sp>
      <p:sp>
        <p:nvSpPr>
          <p:cNvPr id="6" name="Text 4"/>
          <p:cNvSpPr/>
          <p:nvPr/>
        </p:nvSpPr>
        <p:spPr>
          <a:xfrm>
            <a:off x="5414010" y="6173470"/>
            <a:ext cx="43418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it-IT" sz="1950" noProof="1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</a:t>
            </a:r>
            <a:endParaRPr lang="it-IT" sz="1950" noProof="1"/>
          </a:p>
        </p:txBody>
      </p:sp>
      <p:sp>
        <p:nvSpPr>
          <p:cNvPr id="7" name="Text 5"/>
          <p:cNvSpPr/>
          <p:nvPr/>
        </p:nvSpPr>
        <p:spPr>
          <a:xfrm>
            <a:off x="6819741" y="5697220"/>
            <a:ext cx="517207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6275"/>
              </a:lnSpc>
              <a:buNone/>
            </a:pPr>
            <a:r>
              <a:rPr lang="it-IT" sz="6600" b="1" kern="0" spc="-198" noProof="1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it-IT" sz="6600" noProof="1"/>
          </a:p>
        </p:txBody>
      </p:sp>
      <p:sp>
        <p:nvSpPr>
          <p:cNvPr id="8" name="Text 6"/>
          <p:cNvSpPr/>
          <p:nvPr/>
        </p:nvSpPr>
        <p:spPr>
          <a:xfrm>
            <a:off x="7413149" y="6173470"/>
            <a:ext cx="263613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it-IT" sz="1950" noProof="1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protocolli indipendenti</a:t>
            </a:r>
            <a:endParaRPr lang="it-IT" sz="1950" noProof="1"/>
          </a:p>
        </p:txBody>
      </p:sp>
      <p:sp>
        <p:nvSpPr>
          <p:cNvPr id="9" name="Text 7"/>
          <p:cNvSpPr/>
          <p:nvPr/>
        </p:nvSpPr>
        <p:spPr>
          <a:xfrm>
            <a:off x="10857389" y="5697220"/>
            <a:ext cx="517208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6275"/>
              </a:lnSpc>
              <a:buNone/>
            </a:pPr>
            <a:r>
              <a:rPr lang="it-IT" sz="6600" b="1" kern="0" spc="-198" noProof="1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it-IT" sz="6600" noProof="1"/>
          </a:p>
        </p:txBody>
      </p:sp>
      <p:sp>
        <p:nvSpPr>
          <p:cNvPr id="10" name="Text 8"/>
          <p:cNvSpPr/>
          <p:nvPr/>
        </p:nvSpPr>
        <p:spPr>
          <a:xfrm>
            <a:off x="11450796" y="6173470"/>
            <a:ext cx="295325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it-IT" sz="1950" noProof="1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risultato che non cambia</a:t>
            </a:r>
            <a:endParaRPr lang="it-IT" sz="1950" noProof="1"/>
          </a:p>
        </p:txBody>
      </p:sp>
      <p:sp>
        <p:nvSpPr>
          <p:cNvPr id="11" name="Shape 9"/>
          <p:cNvSpPr/>
          <p:nvPr/>
        </p:nvSpPr>
        <p:spPr>
          <a:xfrm>
            <a:off x="1238250" y="7385685"/>
            <a:ext cx="15811500" cy="9525"/>
          </a:xfrm>
          <a:prstGeom prst="rect">
            <a:avLst/>
          </a:prstGeom>
          <a:solidFill>
            <a:srgbClr val="E6E5E1"/>
          </a:solidFill>
          <a:ln/>
        </p:spPr>
        <p:txBody>
          <a:bodyPr/>
          <a:lstStyle/>
          <a:p>
            <a:endParaRPr lang="it-IT" noProof="1"/>
          </a:p>
        </p:txBody>
      </p:sp>
      <p:sp>
        <p:nvSpPr>
          <p:cNvPr id="12" name="Text 10"/>
          <p:cNvSpPr/>
          <p:nvPr/>
        </p:nvSpPr>
        <p:spPr>
          <a:xfrm>
            <a:off x="1238250" y="7642860"/>
            <a:ext cx="15304770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310"/>
              </a:lnSpc>
              <a:buNone/>
            </a:pPr>
            <a:r>
              <a:rPr lang="it-IT" sz="1875" noProof="1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conoscenza messa </a:t>
            </a:r>
            <a:r>
              <a:rPr lang="it-IT" sz="1875" b="1" noProof="1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nella loss </a:t>
            </a:r>
            <a:r>
              <a:rPr lang="it-IT" sz="1875" noProof="1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riduce la probabilità su attività impossibili del </a:t>
            </a:r>
            <a:r>
              <a:rPr lang="it-IT" sz="1875" b="1" noProof="1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28.0% </a:t>
            </a:r>
            <a:r>
              <a:rPr lang="it-IT" sz="1875" noProof="1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nel primo esperimento e del </a:t>
            </a:r>
            <a:r>
              <a:rPr lang="it-IT" sz="1875" b="1" noProof="1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26.6% </a:t>
            </a:r>
            <a:r>
              <a:rPr lang="it-IT" sz="1875" noProof="1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nel secondo, senza mai perdere: 177 confronti su 180 e </a:t>
            </a:r>
            <a:r>
              <a:rPr lang="it-IT" sz="1875" b="1" noProof="1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 su 180</a:t>
            </a:r>
            <a:r>
              <a:rPr lang="it-IT" sz="1875" noProof="1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La stessa conoscenza messa </a:t>
            </a:r>
            <a:r>
              <a:rPr lang="it-IT" sz="1875" b="1" noProof="1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 feature </a:t>
            </a:r>
            <a:r>
              <a:rPr lang="it-IT" sz="1875" noProof="1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fa niente o fa danno.</a:t>
            </a:r>
            <a:endParaRPr lang="it-IT" sz="1875" noProof="1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2625D21D-881C-4E56-EE42-815A69600D17}"/>
              </a:ext>
            </a:extLst>
          </p:cNvPr>
          <p:cNvSpPr/>
          <p:nvPr/>
        </p:nvSpPr>
        <p:spPr>
          <a:xfrm>
            <a:off x="1238250" y="5652135"/>
            <a:ext cx="517207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6275"/>
              </a:lnSpc>
              <a:buNone/>
            </a:pPr>
            <a:r>
              <a:rPr lang="it-IT" sz="6600" b="1" kern="0" spc="-198" noProof="1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it-IT" sz="6600" noProof="1"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08BD917F-2A75-C81D-2EB2-D6BDD3657107}"/>
              </a:ext>
            </a:extLst>
          </p:cNvPr>
          <p:cNvSpPr/>
          <p:nvPr/>
        </p:nvSpPr>
        <p:spPr>
          <a:xfrm>
            <a:off x="1831658" y="6128385"/>
            <a:ext cx="263613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it-IT" sz="1950" noProof="1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modelli</a:t>
            </a:r>
            <a:endParaRPr lang="it-IT" sz="195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762000"/>
            <a:ext cx="1739265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it-IT" sz="3900" b="1" kern="0" spc="-58" noProof="1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 cambia fra i due esperimenti</a:t>
            </a:r>
            <a:endParaRPr lang="it-IT" sz="3900" noProof="1"/>
          </a:p>
        </p:txBody>
      </p:sp>
      <p:sp>
        <p:nvSpPr>
          <p:cNvPr id="3" name="Text 1"/>
          <p:cNvSpPr/>
          <p:nvPr/>
        </p:nvSpPr>
        <p:spPr>
          <a:xfrm>
            <a:off x="6661150" y="1657350"/>
            <a:ext cx="546227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it-IT" sz="1800" kern="0" spc="216" noProof="1">
                <a:solidFill>
                  <a:srgbClr val="8A8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ESPERIMENTO 1</a:t>
            </a:r>
            <a:endParaRPr lang="it-IT" sz="1800" noProof="1"/>
          </a:p>
        </p:txBody>
      </p:sp>
      <p:sp>
        <p:nvSpPr>
          <p:cNvPr id="4" name="Text 2"/>
          <p:cNvSpPr/>
          <p:nvPr/>
        </p:nvSpPr>
        <p:spPr>
          <a:xfrm>
            <a:off x="12084050" y="1657350"/>
            <a:ext cx="546227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it-IT" sz="1800" kern="0" spc="216" noProof="1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ESPERIMENTO 2</a:t>
            </a:r>
            <a:endParaRPr lang="it-IT" sz="1800" noProof="1"/>
          </a:p>
        </p:txBody>
      </p:sp>
      <p:sp>
        <p:nvSpPr>
          <p:cNvPr id="5" name="Shape 3"/>
          <p:cNvSpPr/>
          <p:nvPr/>
        </p:nvSpPr>
        <p:spPr>
          <a:xfrm>
            <a:off x="1238250" y="2105025"/>
            <a:ext cx="15811500" cy="9525"/>
          </a:xfrm>
          <a:prstGeom prst="rect">
            <a:avLst/>
          </a:prstGeom>
          <a:solidFill>
            <a:srgbClr val="E6E5E1"/>
          </a:solidFill>
          <a:ln/>
        </p:spPr>
        <p:txBody>
          <a:bodyPr/>
          <a:lstStyle/>
          <a:p>
            <a:endParaRPr lang="it-IT" noProof="1"/>
          </a:p>
        </p:txBody>
      </p:sp>
      <p:sp>
        <p:nvSpPr>
          <p:cNvPr id="6" name="Text 4"/>
          <p:cNvSpPr/>
          <p:nvPr/>
        </p:nvSpPr>
        <p:spPr>
          <a:xfrm>
            <a:off x="1238250" y="2305050"/>
            <a:ext cx="546227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it-IT" sz="2025" noProof="1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divisione dei case</a:t>
            </a:r>
            <a:endParaRPr lang="it-IT" sz="2025" noProof="1"/>
          </a:p>
        </p:txBody>
      </p:sp>
      <p:sp>
        <p:nvSpPr>
          <p:cNvPr id="7" name="Text 5"/>
          <p:cNvSpPr/>
          <p:nvPr/>
        </p:nvSpPr>
        <p:spPr>
          <a:xfrm>
            <a:off x="6661150" y="2305050"/>
            <a:ext cx="546227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it-IT" sz="2025" noProof="1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casuale, con seed</a:t>
            </a:r>
            <a:endParaRPr lang="it-IT" sz="2025" noProof="1"/>
          </a:p>
        </p:txBody>
      </p:sp>
      <p:sp>
        <p:nvSpPr>
          <p:cNvPr id="8" name="Text 6"/>
          <p:cNvSpPr/>
          <p:nvPr/>
        </p:nvSpPr>
        <p:spPr>
          <a:xfrm>
            <a:off x="12084050" y="2305050"/>
            <a:ext cx="546227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it-IT" sz="2025" noProof="1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temporale, per timestamp</a:t>
            </a:r>
            <a:endParaRPr lang="it-IT" sz="2025" noProof="1"/>
          </a:p>
        </p:txBody>
      </p:sp>
      <p:sp>
        <p:nvSpPr>
          <p:cNvPr id="9" name="Shape 7"/>
          <p:cNvSpPr/>
          <p:nvPr/>
        </p:nvSpPr>
        <p:spPr>
          <a:xfrm>
            <a:off x="1238250" y="2790825"/>
            <a:ext cx="15811500" cy="9525"/>
          </a:xfrm>
          <a:prstGeom prst="rect">
            <a:avLst/>
          </a:prstGeom>
          <a:solidFill>
            <a:srgbClr val="E6E5E1"/>
          </a:solidFill>
          <a:ln/>
        </p:spPr>
        <p:txBody>
          <a:bodyPr/>
          <a:lstStyle/>
          <a:p>
            <a:endParaRPr lang="it-IT" noProof="1"/>
          </a:p>
        </p:txBody>
      </p:sp>
      <p:sp>
        <p:nvSpPr>
          <p:cNvPr id="10" name="Text 8"/>
          <p:cNvSpPr/>
          <p:nvPr/>
        </p:nvSpPr>
        <p:spPr>
          <a:xfrm>
            <a:off x="1238250" y="2990850"/>
            <a:ext cx="546227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it-IT" sz="2025" noProof="1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filtri sul log</a:t>
            </a:r>
            <a:endParaRPr lang="it-IT" sz="2025" noProof="1"/>
          </a:p>
        </p:txBody>
      </p:sp>
      <p:sp>
        <p:nvSpPr>
          <p:cNvPr id="11" name="Text 9"/>
          <p:cNvSpPr/>
          <p:nvPr/>
        </p:nvSpPr>
        <p:spPr>
          <a:xfrm>
            <a:off x="6661150" y="2990850"/>
            <a:ext cx="546227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it-IT" sz="2025" noProof="1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varianti deduplicate</a:t>
            </a:r>
            <a:endParaRPr lang="it-IT" sz="2025" noProof="1"/>
          </a:p>
        </p:txBody>
      </p:sp>
      <p:sp>
        <p:nvSpPr>
          <p:cNvPr id="12" name="Text 10"/>
          <p:cNvSpPr/>
          <p:nvPr/>
        </p:nvSpPr>
        <p:spPr>
          <a:xfrm>
            <a:off x="12084050" y="2990850"/>
            <a:ext cx="546227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it-IT" sz="2025" noProof="1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nessuno</a:t>
            </a:r>
            <a:endParaRPr lang="it-IT" sz="2025" noProof="1"/>
          </a:p>
        </p:txBody>
      </p:sp>
      <p:sp>
        <p:nvSpPr>
          <p:cNvPr id="13" name="Shape 11"/>
          <p:cNvSpPr/>
          <p:nvPr/>
        </p:nvSpPr>
        <p:spPr>
          <a:xfrm>
            <a:off x="1238250" y="3476625"/>
            <a:ext cx="15811500" cy="9525"/>
          </a:xfrm>
          <a:prstGeom prst="rect">
            <a:avLst/>
          </a:prstGeom>
          <a:solidFill>
            <a:srgbClr val="E6E5E1"/>
          </a:solidFill>
          <a:ln/>
        </p:spPr>
        <p:txBody>
          <a:bodyPr/>
          <a:lstStyle/>
          <a:p>
            <a:endParaRPr lang="it-IT" noProof="1"/>
          </a:p>
        </p:txBody>
      </p:sp>
      <p:sp>
        <p:nvSpPr>
          <p:cNvPr id="14" name="Text 12"/>
          <p:cNvSpPr/>
          <p:nvPr/>
        </p:nvSpPr>
        <p:spPr>
          <a:xfrm>
            <a:off x="1238250" y="3676650"/>
            <a:ext cx="546227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it-IT" sz="2025" noProof="1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vocabolario</a:t>
            </a:r>
            <a:endParaRPr lang="it-IT" sz="2025" noProof="1"/>
          </a:p>
        </p:txBody>
      </p:sp>
      <p:sp>
        <p:nvSpPr>
          <p:cNvPr id="15" name="Text 13"/>
          <p:cNvSpPr/>
          <p:nvPr/>
        </p:nvSpPr>
        <p:spPr>
          <a:xfrm>
            <a:off x="6661150" y="3676650"/>
            <a:ext cx="546227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it-IT" sz="2025" noProof="1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 solo train</a:t>
            </a:r>
            <a:endParaRPr lang="it-IT" sz="2025" noProof="1"/>
          </a:p>
        </p:txBody>
      </p:sp>
      <p:sp>
        <p:nvSpPr>
          <p:cNvPr id="16" name="Text 14"/>
          <p:cNvSpPr/>
          <p:nvPr/>
        </p:nvSpPr>
        <p:spPr>
          <a:xfrm>
            <a:off x="12084050" y="3676650"/>
            <a:ext cx="546227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it-IT" sz="2025" noProof="1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tutte le partizioni</a:t>
            </a:r>
            <a:endParaRPr lang="it-IT" sz="2025" noProof="1"/>
          </a:p>
        </p:txBody>
      </p:sp>
      <p:sp>
        <p:nvSpPr>
          <p:cNvPr id="17" name="Shape 15"/>
          <p:cNvSpPr/>
          <p:nvPr/>
        </p:nvSpPr>
        <p:spPr>
          <a:xfrm>
            <a:off x="1238250" y="4162425"/>
            <a:ext cx="15811500" cy="9525"/>
          </a:xfrm>
          <a:prstGeom prst="rect">
            <a:avLst/>
          </a:prstGeom>
          <a:solidFill>
            <a:srgbClr val="E6E5E1"/>
          </a:solidFill>
          <a:ln/>
        </p:spPr>
        <p:txBody>
          <a:bodyPr/>
          <a:lstStyle/>
          <a:p>
            <a:endParaRPr lang="it-IT" noProof="1"/>
          </a:p>
        </p:txBody>
      </p:sp>
      <p:sp>
        <p:nvSpPr>
          <p:cNvPr id="18" name="Text 16"/>
          <p:cNvSpPr/>
          <p:nvPr/>
        </p:nvSpPr>
        <p:spPr>
          <a:xfrm>
            <a:off x="1238250" y="4362450"/>
            <a:ext cx="546227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it-IT" sz="2025" noProof="1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conoscenza estratta da</a:t>
            </a:r>
            <a:endParaRPr lang="it-IT" sz="2025" noProof="1"/>
          </a:p>
        </p:txBody>
      </p:sp>
      <p:sp>
        <p:nvSpPr>
          <p:cNvPr id="19" name="Text 17"/>
          <p:cNvSpPr/>
          <p:nvPr/>
        </p:nvSpPr>
        <p:spPr>
          <a:xfrm>
            <a:off x="6661150" y="4362450"/>
            <a:ext cx="546227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it-IT" sz="2025" noProof="1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</a:t>
            </a:r>
            <a:endParaRPr lang="it-IT" sz="2025" noProof="1"/>
          </a:p>
        </p:txBody>
      </p:sp>
      <p:sp>
        <p:nvSpPr>
          <p:cNvPr id="20" name="Text 18"/>
          <p:cNvSpPr/>
          <p:nvPr/>
        </p:nvSpPr>
        <p:spPr>
          <a:xfrm>
            <a:off x="12084050" y="4362450"/>
            <a:ext cx="546227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it-IT" sz="2025" noProof="1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it-IT" sz="2025" noProof="1"/>
          </a:p>
        </p:txBody>
      </p:sp>
      <p:sp>
        <p:nvSpPr>
          <p:cNvPr id="21" name="Shape 19"/>
          <p:cNvSpPr/>
          <p:nvPr/>
        </p:nvSpPr>
        <p:spPr>
          <a:xfrm>
            <a:off x="1238250" y="4848225"/>
            <a:ext cx="15811500" cy="9525"/>
          </a:xfrm>
          <a:prstGeom prst="rect">
            <a:avLst/>
          </a:prstGeom>
          <a:solidFill>
            <a:srgbClr val="E6E5E1"/>
          </a:solidFill>
          <a:ln/>
        </p:spPr>
        <p:txBody>
          <a:bodyPr/>
          <a:lstStyle/>
          <a:p>
            <a:endParaRPr lang="it-IT" noProof="1"/>
          </a:p>
        </p:txBody>
      </p:sp>
      <p:sp>
        <p:nvSpPr>
          <p:cNvPr id="22" name="Text 20"/>
          <p:cNvSpPr/>
          <p:nvPr/>
        </p:nvSpPr>
        <p:spPr>
          <a:xfrm>
            <a:off x="1238250" y="5048250"/>
            <a:ext cx="546227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it-IT" sz="2025" noProof="1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rumore</a:t>
            </a:r>
            <a:endParaRPr lang="it-IT" sz="2025" noProof="1"/>
          </a:p>
        </p:txBody>
      </p:sp>
      <p:sp>
        <p:nvSpPr>
          <p:cNvPr id="23" name="Text 21"/>
          <p:cNvSpPr/>
          <p:nvPr/>
        </p:nvSpPr>
        <p:spPr>
          <a:xfrm>
            <a:off x="6661150" y="5048250"/>
            <a:ext cx="546227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it-IT" sz="2025" noProof="1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sull'etichetta da predire</a:t>
            </a:r>
            <a:endParaRPr lang="it-IT" sz="2025" noProof="1"/>
          </a:p>
        </p:txBody>
      </p:sp>
      <p:sp>
        <p:nvSpPr>
          <p:cNvPr id="24" name="Text 22"/>
          <p:cNvSpPr/>
          <p:nvPr/>
        </p:nvSpPr>
        <p:spPr>
          <a:xfrm>
            <a:off x="12084050" y="5048250"/>
            <a:ext cx="546227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it-IT" sz="2025" noProof="1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 ogni evento della traccia</a:t>
            </a:r>
            <a:endParaRPr lang="it-IT" sz="2025" noProof="1"/>
          </a:p>
        </p:txBody>
      </p:sp>
      <p:sp>
        <p:nvSpPr>
          <p:cNvPr id="25" name="Shape 23"/>
          <p:cNvSpPr/>
          <p:nvPr/>
        </p:nvSpPr>
        <p:spPr>
          <a:xfrm>
            <a:off x="1238250" y="6219825"/>
            <a:ext cx="15811500" cy="9525"/>
          </a:xfrm>
          <a:prstGeom prst="rect">
            <a:avLst/>
          </a:prstGeom>
          <a:solidFill>
            <a:srgbClr val="E6E5E1"/>
          </a:solidFill>
          <a:ln/>
        </p:spPr>
        <p:txBody>
          <a:bodyPr/>
          <a:lstStyle/>
          <a:p>
            <a:endParaRPr lang="it-IT" noProof="1"/>
          </a:p>
        </p:txBody>
      </p:sp>
      <p:sp>
        <p:nvSpPr>
          <p:cNvPr id="26" name="Shape 24"/>
          <p:cNvSpPr/>
          <p:nvPr/>
        </p:nvSpPr>
        <p:spPr>
          <a:xfrm>
            <a:off x="1238250" y="5534025"/>
            <a:ext cx="15811500" cy="9525"/>
          </a:xfrm>
          <a:prstGeom prst="rect">
            <a:avLst/>
          </a:prstGeom>
          <a:solidFill>
            <a:srgbClr val="E6E5E1"/>
          </a:solidFill>
          <a:ln/>
        </p:spPr>
        <p:txBody>
          <a:bodyPr/>
          <a:lstStyle/>
          <a:p>
            <a:endParaRPr lang="it-IT" noProof="1"/>
          </a:p>
        </p:txBody>
      </p:sp>
      <p:sp>
        <p:nvSpPr>
          <p:cNvPr id="27" name="Text 25"/>
          <p:cNvSpPr/>
          <p:nvPr/>
        </p:nvSpPr>
        <p:spPr>
          <a:xfrm>
            <a:off x="1238250" y="5734050"/>
            <a:ext cx="546227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it-IT" sz="2025" noProof="1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compiti</a:t>
            </a:r>
            <a:endParaRPr lang="it-IT" sz="2025" noProof="1"/>
          </a:p>
        </p:txBody>
      </p:sp>
      <p:sp>
        <p:nvSpPr>
          <p:cNvPr id="28" name="Text 26"/>
          <p:cNvSpPr/>
          <p:nvPr/>
        </p:nvSpPr>
        <p:spPr>
          <a:xfrm>
            <a:off x="6661150" y="5734050"/>
            <a:ext cx="546227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r>
              <a:rPr lang="it-IT" sz="2025" noProof="1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activity </a:t>
            </a:r>
            <a:r>
              <a:rPr lang="it-IT" sz="2025" noProof="1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suffisso</a:t>
            </a:r>
            <a:endParaRPr lang="it-IT" sz="2025" noProof="1"/>
          </a:p>
        </p:txBody>
      </p:sp>
      <p:sp>
        <p:nvSpPr>
          <p:cNvPr id="29" name="Text 27"/>
          <p:cNvSpPr/>
          <p:nvPr/>
        </p:nvSpPr>
        <p:spPr>
          <a:xfrm>
            <a:off x="12084050" y="5734050"/>
            <a:ext cx="546227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it-IT" sz="2025" noProof="1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activity + suffisso</a:t>
            </a:r>
            <a:endParaRPr lang="it-IT" sz="2025" noProof="1"/>
          </a:p>
        </p:txBody>
      </p:sp>
      <p:sp>
        <p:nvSpPr>
          <p:cNvPr id="30" name="Text 28"/>
          <p:cNvSpPr/>
          <p:nvPr/>
        </p:nvSpPr>
        <p:spPr>
          <a:xfrm>
            <a:off x="1238250" y="6610350"/>
            <a:ext cx="8673684" cy="1484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613"/>
              </a:lnSpc>
              <a:buNone/>
            </a:pPr>
            <a:r>
              <a:rPr lang="it-IT" sz="1950" noProof="1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Cambiano </a:t>
            </a:r>
            <a:r>
              <a:rPr lang="it-IT" sz="1950" b="1" noProof="1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cinque cose insieme</a:t>
            </a:r>
            <a:r>
              <a:rPr lang="it-IT" sz="1950" noProof="1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Quindi nessuna differenza di </a:t>
            </a:r>
            <a:r>
              <a:rPr lang="it-IT" sz="1950" i="1" noProof="1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livello </a:t>
            </a:r>
            <a:r>
              <a:rPr lang="it-IT" sz="1950" noProof="1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 i due esperimenti è attribuibile a un singolo cambiamento. Quello che si può confrontare è il confronto </a:t>
            </a:r>
            <a:r>
              <a:rPr lang="it-IT" sz="1950" b="1" noProof="1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interno</a:t>
            </a:r>
            <a:r>
              <a:rPr lang="it-IT" sz="1950" noProof="1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it-IT" sz="1800" noProof="1">
                <a:solidFill>
                  <a:srgbClr val="525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checker </a:t>
            </a:r>
            <a:r>
              <a:rPr lang="it-IT" sz="1950" noProof="1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 </a:t>
            </a:r>
            <a:r>
              <a:rPr lang="it-IT" sz="1800" noProof="1">
                <a:solidFill>
                  <a:srgbClr val="525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baseline </a:t>
            </a:r>
            <a:r>
              <a:rPr lang="it-IT" sz="1950" noProof="1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dentro ciascun protocollo.</a:t>
            </a:r>
            <a:endParaRPr lang="it-IT" sz="1950" noProof="1"/>
          </a:p>
        </p:txBody>
      </p:sp>
      <p:sp>
        <p:nvSpPr>
          <p:cNvPr id="31" name="Shape 29"/>
          <p:cNvSpPr/>
          <p:nvPr/>
        </p:nvSpPr>
        <p:spPr>
          <a:xfrm>
            <a:off x="10230802" y="6610350"/>
            <a:ext cx="9525" cy="1077278"/>
          </a:xfrm>
          <a:prstGeom prst="rect">
            <a:avLst/>
          </a:prstGeom>
          <a:solidFill>
            <a:srgbClr val="E6E5E1"/>
          </a:solidFill>
          <a:ln/>
        </p:spPr>
        <p:txBody>
          <a:bodyPr/>
          <a:lstStyle/>
          <a:p>
            <a:endParaRPr lang="it-IT" noProof="1"/>
          </a:p>
        </p:txBody>
      </p:sp>
      <p:sp>
        <p:nvSpPr>
          <p:cNvPr id="32" name="Text 30"/>
          <p:cNvSpPr/>
          <p:nvPr/>
        </p:nvSpPr>
        <p:spPr>
          <a:xfrm>
            <a:off x="10811827" y="6610350"/>
            <a:ext cx="6442491" cy="11153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613"/>
              </a:lnSpc>
              <a:buNone/>
            </a:pPr>
            <a:r>
              <a:rPr lang="it-IT" sz="1950" noProof="1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Griglia identica nei due: 3 dataset × 2 architetture × 5 modelli × 3 livelli di rumore × 10 seed = </a:t>
            </a:r>
            <a:r>
              <a:rPr lang="it-IT" sz="1950" b="1" noProof="1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900 run ciascuno </a:t>
            </a:r>
            <a:r>
              <a:rPr lang="it-IT" sz="1950" noProof="1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con le chiavi che coincidono una a una.</a:t>
            </a:r>
            <a:endParaRPr lang="it-IT" sz="195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71637" y="0"/>
            <a:ext cx="14944725" cy="10287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82496" y="0"/>
            <a:ext cx="14923008" cy="10287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E429E893-E00B-7A11-D50B-C74FB2A8740B}"/>
              </a:ext>
            </a:extLst>
          </p:cNvPr>
          <p:cNvSpPr/>
          <p:nvPr/>
        </p:nvSpPr>
        <p:spPr>
          <a:xfrm>
            <a:off x="2286004" y="2999422"/>
            <a:ext cx="13716000" cy="41460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0000" b="1" kern="1200" spc="-67" noProof="1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Accuratezza</a:t>
            </a:r>
            <a:endParaRPr lang="en-US" sz="10000" kern="1200" noProof="1">
              <a:solidFill>
                <a:schemeClr val="tx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77840" y="8287179"/>
            <a:ext cx="7132320" cy="411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0620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9730"/>
          <a:stretch>
            <a:fillRect/>
          </a:stretch>
        </p:blipFill>
        <p:spPr>
          <a:xfrm>
            <a:off x="762000" y="1921494"/>
            <a:ext cx="10953750" cy="682888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192000" y="3275856"/>
            <a:ext cx="5494020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419"/>
              </a:lnSpc>
              <a:buNone/>
            </a:pPr>
            <a:r>
              <a:rPr lang="it-IT" sz="1950" noProof="1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Differenze rispetto alla baseline, appaiate per seed. 18 celle × 10 seed = 180 coppie.</a:t>
            </a:r>
            <a:endParaRPr lang="it-IT" sz="1950" noProof="1"/>
          </a:p>
        </p:txBody>
      </p:sp>
      <p:sp>
        <p:nvSpPr>
          <p:cNvPr id="5" name="Shape 2"/>
          <p:cNvSpPr/>
          <p:nvPr/>
        </p:nvSpPr>
        <p:spPr>
          <a:xfrm>
            <a:off x="12192000" y="4745385"/>
            <a:ext cx="5334000" cy="9525"/>
          </a:xfrm>
          <a:prstGeom prst="rect">
            <a:avLst/>
          </a:prstGeom>
          <a:solidFill>
            <a:srgbClr val="B9B8B1"/>
          </a:solidFill>
          <a:ln/>
        </p:spPr>
        <p:txBody>
          <a:bodyPr/>
          <a:lstStyle/>
          <a:p>
            <a:endParaRPr lang="it-IT" noProof="1"/>
          </a:p>
        </p:txBody>
      </p:sp>
      <p:sp>
        <p:nvSpPr>
          <p:cNvPr id="6" name="Text 3"/>
          <p:cNvSpPr/>
          <p:nvPr/>
        </p:nvSpPr>
        <p:spPr>
          <a:xfrm>
            <a:off x="12192000" y="4331047"/>
            <a:ext cx="2336750" cy="3429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it-IT" sz="1800" noProof="1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modello</a:t>
            </a:r>
            <a:endParaRPr lang="it-IT" sz="1800" noProof="1"/>
          </a:p>
        </p:txBody>
      </p:sp>
      <p:sp>
        <p:nvSpPr>
          <p:cNvPr id="7" name="Text 4"/>
          <p:cNvSpPr/>
          <p:nvPr/>
        </p:nvSpPr>
        <p:spPr>
          <a:xfrm>
            <a:off x="14528750" y="4331047"/>
            <a:ext cx="899071" cy="3476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it-IT" sz="1800" noProof="1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</a:t>
            </a:r>
            <a:endParaRPr lang="it-IT" sz="1800" noProof="1"/>
          </a:p>
        </p:txBody>
      </p:sp>
      <p:sp>
        <p:nvSpPr>
          <p:cNvPr id="8" name="Text 5"/>
          <p:cNvSpPr/>
          <p:nvPr/>
        </p:nvSpPr>
        <p:spPr>
          <a:xfrm>
            <a:off x="15504021" y="4331047"/>
            <a:ext cx="899071" cy="3476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it-IT" sz="1800" noProof="1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celle</a:t>
            </a:r>
            <a:endParaRPr lang="it-IT" sz="1800" noProof="1"/>
          </a:p>
        </p:txBody>
      </p:sp>
      <p:sp>
        <p:nvSpPr>
          <p:cNvPr id="9" name="Text 6"/>
          <p:cNvSpPr/>
          <p:nvPr/>
        </p:nvSpPr>
        <p:spPr>
          <a:xfrm>
            <a:off x="16479292" y="4331047"/>
            <a:ext cx="1046708" cy="3476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it-IT" sz="1800" noProof="1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</a:t>
            </a:r>
            <a:endParaRPr lang="it-IT" sz="1800" noProof="1"/>
          </a:p>
        </p:txBody>
      </p:sp>
      <p:sp>
        <p:nvSpPr>
          <p:cNvPr id="10" name="Shape 7"/>
          <p:cNvSpPr/>
          <p:nvPr/>
        </p:nvSpPr>
        <p:spPr>
          <a:xfrm>
            <a:off x="12192000" y="5326410"/>
            <a:ext cx="5334000" cy="9525"/>
          </a:xfrm>
          <a:prstGeom prst="rect">
            <a:avLst/>
          </a:prstGeom>
          <a:solidFill>
            <a:srgbClr val="EEEDE9"/>
          </a:solidFill>
          <a:ln/>
        </p:spPr>
        <p:txBody>
          <a:bodyPr/>
          <a:lstStyle/>
          <a:p>
            <a:endParaRPr lang="it-IT" noProof="1"/>
          </a:p>
        </p:txBody>
      </p:sp>
      <p:sp>
        <p:nvSpPr>
          <p:cNvPr id="11" name="Text 8"/>
          <p:cNvSpPr/>
          <p:nvPr/>
        </p:nvSpPr>
        <p:spPr>
          <a:xfrm>
            <a:off x="12192000" y="4888260"/>
            <a:ext cx="2336750" cy="3524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it-IT" sz="1800" noProof="1">
                <a:solidFill>
                  <a:srgbClr val="E87B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</a:t>
            </a:r>
            <a:r>
              <a:rPr lang="it-IT" sz="1800" noProof="1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 (+ tempo)</a:t>
            </a:r>
            <a:endParaRPr lang="it-IT" sz="1800" noProof="1"/>
          </a:p>
        </p:txBody>
      </p:sp>
      <p:sp>
        <p:nvSpPr>
          <p:cNvPr id="12" name="Text 9"/>
          <p:cNvSpPr/>
          <p:nvPr/>
        </p:nvSpPr>
        <p:spPr>
          <a:xfrm>
            <a:off x="14528750" y="4888260"/>
            <a:ext cx="899071" cy="3524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it-IT" sz="1800" noProof="1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−0.060</a:t>
            </a:r>
            <a:endParaRPr lang="it-IT" sz="1800" noProof="1"/>
          </a:p>
        </p:txBody>
      </p:sp>
      <p:sp>
        <p:nvSpPr>
          <p:cNvPr id="13" name="Text 10"/>
          <p:cNvSpPr/>
          <p:nvPr/>
        </p:nvSpPr>
        <p:spPr>
          <a:xfrm>
            <a:off x="15504021" y="4888260"/>
            <a:ext cx="899071" cy="3524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it-IT" sz="1800" noProof="1">
                <a:solidFill>
                  <a:srgbClr val="525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8/18</a:t>
            </a:r>
            <a:endParaRPr lang="it-IT" sz="1800" noProof="1"/>
          </a:p>
        </p:txBody>
      </p:sp>
      <p:sp>
        <p:nvSpPr>
          <p:cNvPr id="14" name="Text 11"/>
          <p:cNvSpPr/>
          <p:nvPr/>
        </p:nvSpPr>
        <p:spPr>
          <a:xfrm>
            <a:off x="16479292" y="4888260"/>
            <a:ext cx="1046708" cy="3524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it-IT" sz="1800" noProof="1">
                <a:solidFill>
                  <a:srgbClr val="525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79/180</a:t>
            </a:r>
            <a:endParaRPr lang="it-IT" sz="1800" noProof="1"/>
          </a:p>
        </p:txBody>
      </p:sp>
      <p:sp>
        <p:nvSpPr>
          <p:cNvPr id="15" name="Shape 12"/>
          <p:cNvSpPr/>
          <p:nvPr/>
        </p:nvSpPr>
        <p:spPr>
          <a:xfrm>
            <a:off x="12192000" y="5907435"/>
            <a:ext cx="5334000" cy="9525"/>
          </a:xfrm>
          <a:prstGeom prst="rect">
            <a:avLst/>
          </a:prstGeom>
          <a:solidFill>
            <a:srgbClr val="EEEDE9"/>
          </a:solidFill>
          <a:ln/>
        </p:spPr>
        <p:txBody>
          <a:bodyPr/>
          <a:lstStyle/>
          <a:p>
            <a:endParaRPr lang="it-IT" noProof="1"/>
          </a:p>
        </p:txBody>
      </p:sp>
      <p:sp>
        <p:nvSpPr>
          <p:cNvPr id="16" name="Text 13"/>
          <p:cNvSpPr/>
          <p:nvPr/>
        </p:nvSpPr>
        <p:spPr>
          <a:xfrm>
            <a:off x="12192000" y="5469285"/>
            <a:ext cx="2336750" cy="3524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it-IT" sz="1800" noProof="1">
                <a:solidFill>
                  <a:srgbClr val="EDA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</a:t>
            </a:r>
            <a:r>
              <a:rPr lang="it-IT" sz="1800" noProof="1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gnn (strutturata)</a:t>
            </a:r>
            <a:endParaRPr lang="it-IT" sz="1800" noProof="1"/>
          </a:p>
        </p:txBody>
      </p:sp>
      <p:sp>
        <p:nvSpPr>
          <p:cNvPr id="17" name="Text 14"/>
          <p:cNvSpPr/>
          <p:nvPr/>
        </p:nvSpPr>
        <p:spPr>
          <a:xfrm>
            <a:off x="14528750" y="5469285"/>
            <a:ext cx="899071" cy="3524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it-IT" sz="1800" noProof="1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+0.030</a:t>
            </a:r>
            <a:endParaRPr lang="it-IT" sz="1800" noProof="1"/>
          </a:p>
        </p:txBody>
      </p:sp>
      <p:sp>
        <p:nvSpPr>
          <p:cNvPr id="18" name="Text 15"/>
          <p:cNvSpPr/>
          <p:nvPr/>
        </p:nvSpPr>
        <p:spPr>
          <a:xfrm>
            <a:off x="15504021" y="5469285"/>
            <a:ext cx="899071" cy="3524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it-IT" sz="1800" noProof="1">
                <a:solidFill>
                  <a:srgbClr val="525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6/18</a:t>
            </a:r>
            <a:endParaRPr lang="it-IT" sz="1800" noProof="1"/>
          </a:p>
        </p:txBody>
      </p:sp>
      <p:sp>
        <p:nvSpPr>
          <p:cNvPr id="19" name="Text 16"/>
          <p:cNvSpPr/>
          <p:nvPr/>
        </p:nvSpPr>
        <p:spPr>
          <a:xfrm>
            <a:off x="16479292" y="5469285"/>
            <a:ext cx="1046708" cy="3524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it-IT" sz="1800" noProof="1">
                <a:solidFill>
                  <a:srgbClr val="525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78/180</a:t>
            </a:r>
            <a:endParaRPr lang="it-IT" sz="1800" noProof="1"/>
          </a:p>
        </p:txBody>
      </p:sp>
      <p:sp>
        <p:nvSpPr>
          <p:cNvPr id="20" name="Shape 17"/>
          <p:cNvSpPr/>
          <p:nvPr/>
        </p:nvSpPr>
        <p:spPr>
          <a:xfrm>
            <a:off x="12192000" y="6488460"/>
            <a:ext cx="5334000" cy="9525"/>
          </a:xfrm>
          <a:prstGeom prst="rect">
            <a:avLst/>
          </a:prstGeom>
          <a:solidFill>
            <a:srgbClr val="EEEDE9"/>
          </a:solidFill>
          <a:ln/>
        </p:spPr>
        <p:txBody>
          <a:bodyPr/>
          <a:lstStyle/>
          <a:p>
            <a:endParaRPr lang="it-IT" noProof="1"/>
          </a:p>
        </p:txBody>
      </p:sp>
      <p:sp>
        <p:nvSpPr>
          <p:cNvPr id="21" name="Text 18"/>
          <p:cNvSpPr/>
          <p:nvPr/>
        </p:nvSpPr>
        <p:spPr>
          <a:xfrm>
            <a:off x="12192000" y="6050310"/>
            <a:ext cx="2336750" cy="3524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it-IT" sz="1800" noProof="1">
                <a:solidFill>
                  <a:srgbClr val="1BA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</a:t>
            </a:r>
            <a:r>
              <a:rPr lang="it-IT" sz="1800" noProof="1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marking (piatta)</a:t>
            </a:r>
            <a:endParaRPr lang="it-IT" sz="1800" noProof="1"/>
          </a:p>
        </p:txBody>
      </p:sp>
      <p:sp>
        <p:nvSpPr>
          <p:cNvPr id="22" name="Text 19"/>
          <p:cNvSpPr/>
          <p:nvPr/>
        </p:nvSpPr>
        <p:spPr>
          <a:xfrm>
            <a:off x="14528750" y="6050310"/>
            <a:ext cx="899071" cy="3524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it-IT" sz="1800" noProof="1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+0.060</a:t>
            </a:r>
            <a:endParaRPr lang="it-IT" sz="1800" noProof="1"/>
          </a:p>
        </p:txBody>
      </p:sp>
      <p:sp>
        <p:nvSpPr>
          <p:cNvPr id="23" name="Text 20"/>
          <p:cNvSpPr/>
          <p:nvPr/>
        </p:nvSpPr>
        <p:spPr>
          <a:xfrm>
            <a:off x="15504021" y="6050310"/>
            <a:ext cx="899071" cy="3524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it-IT" sz="1800" noProof="1">
                <a:solidFill>
                  <a:srgbClr val="525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11/18</a:t>
            </a:r>
            <a:endParaRPr lang="it-IT" sz="1800" noProof="1"/>
          </a:p>
        </p:txBody>
      </p:sp>
      <p:sp>
        <p:nvSpPr>
          <p:cNvPr id="24" name="Text 21"/>
          <p:cNvSpPr/>
          <p:nvPr/>
        </p:nvSpPr>
        <p:spPr>
          <a:xfrm>
            <a:off x="16479292" y="6050310"/>
            <a:ext cx="1046708" cy="3524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it-IT" sz="1800" noProof="1">
                <a:solidFill>
                  <a:srgbClr val="525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97/180</a:t>
            </a:r>
            <a:endParaRPr lang="it-IT" sz="1800" noProof="1"/>
          </a:p>
        </p:txBody>
      </p:sp>
      <p:sp>
        <p:nvSpPr>
          <p:cNvPr id="25" name="Text 22"/>
          <p:cNvSpPr/>
          <p:nvPr/>
        </p:nvSpPr>
        <p:spPr>
          <a:xfrm>
            <a:off x="12192000" y="6631335"/>
            <a:ext cx="2336750" cy="3476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it-IT" sz="1800" noProof="1">
                <a:solidFill>
                  <a:srgbClr val="EB68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</a:t>
            </a:r>
            <a:r>
              <a:rPr lang="it-IT" sz="1800" noProof="1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checker (loss)</a:t>
            </a:r>
            <a:endParaRPr lang="it-IT" sz="1800" noProof="1"/>
          </a:p>
        </p:txBody>
      </p:sp>
      <p:sp>
        <p:nvSpPr>
          <p:cNvPr id="26" name="Text 23"/>
          <p:cNvSpPr/>
          <p:nvPr/>
        </p:nvSpPr>
        <p:spPr>
          <a:xfrm>
            <a:off x="14528750" y="6631335"/>
            <a:ext cx="899071" cy="3476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it-IT" sz="1800" noProof="1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+0.020</a:t>
            </a:r>
            <a:endParaRPr lang="it-IT" sz="1800" noProof="1"/>
          </a:p>
        </p:txBody>
      </p:sp>
      <p:sp>
        <p:nvSpPr>
          <p:cNvPr id="27" name="Text 24"/>
          <p:cNvSpPr/>
          <p:nvPr/>
        </p:nvSpPr>
        <p:spPr>
          <a:xfrm>
            <a:off x="15504021" y="6631335"/>
            <a:ext cx="899071" cy="3476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it-IT" sz="1800" noProof="1">
                <a:solidFill>
                  <a:srgbClr val="525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5/18</a:t>
            </a:r>
            <a:endParaRPr lang="it-IT" sz="1800" noProof="1"/>
          </a:p>
        </p:txBody>
      </p:sp>
      <p:sp>
        <p:nvSpPr>
          <p:cNvPr id="28" name="Text 25"/>
          <p:cNvSpPr/>
          <p:nvPr/>
        </p:nvSpPr>
        <p:spPr>
          <a:xfrm>
            <a:off x="16479292" y="6631335"/>
            <a:ext cx="1046708" cy="3476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it-IT" sz="1800" noProof="1">
                <a:solidFill>
                  <a:srgbClr val="525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58/180</a:t>
            </a:r>
            <a:endParaRPr lang="it-IT" sz="1800" noProof="1"/>
          </a:p>
        </p:txBody>
      </p:sp>
      <p:sp>
        <p:nvSpPr>
          <p:cNvPr id="29" name="Text 26"/>
          <p:cNvSpPr/>
          <p:nvPr/>
        </p:nvSpPr>
        <p:spPr>
          <a:xfrm>
            <a:off x="12192000" y="7321897"/>
            <a:ext cx="549402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it-IT" sz="1800" noProof="1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 medio in punti; celle vinte su 18; seed vinti su 180. I colori sono gli stessi della figura.</a:t>
            </a:r>
            <a:endParaRPr lang="it-IT" sz="1800" noProof="1"/>
          </a:p>
        </p:txBody>
      </p:sp>
      <p:sp>
        <p:nvSpPr>
          <p:cNvPr id="33" name="Text 0">
            <a:extLst>
              <a:ext uri="{FF2B5EF4-FFF2-40B4-BE49-F238E27FC236}">
                <a16:creationId xmlns:a16="http://schemas.microsoft.com/office/drawing/2014/main" id="{44DE7793-8044-4AEB-421A-B0E6C1439A56}"/>
              </a:ext>
            </a:extLst>
          </p:cNvPr>
          <p:cNvSpPr/>
          <p:nvPr/>
        </p:nvSpPr>
        <p:spPr>
          <a:xfrm>
            <a:off x="857250" y="419100"/>
            <a:ext cx="1861185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it-IT" sz="4500" b="1" kern="0" spc="-67" noProof="1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Esperimento 1: Accuratezza</a:t>
            </a:r>
            <a:endParaRPr lang="it-IT" sz="45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250" y="419100"/>
            <a:ext cx="1861185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it-IT" sz="4500" b="1" kern="0" spc="-67" noProof="1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Esperimento 1: Chi vince sull’accuratezza?</a:t>
            </a:r>
            <a:endParaRPr lang="it-IT" sz="4500" noProof="1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6258"/>
          <a:stretch>
            <a:fillRect/>
          </a:stretch>
        </p:blipFill>
        <p:spPr>
          <a:xfrm>
            <a:off x="1985963" y="1593668"/>
            <a:ext cx="14316075" cy="786642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53F1E-D0E1-5AF5-AE40-69933A1EC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9EFE1116-EC0A-B590-92E2-74620F4D0463}"/>
              </a:ext>
            </a:extLst>
          </p:cNvPr>
          <p:cNvSpPr/>
          <p:nvPr/>
        </p:nvSpPr>
        <p:spPr>
          <a:xfrm>
            <a:off x="12192000" y="3275856"/>
            <a:ext cx="5494020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419"/>
              </a:lnSpc>
              <a:buNone/>
            </a:pPr>
            <a:r>
              <a:rPr lang="it-IT" sz="1950" noProof="1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Differenze rispetto alla baseline, appaiate per seed. 18 celle × 10 seed = 180 coppie.</a:t>
            </a:r>
            <a:endParaRPr lang="it-IT" sz="1950" noProof="1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B6374C0D-FC65-34DF-C743-54B509E1F09B}"/>
              </a:ext>
            </a:extLst>
          </p:cNvPr>
          <p:cNvSpPr/>
          <p:nvPr/>
        </p:nvSpPr>
        <p:spPr>
          <a:xfrm>
            <a:off x="12192000" y="4745385"/>
            <a:ext cx="5334000" cy="9525"/>
          </a:xfrm>
          <a:prstGeom prst="rect">
            <a:avLst/>
          </a:prstGeom>
          <a:solidFill>
            <a:srgbClr val="B9B8B1"/>
          </a:solidFill>
          <a:ln/>
        </p:spPr>
        <p:txBody>
          <a:bodyPr/>
          <a:lstStyle/>
          <a:p>
            <a:endParaRPr lang="it-IT" noProof="1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854928E-5E8B-DD38-9852-0222981DC92F}"/>
              </a:ext>
            </a:extLst>
          </p:cNvPr>
          <p:cNvSpPr/>
          <p:nvPr/>
        </p:nvSpPr>
        <p:spPr>
          <a:xfrm>
            <a:off x="12192000" y="4331047"/>
            <a:ext cx="2336750" cy="3429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it-IT" sz="1800" noProof="1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modello</a:t>
            </a:r>
            <a:endParaRPr lang="it-IT" sz="1800" noProof="1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09C6A8C5-874C-2CFE-49F6-242A7600FE7D}"/>
              </a:ext>
            </a:extLst>
          </p:cNvPr>
          <p:cNvSpPr/>
          <p:nvPr/>
        </p:nvSpPr>
        <p:spPr>
          <a:xfrm>
            <a:off x="14528750" y="4331047"/>
            <a:ext cx="899071" cy="3476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it-IT" sz="1800" noProof="1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</a:t>
            </a:r>
            <a:endParaRPr lang="it-IT" sz="1800" noProof="1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33ACC92D-33E8-A167-E798-593EAC4BD720}"/>
              </a:ext>
            </a:extLst>
          </p:cNvPr>
          <p:cNvSpPr/>
          <p:nvPr/>
        </p:nvSpPr>
        <p:spPr>
          <a:xfrm>
            <a:off x="15504021" y="4331047"/>
            <a:ext cx="899071" cy="3476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it-IT" sz="1800" noProof="1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celle</a:t>
            </a:r>
            <a:endParaRPr lang="it-IT" sz="1800" noProof="1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C5CDB2B4-2135-6817-7A35-4C5849EA3F80}"/>
              </a:ext>
            </a:extLst>
          </p:cNvPr>
          <p:cNvSpPr/>
          <p:nvPr/>
        </p:nvSpPr>
        <p:spPr>
          <a:xfrm>
            <a:off x="16479292" y="4331047"/>
            <a:ext cx="1046708" cy="3476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it-IT" sz="1800" noProof="1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</a:t>
            </a:r>
            <a:endParaRPr lang="it-IT" sz="1800" noProof="1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6A29AA8A-CA21-7C2B-CACC-5F48125CBE07}"/>
              </a:ext>
            </a:extLst>
          </p:cNvPr>
          <p:cNvSpPr/>
          <p:nvPr/>
        </p:nvSpPr>
        <p:spPr>
          <a:xfrm>
            <a:off x="12192000" y="5326410"/>
            <a:ext cx="5334000" cy="9525"/>
          </a:xfrm>
          <a:prstGeom prst="rect">
            <a:avLst/>
          </a:prstGeom>
          <a:solidFill>
            <a:srgbClr val="EEEDE9"/>
          </a:solidFill>
          <a:ln/>
        </p:spPr>
        <p:txBody>
          <a:bodyPr/>
          <a:lstStyle/>
          <a:p>
            <a:endParaRPr lang="it-IT" noProof="1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59D3CC40-02D5-AAD2-E27D-412B13602FB2}"/>
              </a:ext>
            </a:extLst>
          </p:cNvPr>
          <p:cNvSpPr/>
          <p:nvPr/>
        </p:nvSpPr>
        <p:spPr>
          <a:xfrm>
            <a:off x="12192000" y="4888260"/>
            <a:ext cx="2336750" cy="3524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it-IT" sz="1800" noProof="1">
                <a:solidFill>
                  <a:srgbClr val="E87B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</a:t>
            </a:r>
            <a:r>
              <a:rPr lang="it-IT" sz="1800" noProof="1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 (+ tempo)</a:t>
            </a:r>
            <a:endParaRPr lang="it-IT" sz="1800" noProof="1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23E7E0A-51C1-08E3-03B8-28A8FA0B3EBC}"/>
              </a:ext>
            </a:extLst>
          </p:cNvPr>
          <p:cNvSpPr/>
          <p:nvPr/>
        </p:nvSpPr>
        <p:spPr>
          <a:xfrm>
            <a:off x="14528750" y="4888260"/>
            <a:ext cx="899071" cy="3524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it-IT" noProof="1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r>
              <a:rPr lang="it-IT" sz="1800" noProof="1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0.077</a:t>
            </a:r>
            <a:endParaRPr lang="it-IT" sz="1800" noProof="1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286327B1-0B2C-C8E9-6BB2-A337502E6E03}"/>
              </a:ext>
            </a:extLst>
          </p:cNvPr>
          <p:cNvSpPr/>
          <p:nvPr/>
        </p:nvSpPr>
        <p:spPr>
          <a:xfrm>
            <a:off x="15504021" y="4888260"/>
            <a:ext cx="899071" cy="3524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it-IT" noProof="1">
                <a:solidFill>
                  <a:srgbClr val="525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r>
              <a:rPr lang="it-IT" sz="1800" noProof="1">
                <a:solidFill>
                  <a:srgbClr val="525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/18</a:t>
            </a:r>
            <a:endParaRPr lang="it-IT" sz="1800" noProof="1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BD3E3CC2-736A-7DAF-9A48-CA25236BF41E}"/>
              </a:ext>
            </a:extLst>
          </p:cNvPr>
          <p:cNvSpPr/>
          <p:nvPr/>
        </p:nvSpPr>
        <p:spPr>
          <a:xfrm>
            <a:off x="16479292" y="4888260"/>
            <a:ext cx="1046708" cy="3524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it-IT" sz="1800" noProof="1">
                <a:solidFill>
                  <a:srgbClr val="525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73/180</a:t>
            </a:r>
            <a:endParaRPr lang="it-IT" sz="1800" noProof="1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C90E95D1-E206-5590-6C6D-D6AFBE6AA480}"/>
              </a:ext>
            </a:extLst>
          </p:cNvPr>
          <p:cNvSpPr/>
          <p:nvPr/>
        </p:nvSpPr>
        <p:spPr>
          <a:xfrm>
            <a:off x="12192000" y="5907435"/>
            <a:ext cx="5334000" cy="9525"/>
          </a:xfrm>
          <a:prstGeom prst="rect">
            <a:avLst/>
          </a:prstGeom>
          <a:solidFill>
            <a:srgbClr val="EEEDE9"/>
          </a:solidFill>
          <a:ln/>
        </p:spPr>
        <p:txBody>
          <a:bodyPr/>
          <a:lstStyle/>
          <a:p>
            <a:endParaRPr lang="it-IT" noProof="1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2EFBC751-969B-CCD4-28B0-7BE92A3A466A}"/>
              </a:ext>
            </a:extLst>
          </p:cNvPr>
          <p:cNvSpPr/>
          <p:nvPr/>
        </p:nvSpPr>
        <p:spPr>
          <a:xfrm>
            <a:off x="12192000" y="5469285"/>
            <a:ext cx="2336750" cy="3524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it-IT" sz="1800" noProof="1">
                <a:solidFill>
                  <a:srgbClr val="EDA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</a:t>
            </a:r>
            <a:r>
              <a:rPr lang="it-IT" sz="1800" noProof="1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gnn (strutturata)</a:t>
            </a:r>
            <a:endParaRPr lang="it-IT" sz="1800" noProof="1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DB9C0E59-2AFA-86C1-E172-F478C47BB1A7}"/>
              </a:ext>
            </a:extLst>
          </p:cNvPr>
          <p:cNvSpPr/>
          <p:nvPr/>
        </p:nvSpPr>
        <p:spPr>
          <a:xfrm>
            <a:off x="14528750" y="5469285"/>
            <a:ext cx="899071" cy="3524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it-IT" noProof="1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it-IT" sz="1800" noProof="1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0.106</a:t>
            </a:r>
            <a:endParaRPr lang="it-IT" sz="1800" noProof="1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D111FA0B-997E-E22A-56AC-6A9FAB66476E}"/>
              </a:ext>
            </a:extLst>
          </p:cNvPr>
          <p:cNvSpPr/>
          <p:nvPr/>
        </p:nvSpPr>
        <p:spPr>
          <a:xfrm>
            <a:off x="15504021" y="5469285"/>
            <a:ext cx="899071" cy="3524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it-IT" noProof="1">
                <a:solidFill>
                  <a:srgbClr val="525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r>
              <a:rPr lang="it-IT" sz="1800" noProof="1">
                <a:solidFill>
                  <a:srgbClr val="525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/18</a:t>
            </a:r>
            <a:endParaRPr lang="it-IT" sz="1800" noProof="1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686E7F48-3D2C-5536-E0E9-902F3487912B}"/>
              </a:ext>
            </a:extLst>
          </p:cNvPr>
          <p:cNvSpPr/>
          <p:nvPr/>
        </p:nvSpPr>
        <p:spPr>
          <a:xfrm>
            <a:off x="16479292" y="5469285"/>
            <a:ext cx="1046708" cy="3524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it-IT" noProof="1">
                <a:solidFill>
                  <a:srgbClr val="525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66</a:t>
            </a:r>
            <a:r>
              <a:rPr lang="it-IT" sz="1800" noProof="1">
                <a:solidFill>
                  <a:srgbClr val="525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/180</a:t>
            </a:r>
            <a:endParaRPr lang="it-IT" sz="1800" noProof="1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74A449EC-52A2-2B36-F957-260E0BC04369}"/>
              </a:ext>
            </a:extLst>
          </p:cNvPr>
          <p:cNvSpPr/>
          <p:nvPr/>
        </p:nvSpPr>
        <p:spPr>
          <a:xfrm>
            <a:off x="12192000" y="6488460"/>
            <a:ext cx="5334000" cy="9525"/>
          </a:xfrm>
          <a:prstGeom prst="rect">
            <a:avLst/>
          </a:prstGeom>
          <a:solidFill>
            <a:srgbClr val="EEEDE9"/>
          </a:solidFill>
          <a:ln/>
        </p:spPr>
        <p:txBody>
          <a:bodyPr/>
          <a:lstStyle/>
          <a:p>
            <a:endParaRPr lang="it-IT" noProof="1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7EBFE290-3395-ADF2-9029-8FCBB7F65909}"/>
              </a:ext>
            </a:extLst>
          </p:cNvPr>
          <p:cNvSpPr/>
          <p:nvPr/>
        </p:nvSpPr>
        <p:spPr>
          <a:xfrm>
            <a:off x="12192000" y="6050310"/>
            <a:ext cx="2336750" cy="3524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it-IT" sz="1800" noProof="1">
                <a:solidFill>
                  <a:srgbClr val="1BA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</a:t>
            </a:r>
            <a:r>
              <a:rPr lang="it-IT" sz="1800" noProof="1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marking (piatta)</a:t>
            </a:r>
            <a:endParaRPr lang="it-IT" sz="1800" noProof="1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5C0F046E-1EDB-F093-72E8-12D1EEAEE0AE}"/>
              </a:ext>
            </a:extLst>
          </p:cNvPr>
          <p:cNvSpPr/>
          <p:nvPr/>
        </p:nvSpPr>
        <p:spPr>
          <a:xfrm>
            <a:off x="14528750" y="6050310"/>
            <a:ext cx="899071" cy="3524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it-IT" sz="1800" noProof="1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+0.045</a:t>
            </a:r>
            <a:endParaRPr lang="it-IT" sz="1800" noProof="1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B47C24D1-9871-C812-500B-8C6AB10EFD3A}"/>
              </a:ext>
            </a:extLst>
          </p:cNvPr>
          <p:cNvSpPr/>
          <p:nvPr/>
        </p:nvSpPr>
        <p:spPr>
          <a:xfrm>
            <a:off x="15504021" y="6050310"/>
            <a:ext cx="899071" cy="3524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it-IT" noProof="1">
                <a:solidFill>
                  <a:srgbClr val="525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r>
              <a:rPr lang="it-IT" sz="1800" noProof="1">
                <a:solidFill>
                  <a:srgbClr val="525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/18</a:t>
            </a:r>
            <a:endParaRPr lang="it-IT" sz="1800" noProof="1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64045E4D-7146-F56A-3C08-4D6840A4C9F2}"/>
              </a:ext>
            </a:extLst>
          </p:cNvPr>
          <p:cNvSpPr/>
          <p:nvPr/>
        </p:nvSpPr>
        <p:spPr>
          <a:xfrm>
            <a:off x="16479292" y="6050310"/>
            <a:ext cx="1046708" cy="3524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it-IT" noProof="1">
                <a:solidFill>
                  <a:srgbClr val="525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74</a:t>
            </a:r>
            <a:r>
              <a:rPr lang="it-IT" sz="1800" noProof="1">
                <a:solidFill>
                  <a:srgbClr val="525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/180</a:t>
            </a:r>
            <a:endParaRPr lang="it-IT" sz="1800" noProof="1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BE432EB1-F389-0804-4168-A4D9684DD940}"/>
              </a:ext>
            </a:extLst>
          </p:cNvPr>
          <p:cNvSpPr/>
          <p:nvPr/>
        </p:nvSpPr>
        <p:spPr>
          <a:xfrm>
            <a:off x="12192000" y="6631335"/>
            <a:ext cx="2336750" cy="3476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it-IT" sz="1800" noProof="1">
                <a:solidFill>
                  <a:srgbClr val="EB68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</a:t>
            </a:r>
            <a:r>
              <a:rPr lang="it-IT" sz="1800" noProof="1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checker (loss)</a:t>
            </a:r>
            <a:endParaRPr lang="it-IT" sz="1800" noProof="1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09826364-EDF2-3337-1816-2E1D2F5BAECC}"/>
              </a:ext>
            </a:extLst>
          </p:cNvPr>
          <p:cNvSpPr/>
          <p:nvPr/>
        </p:nvSpPr>
        <p:spPr>
          <a:xfrm>
            <a:off x="14528750" y="6631335"/>
            <a:ext cx="899071" cy="3476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it-IT" sz="1800" noProof="1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+0.055</a:t>
            </a:r>
            <a:endParaRPr lang="it-IT" sz="1800" noProof="1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C371B96C-2FF4-816B-B778-0C1C9C2C2E0C}"/>
              </a:ext>
            </a:extLst>
          </p:cNvPr>
          <p:cNvSpPr/>
          <p:nvPr/>
        </p:nvSpPr>
        <p:spPr>
          <a:xfrm>
            <a:off x="15504021" y="6631335"/>
            <a:ext cx="899071" cy="3476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it-IT" noProof="1">
                <a:solidFill>
                  <a:srgbClr val="525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r>
              <a:rPr lang="it-IT" sz="1800" noProof="1">
                <a:solidFill>
                  <a:srgbClr val="525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/18</a:t>
            </a:r>
            <a:endParaRPr lang="it-IT" sz="1800" noProof="1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F3723E5F-48AC-5BCD-B143-CD6B4CDFBC7B}"/>
              </a:ext>
            </a:extLst>
          </p:cNvPr>
          <p:cNvSpPr/>
          <p:nvPr/>
        </p:nvSpPr>
        <p:spPr>
          <a:xfrm>
            <a:off x="16479292" y="6631335"/>
            <a:ext cx="1046708" cy="3476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it-IT" noProof="1">
                <a:solidFill>
                  <a:srgbClr val="525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85</a:t>
            </a:r>
            <a:r>
              <a:rPr lang="it-IT" sz="1800" noProof="1">
                <a:solidFill>
                  <a:srgbClr val="525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/180</a:t>
            </a:r>
            <a:endParaRPr lang="it-IT" sz="1800" noProof="1"/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F5315318-5DDA-CEAB-181A-AAD97EFB08BA}"/>
              </a:ext>
            </a:extLst>
          </p:cNvPr>
          <p:cNvSpPr/>
          <p:nvPr/>
        </p:nvSpPr>
        <p:spPr>
          <a:xfrm>
            <a:off x="12192000" y="7321897"/>
            <a:ext cx="549402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it-IT" sz="1800" noProof="1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 medio in punti; celle vinte su 18; seed vinti su 180. I colori sono gli stessi della figura.</a:t>
            </a:r>
            <a:endParaRPr lang="it-IT" sz="1800" noProof="1"/>
          </a:p>
        </p:txBody>
      </p:sp>
      <p:sp>
        <p:nvSpPr>
          <p:cNvPr id="33" name="Text 0">
            <a:extLst>
              <a:ext uri="{FF2B5EF4-FFF2-40B4-BE49-F238E27FC236}">
                <a16:creationId xmlns:a16="http://schemas.microsoft.com/office/drawing/2014/main" id="{A733C92D-C1F8-B559-783E-871F82092D12}"/>
              </a:ext>
            </a:extLst>
          </p:cNvPr>
          <p:cNvSpPr/>
          <p:nvPr/>
        </p:nvSpPr>
        <p:spPr>
          <a:xfrm>
            <a:off x="857250" y="419100"/>
            <a:ext cx="1861185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it-IT" sz="4500" b="1" kern="0" spc="-67" noProof="1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Esperimento 2: Accuratezza</a:t>
            </a:r>
            <a:endParaRPr lang="it-IT" sz="4500" noProof="1"/>
          </a:p>
        </p:txBody>
      </p:sp>
      <p:pic>
        <p:nvPicPr>
          <p:cNvPr id="30" name="Image 0">
            <a:extLst>
              <a:ext uri="{FF2B5EF4-FFF2-40B4-BE49-F238E27FC236}">
                <a16:creationId xmlns:a16="http://schemas.microsoft.com/office/drawing/2014/main" id="{0474676F-9831-5022-048A-66C9D8CE04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557" b="-1"/>
          <a:stretch>
            <a:fillRect/>
          </a:stretch>
        </p:blipFill>
        <p:spPr>
          <a:xfrm>
            <a:off x="601980" y="1947282"/>
            <a:ext cx="11027727" cy="7044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643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E9DE2-65A5-1415-DD1E-E1996ACB2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D95AB02-C699-FEB6-C1CC-7B3DB3A81DB8}"/>
              </a:ext>
            </a:extLst>
          </p:cNvPr>
          <p:cNvSpPr/>
          <p:nvPr/>
        </p:nvSpPr>
        <p:spPr>
          <a:xfrm>
            <a:off x="857250" y="419100"/>
            <a:ext cx="1861185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it-IT" sz="4500" b="1" kern="0" spc="-67" noProof="1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Esperimento 2: Chi vince sull’accuratezza?</a:t>
            </a:r>
            <a:endParaRPr lang="it-IT" sz="4500" noProof="1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1534B8E6-3336-53B0-AA68-8D96B72BBD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208"/>
          <a:stretch>
            <a:fillRect/>
          </a:stretch>
        </p:blipFill>
        <p:spPr>
          <a:xfrm>
            <a:off x="1985962" y="1554481"/>
            <a:ext cx="14353005" cy="8130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8249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C3B210-5B5D-A49E-7E5D-012195A10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FFA0D1E-9EB7-BA66-F8AF-470E625A1B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6A003EC2-28B2-9858-3763-76D742DF39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71637" y="0"/>
            <a:ext cx="14944725" cy="10287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322CB66-2E9E-2C28-EA1E-6C2E10658D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82496" y="0"/>
            <a:ext cx="14923008" cy="10287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4B1F1BB0-A8D5-858A-2582-C1567733396D}"/>
              </a:ext>
            </a:extLst>
          </p:cNvPr>
          <p:cNvSpPr/>
          <p:nvPr/>
        </p:nvSpPr>
        <p:spPr>
          <a:xfrm>
            <a:off x="2286004" y="2999422"/>
            <a:ext cx="13716000" cy="41460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0000" b="1" spc="-67" noProof="1">
                <a:latin typeface="Arial" panose="020B0604020202020204" pitchFamily="34" charset="0"/>
                <a:cs typeface="Arial" panose="020B0604020202020204" pitchFamily="34" charset="0"/>
              </a:rPr>
              <a:t>Forbidden Mass</a:t>
            </a:r>
            <a:endParaRPr lang="en-US" sz="10000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5BFFA2F-9F9A-E74B-891F-7F106F7158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77840" y="8287179"/>
            <a:ext cx="7132320" cy="411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39219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9221019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it-IT" sz="4000" b="1" kern="0" spc="-61" noProof="1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Esperimento 1: Forbidden Mass</a:t>
            </a:r>
            <a:endParaRPr lang="it-IT" sz="4000" noProof="1"/>
          </a:p>
        </p:txBody>
      </p:sp>
      <p:sp>
        <p:nvSpPr>
          <p:cNvPr id="3" name="Text 1"/>
          <p:cNvSpPr/>
          <p:nvPr/>
        </p:nvSpPr>
        <p:spPr>
          <a:xfrm>
            <a:off x="10507980" y="8056788"/>
            <a:ext cx="627888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it-IT" sz="2025" noProof="1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Massa di probabilità vietata: quanta probabilità va su attività che non possono seguire l'ultima osservata.</a:t>
            </a:r>
            <a:endParaRPr lang="it-IT" sz="2025" noProof="1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1" t="24376" r="-1"/>
          <a:stretch>
            <a:fillRect/>
          </a:stretch>
        </p:blipFill>
        <p:spPr>
          <a:xfrm>
            <a:off x="971006" y="2044470"/>
            <a:ext cx="16383000" cy="4310745"/>
          </a:xfrm>
          <a:prstGeom prst="rect">
            <a:avLst/>
          </a:prstGeom>
        </p:spPr>
      </p:pic>
      <p:sp>
        <p:nvSpPr>
          <p:cNvPr id="10" name="Text 2">
            <a:extLst>
              <a:ext uri="{FF2B5EF4-FFF2-40B4-BE49-F238E27FC236}">
                <a16:creationId xmlns:a16="http://schemas.microsoft.com/office/drawing/2014/main" id="{75BAE8E7-8B32-4104-191B-9FA12B055F52}"/>
              </a:ext>
            </a:extLst>
          </p:cNvPr>
          <p:cNvSpPr/>
          <p:nvPr/>
        </p:nvSpPr>
        <p:spPr>
          <a:xfrm>
            <a:off x="857250" y="7200900"/>
            <a:ext cx="239148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8A8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MODELLO</a:t>
            </a:r>
            <a:endParaRPr lang="en-US" sz="1800" dirty="0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2F0B4148-FD90-2295-3980-583E6CC7DD17}"/>
              </a:ext>
            </a:extLst>
          </p:cNvPr>
          <p:cNvSpPr/>
          <p:nvPr/>
        </p:nvSpPr>
        <p:spPr>
          <a:xfrm>
            <a:off x="3120152" y="7200900"/>
            <a:ext cx="195667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800" kern="0" spc="180" dirty="0">
                <a:solidFill>
                  <a:srgbClr val="8A8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DELTA</a:t>
            </a:r>
            <a:endParaRPr lang="en-US" sz="18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D3D4E8F5-3B82-620E-C99A-DF681E74D06F}"/>
              </a:ext>
            </a:extLst>
          </p:cNvPr>
          <p:cNvSpPr/>
          <p:nvPr/>
        </p:nvSpPr>
        <p:spPr>
          <a:xfrm>
            <a:off x="5165646" y="7200900"/>
            <a:ext cx="195667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800" kern="0" spc="180" dirty="0">
                <a:solidFill>
                  <a:srgbClr val="8A8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RELATIVO</a:t>
            </a:r>
            <a:endParaRPr lang="en-US" sz="1800" dirty="0"/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165B066F-C7CE-A999-3BB1-7B1E3F1C9E03}"/>
              </a:ext>
            </a:extLst>
          </p:cNvPr>
          <p:cNvSpPr/>
          <p:nvPr/>
        </p:nvSpPr>
        <p:spPr>
          <a:xfrm>
            <a:off x="7191375" y="7200900"/>
            <a:ext cx="217408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800" kern="0" spc="180" dirty="0">
                <a:solidFill>
                  <a:srgbClr val="8A8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VINCE IN</a:t>
            </a:r>
            <a:endParaRPr lang="en-US" sz="1800" dirty="0"/>
          </a:p>
        </p:txBody>
      </p:sp>
      <p:sp>
        <p:nvSpPr>
          <p:cNvPr id="18" name="Shape 6">
            <a:extLst>
              <a:ext uri="{FF2B5EF4-FFF2-40B4-BE49-F238E27FC236}">
                <a16:creationId xmlns:a16="http://schemas.microsoft.com/office/drawing/2014/main" id="{B43DBD3B-F65A-E51B-1F5F-CC7C8FC2BEEC}"/>
              </a:ext>
            </a:extLst>
          </p:cNvPr>
          <p:cNvSpPr/>
          <p:nvPr/>
        </p:nvSpPr>
        <p:spPr>
          <a:xfrm>
            <a:off x="857250" y="7572375"/>
            <a:ext cx="8508206" cy="9525"/>
          </a:xfrm>
          <a:prstGeom prst="rect">
            <a:avLst/>
          </a:prstGeom>
          <a:solidFill>
            <a:srgbClr val="E6E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9D040EF6-4026-6E42-432B-04346398D262}"/>
              </a:ext>
            </a:extLst>
          </p:cNvPr>
          <p:cNvSpPr/>
          <p:nvPr/>
        </p:nvSpPr>
        <p:spPr>
          <a:xfrm>
            <a:off x="857250" y="7705725"/>
            <a:ext cx="239148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EB68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checker</a:t>
            </a:r>
            <a:endParaRPr lang="en-US" sz="1875" dirty="0"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828AA56B-9F11-92B9-2383-12C763DB172C}"/>
              </a:ext>
            </a:extLst>
          </p:cNvPr>
          <p:cNvSpPr/>
          <p:nvPr/>
        </p:nvSpPr>
        <p:spPr>
          <a:xfrm>
            <a:off x="3120152" y="7705725"/>
            <a:ext cx="195667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r">
              <a:buNone/>
            </a:pPr>
            <a:r>
              <a:rPr lang="en-US" sz="1875" b="1" dirty="0">
                <a:solidFill>
                  <a:srgbClr val="EB68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−0.0315</a:t>
            </a:r>
            <a:endParaRPr lang="en-US" sz="1875" dirty="0"/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A54CC9FD-4A83-F83D-D2E1-3B5ED377D101}"/>
              </a:ext>
            </a:extLst>
          </p:cNvPr>
          <p:cNvSpPr/>
          <p:nvPr/>
        </p:nvSpPr>
        <p:spPr>
          <a:xfrm>
            <a:off x="5165646" y="7705725"/>
            <a:ext cx="195667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r">
              <a:buNone/>
            </a:pPr>
            <a:r>
              <a:rPr lang="en-US" sz="1875" b="1" dirty="0">
                <a:solidFill>
                  <a:srgbClr val="EB68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−28.0%</a:t>
            </a:r>
            <a:endParaRPr lang="en-US" sz="1875" dirty="0"/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2989055A-340F-9A46-42AA-4C8979B0F706}"/>
              </a:ext>
            </a:extLst>
          </p:cNvPr>
          <p:cNvSpPr/>
          <p:nvPr/>
        </p:nvSpPr>
        <p:spPr>
          <a:xfrm>
            <a:off x="7191375" y="7705725"/>
            <a:ext cx="217408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r">
              <a:buNone/>
            </a:pPr>
            <a:r>
              <a:rPr lang="en-US" sz="1875" b="1" dirty="0">
                <a:solidFill>
                  <a:srgbClr val="EB68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177/180</a:t>
            </a:r>
            <a:endParaRPr lang="en-US" sz="1875" dirty="0"/>
          </a:p>
        </p:txBody>
      </p:sp>
      <p:sp>
        <p:nvSpPr>
          <p:cNvPr id="28" name="Shape 11">
            <a:extLst>
              <a:ext uri="{FF2B5EF4-FFF2-40B4-BE49-F238E27FC236}">
                <a16:creationId xmlns:a16="http://schemas.microsoft.com/office/drawing/2014/main" id="{5E6F5936-5D98-31D9-9010-3749CA7DDB8C}"/>
              </a:ext>
            </a:extLst>
          </p:cNvPr>
          <p:cNvSpPr/>
          <p:nvPr/>
        </p:nvSpPr>
        <p:spPr>
          <a:xfrm>
            <a:off x="857250" y="8105775"/>
            <a:ext cx="8508206" cy="9525"/>
          </a:xfrm>
          <a:prstGeom prst="rect">
            <a:avLst/>
          </a:prstGeom>
          <a:solidFill>
            <a:srgbClr val="E6E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12">
            <a:extLst>
              <a:ext uri="{FF2B5EF4-FFF2-40B4-BE49-F238E27FC236}">
                <a16:creationId xmlns:a16="http://schemas.microsoft.com/office/drawing/2014/main" id="{C6CA88E6-B42B-32B9-EAF7-0A9257309965}"/>
              </a:ext>
            </a:extLst>
          </p:cNvPr>
          <p:cNvSpPr/>
          <p:nvPr/>
        </p:nvSpPr>
        <p:spPr>
          <a:xfrm>
            <a:off x="857250" y="8239125"/>
            <a:ext cx="239148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marking</a:t>
            </a:r>
            <a:endParaRPr lang="en-US" sz="1875" dirty="0"/>
          </a:p>
        </p:txBody>
      </p:sp>
      <p:sp>
        <p:nvSpPr>
          <p:cNvPr id="32" name="Text 13">
            <a:extLst>
              <a:ext uri="{FF2B5EF4-FFF2-40B4-BE49-F238E27FC236}">
                <a16:creationId xmlns:a16="http://schemas.microsoft.com/office/drawing/2014/main" id="{7773E7AD-8375-39DB-E5F7-D5D1055CEF40}"/>
              </a:ext>
            </a:extLst>
          </p:cNvPr>
          <p:cNvSpPr/>
          <p:nvPr/>
        </p:nvSpPr>
        <p:spPr>
          <a:xfrm>
            <a:off x="3120152" y="8239125"/>
            <a:ext cx="195667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525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-0.0006</a:t>
            </a:r>
            <a:endParaRPr lang="en-US" sz="1875" dirty="0"/>
          </a:p>
        </p:txBody>
      </p:sp>
      <p:sp>
        <p:nvSpPr>
          <p:cNvPr id="34" name="Text 14">
            <a:extLst>
              <a:ext uri="{FF2B5EF4-FFF2-40B4-BE49-F238E27FC236}">
                <a16:creationId xmlns:a16="http://schemas.microsoft.com/office/drawing/2014/main" id="{C7DF4862-3642-42D0-6F52-F6013F9B6E3A}"/>
              </a:ext>
            </a:extLst>
          </p:cNvPr>
          <p:cNvSpPr/>
          <p:nvPr/>
        </p:nvSpPr>
        <p:spPr>
          <a:xfrm>
            <a:off x="5165646" y="8239125"/>
            <a:ext cx="195667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525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-0.5%</a:t>
            </a:r>
            <a:endParaRPr lang="en-US" sz="1875" dirty="0"/>
          </a:p>
        </p:txBody>
      </p:sp>
      <p:sp>
        <p:nvSpPr>
          <p:cNvPr id="36" name="Text 15">
            <a:extLst>
              <a:ext uri="{FF2B5EF4-FFF2-40B4-BE49-F238E27FC236}">
                <a16:creationId xmlns:a16="http://schemas.microsoft.com/office/drawing/2014/main" id="{C09EDB9C-41ED-5DEE-4BF1-1FC0D9B8A556}"/>
              </a:ext>
            </a:extLst>
          </p:cNvPr>
          <p:cNvSpPr/>
          <p:nvPr/>
        </p:nvSpPr>
        <p:spPr>
          <a:xfrm>
            <a:off x="7191375" y="8239125"/>
            <a:ext cx="217408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525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99/180</a:t>
            </a:r>
            <a:endParaRPr lang="en-US" sz="1875" dirty="0"/>
          </a:p>
        </p:txBody>
      </p:sp>
      <p:sp>
        <p:nvSpPr>
          <p:cNvPr id="38" name="Shape 16">
            <a:extLst>
              <a:ext uri="{FF2B5EF4-FFF2-40B4-BE49-F238E27FC236}">
                <a16:creationId xmlns:a16="http://schemas.microsoft.com/office/drawing/2014/main" id="{55AB78BC-964B-37B2-AFC0-FDE7631B120D}"/>
              </a:ext>
            </a:extLst>
          </p:cNvPr>
          <p:cNvSpPr/>
          <p:nvPr/>
        </p:nvSpPr>
        <p:spPr>
          <a:xfrm>
            <a:off x="857250" y="8639175"/>
            <a:ext cx="8508206" cy="9525"/>
          </a:xfrm>
          <a:prstGeom prst="rect">
            <a:avLst/>
          </a:prstGeom>
          <a:solidFill>
            <a:srgbClr val="E6E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17">
            <a:extLst>
              <a:ext uri="{FF2B5EF4-FFF2-40B4-BE49-F238E27FC236}">
                <a16:creationId xmlns:a16="http://schemas.microsoft.com/office/drawing/2014/main" id="{A7A4C4A8-5048-EDAA-B6B8-2F8371E5CA4E}"/>
              </a:ext>
            </a:extLst>
          </p:cNvPr>
          <p:cNvSpPr/>
          <p:nvPr/>
        </p:nvSpPr>
        <p:spPr>
          <a:xfrm>
            <a:off x="857250" y="8772525"/>
            <a:ext cx="239148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gnn</a:t>
            </a:r>
            <a:endParaRPr lang="en-US" sz="1875" dirty="0"/>
          </a:p>
        </p:txBody>
      </p:sp>
      <p:sp>
        <p:nvSpPr>
          <p:cNvPr id="42" name="Text 18">
            <a:extLst>
              <a:ext uri="{FF2B5EF4-FFF2-40B4-BE49-F238E27FC236}">
                <a16:creationId xmlns:a16="http://schemas.microsoft.com/office/drawing/2014/main" id="{487ADF94-83D7-59A7-1E03-41E24C9BB3D1}"/>
              </a:ext>
            </a:extLst>
          </p:cNvPr>
          <p:cNvSpPr/>
          <p:nvPr/>
        </p:nvSpPr>
        <p:spPr>
          <a:xfrm>
            <a:off x="3120152" y="8772525"/>
            <a:ext cx="195667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525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−0.0004</a:t>
            </a:r>
            <a:endParaRPr lang="en-US" sz="1875" dirty="0"/>
          </a:p>
        </p:txBody>
      </p:sp>
      <p:sp>
        <p:nvSpPr>
          <p:cNvPr id="44" name="Text 19">
            <a:extLst>
              <a:ext uri="{FF2B5EF4-FFF2-40B4-BE49-F238E27FC236}">
                <a16:creationId xmlns:a16="http://schemas.microsoft.com/office/drawing/2014/main" id="{19C27FD5-83B8-37AE-67DE-EAD265685C2F}"/>
              </a:ext>
            </a:extLst>
          </p:cNvPr>
          <p:cNvSpPr/>
          <p:nvPr/>
        </p:nvSpPr>
        <p:spPr>
          <a:xfrm>
            <a:off x="5165646" y="8772525"/>
            <a:ext cx="195667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525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−0.3%</a:t>
            </a:r>
            <a:endParaRPr lang="en-US" sz="1875" dirty="0"/>
          </a:p>
        </p:txBody>
      </p:sp>
      <p:sp>
        <p:nvSpPr>
          <p:cNvPr id="46" name="Text 20">
            <a:extLst>
              <a:ext uri="{FF2B5EF4-FFF2-40B4-BE49-F238E27FC236}">
                <a16:creationId xmlns:a16="http://schemas.microsoft.com/office/drawing/2014/main" id="{5AB330BA-DEDC-9821-C7D8-93EE03B30693}"/>
              </a:ext>
            </a:extLst>
          </p:cNvPr>
          <p:cNvSpPr/>
          <p:nvPr/>
        </p:nvSpPr>
        <p:spPr>
          <a:xfrm>
            <a:off x="7191375" y="8772525"/>
            <a:ext cx="217408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525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91/180</a:t>
            </a:r>
            <a:endParaRPr lang="en-US" sz="1875" dirty="0"/>
          </a:p>
        </p:txBody>
      </p:sp>
      <p:sp>
        <p:nvSpPr>
          <p:cNvPr id="48" name="Shape 21">
            <a:extLst>
              <a:ext uri="{FF2B5EF4-FFF2-40B4-BE49-F238E27FC236}">
                <a16:creationId xmlns:a16="http://schemas.microsoft.com/office/drawing/2014/main" id="{04850923-7689-AADB-3298-4C005C279951}"/>
              </a:ext>
            </a:extLst>
          </p:cNvPr>
          <p:cNvSpPr/>
          <p:nvPr/>
        </p:nvSpPr>
        <p:spPr>
          <a:xfrm>
            <a:off x="857250" y="9705975"/>
            <a:ext cx="8508206" cy="9525"/>
          </a:xfrm>
          <a:prstGeom prst="rect">
            <a:avLst/>
          </a:prstGeom>
          <a:solidFill>
            <a:srgbClr val="E6E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22">
            <a:extLst>
              <a:ext uri="{FF2B5EF4-FFF2-40B4-BE49-F238E27FC236}">
                <a16:creationId xmlns:a16="http://schemas.microsoft.com/office/drawing/2014/main" id="{54C8154B-D672-21D0-8763-F8A5726F2243}"/>
              </a:ext>
            </a:extLst>
          </p:cNvPr>
          <p:cNvSpPr/>
          <p:nvPr/>
        </p:nvSpPr>
        <p:spPr>
          <a:xfrm>
            <a:off x="857250" y="9172575"/>
            <a:ext cx="8508206" cy="9525"/>
          </a:xfrm>
          <a:prstGeom prst="rect">
            <a:avLst/>
          </a:prstGeom>
          <a:solidFill>
            <a:srgbClr val="E6E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23">
            <a:extLst>
              <a:ext uri="{FF2B5EF4-FFF2-40B4-BE49-F238E27FC236}">
                <a16:creationId xmlns:a16="http://schemas.microsoft.com/office/drawing/2014/main" id="{637C1A08-41A7-D9BC-2EC9-1D67B00A50E7}"/>
              </a:ext>
            </a:extLst>
          </p:cNvPr>
          <p:cNvSpPr/>
          <p:nvPr/>
        </p:nvSpPr>
        <p:spPr>
          <a:xfrm>
            <a:off x="857250" y="9305925"/>
            <a:ext cx="239148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</a:t>
            </a:r>
            <a:endParaRPr lang="en-US" sz="1875" dirty="0"/>
          </a:p>
        </p:txBody>
      </p:sp>
      <p:sp>
        <p:nvSpPr>
          <p:cNvPr id="54" name="Text 24">
            <a:extLst>
              <a:ext uri="{FF2B5EF4-FFF2-40B4-BE49-F238E27FC236}">
                <a16:creationId xmlns:a16="http://schemas.microsoft.com/office/drawing/2014/main" id="{E28D5230-3662-BC2E-7C88-998AE81EF0DC}"/>
              </a:ext>
            </a:extLst>
          </p:cNvPr>
          <p:cNvSpPr/>
          <p:nvPr/>
        </p:nvSpPr>
        <p:spPr>
          <a:xfrm>
            <a:off x="3120152" y="9305925"/>
            <a:ext cx="195667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525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−0.0009</a:t>
            </a:r>
            <a:endParaRPr lang="en-US" sz="1875" dirty="0"/>
          </a:p>
        </p:txBody>
      </p:sp>
      <p:sp>
        <p:nvSpPr>
          <p:cNvPr id="56" name="Text 25">
            <a:extLst>
              <a:ext uri="{FF2B5EF4-FFF2-40B4-BE49-F238E27FC236}">
                <a16:creationId xmlns:a16="http://schemas.microsoft.com/office/drawing/2014/main" id="{F050222A-E07A-B98D-65D0-2AE5C82D9C67}"/>
              </a:ext>
            </a:extLst>
          </p:cNvPr>
          <p:cNvSpPr/>
          <p:nvPr/>
        </p:nvSpPr>
        <p:spPr>
          <a:xfrm>
            <a:off x="5165646" y="9305925"/>
            <a:ext cx="195667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525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−0.8%</a:t>
            </a:r>
            <a:endParaRPr lang="en-US" sz="1875" dirty="0"/>
          </a:p>
        </p:txBody>
      </p:sp>
      <p:sp>
        <p:nvSpPr>
          <p:cNvPr id="58" name="Text 26">
            <a:extLst>
              <a:ext uri="{FF2B5EF4-FFF2-40B4-BE49-F238E27FC236}">
                <a16:creationId xmlns:a16="http://schemas.microsoft.com/office/drawing/2014/main" id="{FF56DDFE-2EF2-8CD3-E11E-A59B11A8176F}"/>
              </a:ext>
            </a:extLst>
          </p:cNvPr>
          <p:cNvSpPr/>
          <p:nvPr/>
        </p:nvSpPr>
        <p:spPr>
          <a:xfrm>
            <a:off x="7191375" y="9305925"/>
            <a:ext cx="217408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525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97/180</a:t>
            </a:r>
            <a:endParaRPr lang="en-US" sz="18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250" y="419100"/>
            <a:ext cx="530358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endParaRPr lang="it-IT" sz="3300" noProof="1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5278"/>
          <a:stretch>
            <a:fillRect/>
          </a:stretch>
        </p:blipFill>
        <p:spPr>
          <a:xfrm>
            <a:off x="1985963" y="1733550"/>
            <a:ext cx="14316075" cy="7948613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90F4290C-8D08-8F6E-A880-E786EE447C80}"/>
              </a:ext>
            </a:extLst>
          </p:cNvPr>
          <p:cNvSpPr/>
          <p:nvPr/>
        </p:nvSpPr>
        <p:spPr>
          <a:xfrm>
            <a:off x="952500" y="762000"/>
            <a:ext cx="11174672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it-IT" sz="4000" b="1" kern="0" spc="-61" noProof="1">
                <a:solidFill>
                  <a:srgbClr val="0B0B0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Esperimento 1: </a:t>
            </a:r>
            <a:r>
              <a:rPr lang="it-IT" sz="4000" b="1" kern="0" spc="-49" noProof="1">
                <a:solidFill>
                  <a:srgbClr val="0B0B0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Chi vince su massa vietata</a:t>
            </a:r>
            <a:endParaRPr lang="it-IT" sz="4000" noProof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buNone/>
            </a:pPr>
            <a:endParaRPr lang="it-IT" sz="4000" b="1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1FCFE-EEE5-3ECE-5ACA-87059213F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3CD8BDB-4EF2-46DC-2484-42DD86432D24}"/>
              </a:ext>
            </a:extLst>
          </p:cNvPr>
          <p:cNvSpPr/>
          <p:nvPr/>
        </p:nvSpPr>
        <p:spPr>
          <a:xfrm>
            <a:off x="952500" y="762000"/>
            <a:ext cx="9221019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it-IT" sz="4000" b="1" kern="0" spc="-61" noProof="1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Esperimento 2: Forbidden Mass</a:t>
            </a:r>
            <a:endParaRPr lang="it-IT" sz="4000" noProof="1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DA6D8124-B267-8471-EED9-A11AE5BE48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236"/>
          <a:stretch>
            <a:fillRect/>
          </a:stretch>
        </p:blipFill>
        <p:spPr>
          <a:xfrm>
            <a:off x="762000" y="1873431"/>
            <a:ext cx="16573500" cy="4824821"/>
          </a:xfrm>
          <a:prstGeom prst="rect">
            <a:avLst/>
          </a:prstGeom>
        </p:spPr>
      </p:pic>
      <p:sp>
        <p:nvSpPr>
          <p:cNvPr id="12" name="Text 2">
            <a:extLst>
              <a:ext uri="{FF2B5EF4-FFF2-40B4-BE49-F238E27FC236}">
                <a16:creationId xmlns:a16="http://schemas.microsoft.com/office/drawing/2014/main" id="{89F446A0-35AB-F5E7-8DEC-B19D2C9C7D1E}"/>
              </a:ext>
            </a:extLst>
          </p:cNvPr>
          <p:cNvSpPr/>
          <p:nvPr/>
        </p:nvSpPr>
        <p:spPr>
          <a:xfrm>
            <a:off x="857250" y="7200900"/>
            <a:ext cx="239148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8A8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MODELLO</a:t>
            </a:r>
            <a:endParaRPr lang="en-US" sz="1800" dirty="0"/>
          </a:p>
        </p:txBody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55D04B3C-B700-2AB2-D40B-39D5011215D7}"/>
              </a:ext>
            </a:extLst>
          </p:cNvPr>
          <p:cNvSpPr/>
          <p:nvPr/>
        </p:nvSpPr>
        <p:spPr>
          <a:xfrm>
            <a:off x="3120152" y="7200900"/>
            <a:ext cx="195667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800" kern="0" spc="180" dirty="0">
                <a:solidFill>
                  <a:srgbClr val="8A8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DELTA</a:t>
            </a:r>
            <a:endParaRPr lang="en-US" sz="1800" dirty="0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EFD22918-AFC3-07E9-B84E-D60B5C371C12}"/>
              </a:ext>
            </a:extLst>
          </p:cNvPr>
          <p:cNvSpPr/>
          <p:nvPr/>
        </p:nvSpPr>
        <p:spPr>
          <a:xfrm>
            <a:off x="5165646" y="7200900"/>
            <a:ext cx="195667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800" kern="0" spc="180" dirty="0">
                <a:solidFill>
                  <a:srgbClr val="8A8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RELATIVO</a:t>
            </a:r>
            <a:endParaRPr lang="en-US" sz="1800" dirty="0"/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4E15EF0B-5988-34A0-51C2-B35BC79EE60C}"/>
              </a:ext>
            </a:extLst>
          </p:cNvPr>
          <p:cNvSpPr/>
          <p:nvPr/>
        </p:nvSpPr>
        <p:spPr>
          <a:xfrm>
            <a:off x="7191375" y="7200900"/>
            <a:ext cx="217408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800" kern="0" spc="180" dirty="0">
                <a:solidFill>
                  <a:srgbClr val="8A8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VINCE IN</a:t>
            </a:r>
            <a:endParaRPr lang="en-US" sz="1800" dirty="0"/>
          </a:p>
        </p:txBody>
      </p:sp>
      <p:sp>
        <p:nvSpPr>
          <p:cNvPr id="20" name="Shape 6">
            <a:extLst>
              <a:ext uri="{FF2B5EF4-FFF2-40B4-BE49-F238E27FC236}">
                <a16:creationId xmlns:a16="http://schemas.microsoft.com/office/drawing/2014/main" id="{0DD1D6AC-E8E6-F4A0-0360-F689FAAB8D9D}"/>
              </a:ext>
            </a:extLst>
          </p:cNvPr>
          <p:cNvSpPr/>
          <p:nvPr/>
        </p:nvSpPr>
        <p:spPr>
          <a:xfrm>
            <a:off x="857250" y="7572375"/>
            <a:ext cx="8508206" cy="9525"/>
          </a:xfrm>
          <a:prstGeom prst="rect">
            <a:avLst/>
          </a:prstGeom>
          <a:solidFill>
            <a:srgbClr val="E6E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FD7EF190-D9DC-BAFE-C200-5829DEA61DC8}"/>
              </a:ext>
            </a:extLst>
          </p:cNvPr>
          <p:cNvSpPr/>
          <p:nvPr/>
        </p:nvSpPr>
        <p:spPr>
          <a:xfrm>
            <a:off x="857250" y="7705725"/>
            <a:ext cx="239148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EB68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checker</a:t>
            </a:r>
            <a:endParaRPr lang="en-US" sz="1875" dirty="0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4554818C-1814-26DD-6652-EFB59CCA919D}"/>
              </a:ext>
            </a:extLst>
          </p:cNvPr>
          <p:cNvSpPr/>
          <p:nvPr/>
        </p:nvSpPr>
        <p:spPr>
          <a:xfrm>
            <a:off x="3120152" y="7705725"/>
            <a:ext cx="195667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r">
              <a:buNone/>
            </a:pPr>
            <a:r>
              <a:rPr lang="en-US" sz="1875" b="1" dirty="0">
                <a:solidFill>
                  <a:srgbClr val="EB68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−0.0386</a:t>
            </a:r>
            <a:endParaRPr lang="en-US" sz="1875" dirty="0"/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D410EB07-D3E6-21AF-1789-E8A76F5D984D}"/>
              </a:ext>
            </a:extLst>
          </p:cNvPr>
          <p:cNvSpPr/>
          <p:nvPr/>
        </p:nvSpPr>
        <p:spPr>
          <a:xfrm>
            <a:off x="5165646" y="7705725"/>
            <a:ext cx="195667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r">
              <a:buNone/>
            </a:pPr>
            <a:r>
              <a:rPr lang="en-US" sz="1875" b="1" dirty="0">
                <a:solidFill>
                  <a:srgbClr val="EB68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−26.6%</a:t>
            </a:r>
            <a:endParaRPr lang="en-US" sz="1875" dirty="0"/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11E0D901-8262-D38C-8159-0F4136598161}"/>
              </a:ext>
            </a:extLst>
          </p:cNvPr>
          <p:cNvSpPr/>
          <p:nvPr/>
        </p:nvSpPr>
        <p:spPr>
          <a:xfrm>
            <a:off x="7191375" y="7705725"/>
            <a:ext cx="217408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r">
              <a:buNone/>
            </a:pPr>
            <a:r>
              <a:rPr lang="en-US" sz="1875" b="1" dirty="0">
                <a:solidFill>
                  <a:srgbClr val="EB68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180/180</a:t>
            </a:r>
            <a:endParaRPr lang="en-US" sz="1875" dirty="0"/>
          </a:p>
        </p:txBody>
      </p:sp>
      <p:sp>
        <p:nvSpPr>
          <p:cNvPr id="30" name="Shape 11">
            <a:extLst>
              <a:ext uri="{FF2B5EF4-FFF2-40B4-BE49-F238E27FC236}">
                <a16:creationId xmlns:a16="http://schemas.microsoft.com/office/drawing/2014/main" id="{0E49A360-0045-A89A-8E07-01AE5F405084}"/>
              </a:ext>
            </a:extLst>
          </p:cNvPr>
          <p:cNvSpPr/>
          <p:nvPr/>
        </p:nvSpPr>
        <p:spPr>
          <a:xfrm>
            <a:off x="857250" y="8105775"/>
            <a:ext cx="8508206" cy="9525"/>
          </a:xfrm>
          <a:prstGeom prst="rect">
            <a:avLst/>
          </a:prstGeom>
          <a:solidFill>
            <a:srgbClr val="E6E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12">
            <a:extLst>
              <a:ext uri="{FF2B5EF4-FFF2-40B4-BE49-F238E27FC236}">
                <a16:creationId xmlns:a16="http://schemas.microsoft.com/office/drawing/2014/main" id="{07900CBC-8CE4-12CE-1612-9A39BED159B6}"/>
              </a:ext>
            </a:extLst>
          </p:cNvPr>
          <p:cNvSpPr/>
          <p:nvPr/>
        </p:nvSpPr>
        <p:spPr>
          <a:xfrm>
            <a:off x="857250" y="8239125"/>
            <a:ext cx="239148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marking</a:t>
            </a:r>
            <a:endParaRPr lang="en-US" sz="1875" dirty="0"/>
          </a:p>
        </p:txBody>
      </p:sp>
      <p:sp>
        <p:nvSpPr>
          <p:cNvPr id="34" name="Text 13">
            <a:extLst>
              <a:ext uri="{FF2B5EF4-FFF2-40B4-BE49-F238E27FC236}">
                <a16:creationId xmlns:a16="http://schemas.microsoft.com/office/drawing/2014/main" id="{8230F9C1-DAE3-6BA3-A038-0730588A251E}"/>
              </a:ext>
            </a:extLst>
          </p:cNvPr>
          <p:cNvSpPr/>
          <p:nvPr/>
        </p:nvSpPr>
        <p:spPr>
          <a:xfrm>
            <a:off x="3120152" y="8239125"/>
            <a:ext cx="195667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525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+0.0019</a:t>
            </a:r>
            <a:endParaRPr lang="en-US" sz="1875" dirty="0"/>
          </a:p>
        </p:txBody>
      </p:sp>
      <p:sp>
        <p:nvSpPr>
          <p:cNvPr id="36" name="Text 14">
            <a:extLst>
              <a:ext uri="{FF2B5EF4-FFF2-40B4-BE49-F238E27FC236}">
                <a16:creationId xmlns:a16="http://schemas.microsoft.com/office/drawing/2014/main" id="{D7B7E91E-8736-6FCD-B918-58CD784B4937}"/>
              </a:ext>
            </a:extLst>
          </p:cNvPr>
          <p:cNvSpPr/>
          <p:nvPr/>
        </p:nvSpPr>
        <p:spPr>
          <a:xfrm>
            <a:off x="5165646" y="8239125"/>
            <a:ext cx="195667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525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+1.3%</a:t>
            </a:r>
            <a:endParaRPr lang="en-US" sz="1875" dirty="0"/>
          </a:p>
        </p:txBody>
      </p:sp>
      <p:sp>
        <p:nvSpPr>
          <p:cNvPr id="38" name="Text 15">
            <a:extLst>
              <a:ext uri="{FF2B5EF4-FFF2-40B4-BE49-F238E27FC236}">
                <a16:creationId xmlns:a16="http://schemas.microsoft.com/office/drawing/2014/main" id="{168007EB-4B52-46C4-0B08-A0B35B1E9F8D}"/>
              </a:ext>
            </a:extLst>
          </p:cNvPr>
          <p:cNvSpPr/>
          <p:nvPr/>
        </p:nvSpPr>
        <p:spPr>
          <a:xfrm>
            <a:off x="7191375" y="8239125"/>
            <a:ext cx="217408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525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70/180</a:t>
            </a:r>
            <a:endParaRPr lang="en-US" sz="1875" dirty="0"/>
          </a:p>
        </p:txBody>
      </p:sp>
      <p:sp>
        <p:nvSpPr>
          <p:cNvPr id="40" name="Shape 16">
            <a:extLst>
              <a:ext uri="{FF2B5EF4-FFF2-40B4-BE49-F238E27FC236}">
                <a16:creationId xmlns:a16="http://schemas.microsoft.com/office/drawing/2014/main" id="{3E230A58-5093-BA81-665A-EEFDEDD086F9}"/>
              </a:ext>
            </a:extLst>
          </p:cNvPr>
          <p:cNvSpPr/>
          <p:nvPr/>
        </p:nvSpPr>
        <p:spPr>
          <a:xfrm>
            <a:off x="857250" y="8639175"/>
            <a:ext cx="8508206" cy="9525"/>
          </a:xfrm>
          <a:prstGeom prst="rect">
            <a:avLst/>
          </a:prstGeom>
          <a:solidFill>
            <a:srgbClr val="E6E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17">
            <a:extLst>
              <a:ext uri="{FF2B5EF4-FFF2-40B4-BE49-F238E27FC236}">
                <a16:creationId xmlns:a16="http://schemas.microsoft.com/office/drawing/2014/main" id="{FA2E6D2A-268E-FBAD-0DFB-896001FB91FA}"/>
              </a:ext>
            </a:extLst>
          </p:cNvPr>
          <p:cNvSpPr/>
          <p:nvPr/>
        </p:nvSpPr>
        <p:spPr>
          <a:xfrm>
            <a:off x="857250" y="8772525"/>
            <a:ext cx="239148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gnn</a:t>
            </a:r>
            <a:endParaRPr lang="en-US" sz="1875" dirty="0"/>
          </a:p>
        </p:txBody>
      </p:sp>
      <p:sp>
        <p:nvSpPr>
          <p:cNvPr id="44" name="Text 18">
            <a:extLst>
              <a:ext uri="{FF2B5EF4-FFF2-40B4-BE49-F238E27FC236}">
                <a16:creationId xmlns:a16="http://schemas.microsoft.com/office/drawing/2014/main" id="{4E09C7DE-311A-CED2-780B-5D851646404F}"/>
              </a:ext>
            </a:extLst>
          </p:cNvPr>
          <p:cNvSpPr/>
          <p:nvPr/>
        </p:nvSpPr>
        <p:spPr>
          <a:xfrm>
            <a:off x="3120152" y="8772525"/>
            <a:ext cx="195667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525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−0.0004</a:t>
            </a:r>
            <a:endParaRPr lang="en-US" sz="1875" dirty="0"/>
          </a:p>
        </p:txBody>
      </p:sp>
      <p:sp>
        <p:nvSpPr>
          <p:cNvPr id="46" name="Text 19">
            <a:extLst>
              <a:ext uri="{FF2B5EF4-FFF2-40B4-BE49-F238E27FC236}">
                <a16:creationId xmlns:a16="http://schemas.microsoft.com/office/drawing/2014/main" id="{8391CE2C-2FBB-0395-8CF8-FCCE27EE2792}"/>
              </a:ext>
            </a:extLst>
          </p:cNvPr>
          <p:cNvSpPr/>
          <p:nvPr/>
        </p:nvSpPr>
        <p:spPr>
          <a:xfrm>
            <a:off x="5165646" y="8772525"/>
            <a:ext cx="195667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525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−0.3%</a:t>
            </a:r>
            <a:endParaRPr lang="en-US" sz="1875" dirty="0"/>
          </a:p>
        </p:txBody>
      </p:sp>
      <p:sp>
        <p:nvSpPr>
          <p:cNvPr id="48" name="Text 20">
            <a:extLst>
              <a:ext uri="{FF2B5EF4-FFF2-40B4-BE49-F238E27FC236}">
                <a16:creationId xmlns:a16="http://schemas.microsoft.com/office/drawing/2014/main" id="{064027A3-D4D2-CA67-C19E-2D3DE7DC2270}"/>
              </a:ext>
            </a:extLst>
          </p:cNvPr>
          <p:cNvSpPr/>
          <p:nvPr/>
        </p:nvSpPr>
        <p:spPr>
          <a:xfrm>
            <a:off x="7191375" y="8772525"/>
            <a:ext cx="217408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525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99/180</a:t>
            </a:r>
            <a:endParaRPr lang="en-US" sz="1875" dirty="0"/>
          </a:p>
        </p:txBody>
      </p:sp>
      <p:sp>
        <p:nvSpPr>
          <p:cNvPr id="50" name="Shape 21">
            <a:extLst>
              <a:ext uri="{FF2B5EF4-FFF2-40B4-BE49-F238E27FC236}">
                <a16:creationId xmlns:a16="http://schemas.microsoft.com/office/drawing/2014/main" id="{986EEED0-3F26-E82C-E072-10000B3F20B8}"/>
              </a:ext>
            </a:extLst>
          </p:cNvPr>
          <p:cNvSpPr/>
          <p:nvPr/>
        </p:nvSpPr>
        <p:spPr>
          <a:xfrm>
            <a:off x="857250" y="9705975"/>
            <a:ext cx="8508206" cy="9525"/>
          </a:xfrm>
          <a:prstGeom prst="rect">
            <a:avLst/>
          </a:prstGeom>
          <a:solidFill>
            <a:srgbClr val="E6E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22">
            <a:extLst>
              <a:ext uri="{FF2B5EF4-FFF2-40B4-BE49-F238E27FC236}">
                <a16:creationId xmlns:a16="http://schemas.microsoft.com/office/drawing/2014/main" id="{A63E8389-8AC6-F273-55FC-4E8FD01303CD}"/>
              </a:ext>
            </a:extLst>
          </p:cNvPr>
          <p:cNvSpPr/>
          <p:nvPr/>
        </p:nvSpPr>
        <p:spPr>
          <a:xfrm>
            <a:off x="857250" y="9172575"/>
            <a:ext cx="8508206" cy="9525"/>
          </a:xfrm>
          <a:prstGeom prst="rect">
            <a:avLst/>
          </a:prstGeom>
          <a:solidFill>
            <a:srgbClr val="E6E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23">
            <a:extLst>
              <a:ext uri="{FF2B5EF4-FFF2-40B4-BE49-F238E27FC236}">
                <a16:creationId xmlns:a16="http://schemas.microsoft.com/office/drawing/2014/main" id="{02F88AED-01B9-0E87-4759-96CEBA429295}"/>
              </a:ext>
            </a:extLst>
          </p:cNvPr>
          <p:cNvSpPr/>
          <p:nvPr/>
        </p:nvSpPr>
        <p:spPr>
          <a:xfrm>
            <a:off x="857250" y="9305925"/>
            <a:ext cx="239148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</a:t>
            </a:r>
            <a:endParaRPr lang="en-US" sz="1875" dirty="0"/>
          </a:p>
        </p:txBody>
      </p:sp>
      <p:sp>
        <p:nvSpPr>
          <p:cNvPr id="56" name="Text 24">
            <a:extLst>
              <a:ext uri="{FF2B5EF4-FFF2-40B4-BE49-F238E27FC236}">
                <a16:creationId xmlns:a16="http://schemas.microsoft.com/office/drawing/2014/main" id="{34154549-123A-D156-4AD5-8D2EA320FD82}"/>
              </a:ext>
            </a:extLst>
          </p:cNvPr>
          <p:cNvSpPr/>
          <p:nvPr/>
        </p:nvSpPr>
        <p:spPr>
          <a:xfrm>
            <a:off x="3120152" y="9305925"/>
            <a:ext cx="195667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525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−0.0012</a:t>
            </a:r>
            <a:endParaRPr lang="en-US" sz="1875" dirty="0"/>
          </a:p>
        </p:txBody>
      </p:sp>
      <p:sp>
        <p:nvSpPr>
          <p:cNvPr id="58" name="Text 25">
            <a:extLst>
              <a:ext uri="{FF2B5EF4-FFF2-40B4-BE49-F238E27FC236}">
                <a16:creationId xmlns:a16="http://schemas.microsoft.com/office/drawing/2014/main" id="{FB184BF2-8D0E-5062-3ABC-F1D3EF092282}"/>
              </a:ext>
            </a:extLst>
          </p:cNvPr>
          <p:cNvSpPr/>
          <p:nvPr/>
        </p:nvSpPr>
        <p:spPr>
          <a:xfrm>
            <a:off x="5165646" y="9305925"/>
            <a:ext cx="195667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525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−0.8%</a:t>
            </a:r>
            <a:endParaRPr lang="en-US" sz="1875" dirty="0"/>
          </a:p>
        </p:txBody>
      </p:sp>
      <p:sp>
        <p:nvSpPr>
          <p:cNvPr id="60" name="Text 26">
            <a:extLst>
              <a:ext uri="{FF2B5EF4-FFF2-40B4-BE49-F238E27FC236}">
                <a16:creationId xmlns:a16="http://schemas.microsoft.com/office/drawing/2014/main" id="{0A013753-CF73-CE06-36E3-1AC7ED3B4CE8}"/>
              </a:ext>
            </a:extLst>
          </p:cNvPr>
          <p:cNvSpPr/>
          <p:nvPr/>
        </p:nvSpPr>
        <p:spPr>
          <a:xfrm>
            <a:off x="7191375" y="9305925"/>
            <a:ext cx="217408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525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100/180</a:t>
            </a:r>
            <a:endParaRPr lang="en-US" sz="1875" dirty="0"/>
          </a:p>
        </p:txBody>
      </p:sp>
      <p:sp>
        <p:nvSpPr>
          <p:cNvPr id="64" name="Text 1">
            <a:extLst>
              <a:ext uri="{FF2B5EF4-FFF2-40B4-BE49-F238E27FC236}">
                <a16:creationId xmlns:a16="http://schemas.microsoft.com/office/drawing/2014/main" id="{8F969ED8-659A-999C-352D-1D9D4C7A6936}"/>
              </a:ext>
            </a:extLst>
          </p:cNvPr>
          <p:cNvSpPr/>
          <p:nvPr/>
        </p:nvSpPr>
        <p:spPr>
          <a:xfrm>
            <a:off x="10507980" y="8056788"/>
            <a:ext cx="627888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it-IT" sz="2025" noProof="1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Massa di probabilità vietata: quanta probabilità va su attività che non possono seguire l'ultima osservata.</a:t>
            </a:r>
            <a:endParaRPr lang="it-IT" sz="2025" noProof="1"/>
          </a:p>
        </p:txBody>
      </p:sp>
    </p:spTree>
    <p:extLst>
      <p:ext uri="{BB962C8B-B14F-4D97-AF65-F5344CB8AC3E}">
        <p14:creationId xmlns:p14="http://schemas.microsoft.com/office/powerpoint/2010/main" val="26449279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46F76-920C-030C-FEDE-11A1EA69E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45749057-2550-8E72-B1C3-673B8AFC9A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031"/>
          <a:stretch>
            <a:fillRect/>
          </a:stretch>
        </p:blipFill>
        <p:spPr>
          <a:xfrm>
            <a:off x="2157672" y="1672045"/>
            <a:ext cx="13972655" cy="7929847"/>
          </a:xfrm>
          <a:prstGeom prst="rect">
            <a:avLst/>
          </a:prstGeom>
        </p:spPr>
      </p:pic>
      <p:sp>
        <p:nvSpPr>
          <p:cNvPr id="9" name="Text 0">
            <a:extLst>
              <a:ext uri="{FF2B5EF4-FFF2-40B4-BE49-F238E27FC236}">
                <a16:creationId xmlns:a16="http://schemas.microsoft.com/office/drawing/2014/main" id="{0CAE5BE6-9D9D-B69A-ECFA-FD7D7A53D0B3}"/>
              </a:ext>
            </a:extLst>
          </p:cNvPr>
          <p:cNvSpPr/>
          <p:nvPr/>
        </p:nvSpPr>
        <p:spPr>
          <a:xfrm>
            <a:off x="952500" y="762000"/>
            <a:ext cx="11174672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it-IT" sz="4000" b="1" kern="0" spc="-61" noProof="1">
                <a:solidFill>
                  <a:srgbClr val="0B0B0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Esperimento 2: </a:t>
            </a:r>
            <a:r>
              <a:rPr lang="it-IT" sz="4000" b="1" kern="0" spc="-49" noProof="1">
                <a:solidFill>
                  <a:srgbClr val="0B0B0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Chi vince su massa vietata</a:t>
            </a:r>
            <a:endParaRPr lang="it-IT" sz="4000" noProof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buNone/>
            </a:pPr>
            <a:endParaRPr lang="it-IT" sz="4000" b="1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74019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8A7FDB-8583-F68E-FD00-6CA3B6089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20E0B68-4C69-93DF-46FA-B853ACF2D5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677A115B-67EE-E80C-2289-33A18616C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71637" y="0"/>
            <a:ext cx="14944725" cy="10287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DE6369A5-743C-D2B4-CE34-61737C6A21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82496" y="0"/>
            <a:ext cx="14923008" cy="10287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58CA7D76-C6A5-46CB-4A1A-B7CDAECD970F}"/>
              </a:ext>
            </a:extLst>
          </p:cNvPr>
          <p:cNvSpPr/>
          <p:nvPr/>
        </p:nvSpPr>
        <p:spPr>
          <a:xfrm>
            <a:off x="2286004" y="2999422"/>
            <a:ext cx="13716000" cy="41460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0000" b="1" spc="-67" noProof="1">
                <a:latin typeface="Arial" panose="020B0604020202020204" pitchFamily="34" charset="0"/>
                <a:cs typeface="Arial" panose="020B0604020202020204" pitchFamily="34" charset="0"/>
              </a:rPr>
              <a:t>Confronto</a:t>
            </a:r>
            <a:endParaRPr lang="en-US" sz="10000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8BAA499-3C55-9522-0735-7554531BCA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77840" y="8287179"/>
            <a:ext cx="7132320" cy="411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67584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60B4CC-C642-2D79-024F-6ECEFEC35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44AE878-631D-4DB4-C40B-E443B64BA8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A10AF0A7-1783-00F3-1F7C-BA85E216DC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71637" y="0"/>
            <a:ext cx="14944725" cy="10287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A1BE328C-F1D8-1E6F-4E94-D44C5B09C4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82496" y="0"/>
            <a:ext cx="14923008" cy="10287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3F194DF7-0AC4-722F-7350-5DED23293A89}"/>
              </a:ext>
            </a:extLst>
          </p:cNvPr>
          <p:cNvSpPr/>
          <p:nvPr/>
        </p:nvSpPr>
        <p:spPr>
          <a:xfrm>
            <a:off x="2286004" y="2999422"/>
            <a:ext cx="13716000" cy="41460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0000" b="1" spc="-67" noProof="1">
                <a:latin typeface="Arial" panose="020B0604020202020204" pitchFamily="34" charset="0"/>
                <a:cs typeface="Arial" panose="020B0604020202020204" pitchFamily="34" charset="0"/>
              </a:rPr>
              <a:t>Suffix Prediction</a:t>
            </a:r>
            <a:endParaRPr lang="en-US" sz="10000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5C5DBF-856E-A230-3C1B-D278BD237B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77840" y="8287179"/>
            <a:ext cx="7132320" cy="411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86376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</TotalTime>
  <Words>1005</Words>
  <Application>Microsoft Office PowerPoint</Application>
  <PresentationFormat>Personalizzato</PresentationFormat>
  <Paragraphs>153</Paragraphs>
  <Slides>14</Slides>
  <Notes>10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14</vt:i4>
      </vt:variant>
    </vt:vector>
  </HeadingPairs>
  <TitlesOfParts>
    <vt:vector size="18" baseType="lpstr">
      <vt:lpstr>Arial</vt:lpstr>
      <vt:lpstr>Calibri</vt:lpstr>
      <vt:lpstr>Courier New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matteo zorzi</cp:lastModifiedBy>
  <cp:revision>5</cp:revision>
  <dcterms:created xsi:type="dcterms:W3CDTF">2026-08-03T19:29:05Z</dcterms:created>
  <dcterms:modified xsi:type="dcterms:W3CDTF">2026-08-08T11:18:29Z</dcterms:modified>
</cp:coreProperties>
</file>